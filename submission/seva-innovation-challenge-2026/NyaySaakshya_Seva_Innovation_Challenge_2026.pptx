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0742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Title and applicant snapshot. Name, sector and sub-theme are as shown on the online application (name from Aadhaar). Positioning sentence: NyaySaakshya turns supported email-traffic captures into evidence-linked forensic findings and reproducible reports, while explicitly identifying what the evidence cannot establish. Maturity: Working Prototype (see claim audit). Screens are synthetic lab captures from the working prototype. The sub-theme is the portal's; NyaySaakshya supports the evidence-handling step and does not itself provide financial-crime intelligence or determine that fraud occurred. No live demo URL is configured for this product.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Statistic: PIB backgrounder 'Curbing Cyber Frauds in Digital India', 7 Oct 2025: through CFCFRMS financial institutions saved more than Rs 5,489 crore in over 17.82 lakh complaints (period not stated). Maharashtra press figures were excluded because the primary record could not be opened. Wireshark TLS wiki: decryption needs supplied secrets. Durumeric et al., ACM IMC 2015 abstract: SMTP policies favour failing open. The email share of fraud is unknown.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Workflow: Capture &gt; Analysis &gt; Evidence-linked findings &gt; Posture assessment &gt; Report. Six evidence states are defined in src/nyaysaakshya/evidence/states.py and produced by reproducible captures. Frame provenance: 13,822 cited frames, 0 stream mismatches. Score withheld when unsupported (scored=false, value=null). Same capture and software give the same assessment ID (98/98 controlled captures). Comparison column for packet tools is from their documentation (Wireshark TLS wiki; Zeek smtp.log shows a tls true/false field in the documented example); we did not benchmark them. No claim of being first or only.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Stage: Working Prototype. Evidence: 1,521 tests collected and passing at baseline c0f77b9 (VALIDATION.md, DEPLOYMENT.md). Blockers are documented in DEPLOYMENT.md sections 6 and 17: no authentication or audit trail, SQLite shared-connection defect (TECH-DEBT #10), analysis time limit not enforced, no TLS or encryption at rest, no retention or backup. Costs: Vercel pricing page (Hobby $0 non-commercial); Render docs (free instances spin down and wipe files). Render paid prices and on-premise costs were not verified, so no totals are stated. Milestones are proposed, not commitments.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beneficiary, saving or jobs figure is claimed: there is no measured baseline. Targets and measurement methods are from SUBMISSION_EVIDENCE.md section 9. SDG 16 wording (target 16.a: strengthen national institutions to prevent violence and combat terrorism and crime) from the UN SDG 16 page. Technical validation (not social impact): 98 controlled captures, deterministic 98/98, 13,822 cited frames with 0 mismatches.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Individual application, team size 1; name as on the portal. No teammate, mentor, qualification or contact is invented; optional lines are filled only from the APPLICANT block in build_deck.py. Support ticked (orange): mentorship and technical guidance, a supervised pilot introduction (no department has agreed), funding for secure deployment and testing, and testing/IP guidance. Incubation and workspace left unticked; the applicant may change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5C"/>
        </a:solidFill>
        <a:effectLst/>
      </p:bgPr>
    </p:bg>
    <p:spTree>
      <p:nvGrpSpPr>
        <p:cNvPr id="1" name=""/>
        <p:cNvGrpSpPr/>
        <p:nvPr/>
      </p:nvGrpSpPr>
      <p:grpSpPr>
        <a:xfrm>
          <a:off x="0" y="0"/>
          <a:ext cx="0" cy="0"/>
          <a:chOff x="0" y="0"/>
          <a:chExt cx="0" cy="0"/>
        </a:xfrm>
      </p:grpSpPr>
      <p:sp>
        <p:nvSpPr>
          <p:cNvPr id="2" name="Text 0"/>
          <p:cNvSpPr txBox="1"/>
          <p:nvPr/>
        </p:nvSpPr>
        <p:spPr>
          <a:xfrm>
            <a:off x="457200" y="365760"/>
            <a:ext cx="8229600" cy="274320"/>
          </a:xfrm>
          <a:prstGeom prst="rect">
            <a:avLst/>
          </a:prstGeom>
          <a:noFill/>
          <a:ln/>
        </p:spPr>
        <p:txBody>
          <a:bodyPr wrap="square" lIns="0" tIns="0" rIns="0" bIns="0" rtlCol="0" anchor="t"/>
          <a:lstStyle/>
          <a:p>
            <a:pPr marL="0" indent="0">
              <a:buNone/>
            </a:pPr>
            <a:r>
              <a:rPr lang="en-US" sz="1000" b="1" kern="0" spc="200" dirty="0" i="0">
                <a:solidFill>
                  <a:srgbClr val="F28C28"/>
                </a:solidFill>
                <a:latin typeface="Nirmala UI" pitchFamily="34" charset="0"/>
                <a:ea typeface="Nirmala UI" pitchFamily="34" charset="-122"/>
                <a:cs typeface="Nirmala UI" pitchFamily="34" charset="-120"/>
              </a:rPr>
              <a:t>SEVA INNOVATION CHALLENGE 2026  •  MAHARASHTRA ZONE</a:t>
            </a:r>
          </a:p>
        </p:txBody>
      </p:sp>
      <p:sp>
        <p:nvSpPr>
          <p:cNvPr id="3" name="Text 1"/>
          <p:cNvSpPr txBox="1"/>
          <p:nvPr/>
        </p:nvSpPr>
        <p:spPr>
          <a:xfrm>
            <a:off x="457200" y="731520"/>
            <a:ext cx="5212080" cy="914400"/>
          </a:xfrm>
          <a:prstGeom prst="rect">
            <a:avLst/>
          </a:prstGeom>
          <a:noFill/>
          <a:ln/>
        </p:spPr>
        <p:txBody>
          <a:bodyPr wrap="square" lIns="0" tIns="0" rIns="0" bIns="0" rtlCol="0" anchor="t"/>
          <a:lstStyle/>
          <a:p>
            <a:pPr marL="0" indent="0">
              <a:buNone/>
            </a:pPr>
            <a:r>
              <a:rPr lang="en-US" sz="2800" b="1" dirty="0" i="0">
                <a:solidFill>
                  <a:srgbClr val="FFFFFF"/>
                </a:solidFill>
                <a:latin typeface="Nirmala UI" pitchFamily="34" charset="0"/>
                <a:ea typeface="Nirmala UI" pitchFamily="34" charset="-122"/>
                <a:cs typeface="Nirmala UI" pitchFamily="34" charset="-120"/>
              </a:rPr>
              <a:t>NyaySaakshya</a:t>
            </a:r>
          </a:p>
        </p:txBody>
      </p:sp>
      <p:sp>
        <p:nvSpPr>
          <p:cNvPr id="4" name="Text 2"/>
          <p:cNvSpPr txBox="1"/>
          <p:nvPr/>
        </p:nvSpPr>
        <p:spPr>
          <a:xfrm>
            <a:off x="457200" y="1417320"/>
            <a:ext cx="4846320" cy="868680"/>
          </a:xfrm>
          <a:prstGeom prst="rect">
            <a:avLst/>
          </a:prstGeom>
          <a:noFill/>
          <a:ln/>
        </p:spPr>
        <p:txBody>
          <a:bodyPr wrap="square" lIns="0" tIns="0" rIns="0" bIns="0" rtlCol="0" anchor="t"/>
          <a:lstStyle/>
          <a:p>
            <a:pPr marL="0" indent="0">
              <a:buNone/>
            </a:pPr>
            <a:r>
              <a:rPr lang="en-US" sz="1300" i="0" dirty="0">
                <a:solidFill>
                  <a:srgbClr val="DCE3F5"/>
                </a:solidFill>
                <a:latin typeface="Nirmala UI" pitchFamily="34" charset="0"/>
                <a:ea typeface="Nirmala UI" pitchFamily="34" charset="-122"/>
                <a:cs typeface="Nirmala UI" pitchFamily="34" charset="-120"/>
              </a:rPr>
              <a:t>Forensic triage for email-traffic captures. It tells cyber-cell investigators what a capture does, and does not, prove. It does not detect fraud or identify suspects.</a:t>
            </a:r>
          </a:p>
        </p:txBody>
      </p:sp>
      <p:sp>
        <p:nvSpPr>
          <p:cNvPr id="4" name="Text 2"/>
          <p:cNvSpPr txBox="1"/>
          <p:nvPr/>
        </p:nvSpPr>
        <p:spPr>
          <a:xfrm>
            <a:off x="457200" y="2697480"/>
            <a:ext cx="4846320" cy="1737360"/>
          </a:xfrm>
          <a:prstGeom prst="rect">
            <a:avLst/>
          </a:prstGeom>
          <a:noFill/>
          <a:ln/>
        </p:spPr>
        <p:txBody>
          <a:bodyPr wrap="square" lIns="0" tIns="0" rIns="0" bIns="0" rtlCol="0" anchor="t"/>
          <a:lstStyle/>
          <a:p>
            <a:pPr marL="0" indent="0">
              <a:spcAft>
                <a:spcPts val="500"/>
              </a:spcAft>
              <a:buNone/>
            </a:pPr>
            <a:r>
              <a:rPr lang="en-US" sz="1100" i="0" dirty="0">
                <a:solidFill>
                  <a:srgbClr val="C9D2EC"/>
                </a:solidFill>
                <a:latin typeface="Nirmala UI" pitchFamily="34" charset="0"/>
                <a:ea typeface="Nirmala UI" pitchFamily="34" charset="-122"/>
                <a:cs typeface="Nirmala UI" pitchFamily="34" charset="-120"/>
              </a:rPr>
              <a:t>Applicant:  </a:t>
            </a:r>
            <a:r>
              <a:rPr lang="en-US" sz="1100" i="0" dirty="0" b="1">
                <a:solidFill>
                  <a:srgbClr val="FFFFFF"/>
                </a:solidFill>
                <a:latin typeface="Nirmala UI" pitchFamily="34" charset="0"/>
                <a:ea typeface="Nirmala UI" pitchFamily="34" charset="-122"/>
                <a:cs typeface="Nirmala UI" pitchFamily="34" charset="-120"/>
              </a:rPr>
              <a:t>Siddhant Hiralal Patil</a:t>
            </a:r>
          </a:p>
          <a:p>
            <a:pPr marL="0" indent="0">
              <a:spcAft>
                <a:spcPts val="500"/>
              </a:spcAft>
              <a:buNone/>
            </a:pPr>
            <a:r>
              <a:rPr lang="en-US" sz="1100" i="0" dirty="0">
                <a:solidFill>
                  <a:srgbClr val="C9D2EC"/>
                </a:solidFill>
                <a:latin typeface="Nirmala UI" pitchFamily="34" charset="0"/>
                <a:ea typeface="Nirmala UI" pitchFamily="34" charset="-122"/>
                <a:cs typeface="Nirmala UI" pitchFamily="34" charset="-120"/>
              </a:rPr>
              <a:t>Application type:  </a:t>
            </a:r>
            <a:r>
              <a:rPr lang="en-US" sz="1100" i="0" dirty="0">
                <a:solidFill>
                  <a:srgbClr val="FFFFFF"/>
                </a:solidFill>
                <a:latin typeface="Nirmala UI" pitchFamily="34" charset="0"/>
                <a:ea typeface="Nirmala UI" pitchFamily="34" charset="-122"/>
                <a:cs typeface="Nirmala UI" pitchFamily="34" charset="-120"/>
              </a:rPr>
              <a:t>Individual (team size 1)</a:t>
            </a:r>
          </a:p>
          <a:p>
            <a:pPr marL="0" indent="0">
              <a:spcAft>
                <a:spcPts val="500"/>
              </a:spcAft>
              <a:buNone/>
            </a:pPr>
            <a:r>
              <a:rPr lang="en-US" sz="1100" i="0" dirty="0">
                <a:solidFill>
                  <a:srgbClr val="C9D2EC"/>
                </a:solidFill>
                <a:latin typeface="Nirmala UI" pitchFamily="34" charset="0"/>
                <a:ea typeface="Nirmala UI" pitchFamily="34" charset="-122"/>
                <a:cs typeface="Nirmala UI" pitchFamily="34" charset="-120"/>
              </a:rPr>
              <a:t>Sector:  </a:t>
            </a:r>
            <a:r>
              <a:rPr lang="en-US" sz="1100" i="0" dirty="0">
                <a:solidFill>
                  <a:srgbClr val="FFFFFF"/>
                </a:solidFill>
                <a:latin typeface="Nirmala UI" pitchFamily="34" charset="0"/>
                <a:ea typeface="Nirmala UI" pitchFamily="34" charset="-122"/>
                <a:cs typeface="Nirmala UI" pitchFamily="34" charset="-120"/>
              </a:rPr>
              <a:t>Law and Order</a:t>
            </a:r>
          </a:p>
          <a:p>
            <a:pPr marL="0" indent="0">
              <a:spcAft>
                <a:spcPts val="500"/>
              </a:spcAft>
              <a:buNone/>
            </a:pPr>
            <a:r>
              <a:rPr lang="en-US" sz="1100" i="0" dirty="0">
                <a:solidFill>
                  <a:srgbClr val="C9D2EC"/>
                </a:solidFill>
                <a:latin typeface="Nirmala UI" pitchFamily="34" charset="0"/>
                <a:ea typeface="Nirmala UI" pitchFamily="34" charset="-122"/>
                <a:cs typeface="Nirmala UI" pitchFamily="34" charset="-120"/>
              </a:rPr>
              <a:t>Sub-theme:  </a:t>
            </a:r>
            <a:r>
              <a:rPr lang="en-US" sz="1100" i="0" dirty="0">
                <a:solidFill>
                  <a:srgbClr val="FFFFFF"/>
                </a:solidFill>
                <a:latin typeface="Nirmala UI" pitchFamily="34" charset="0"/>
                <a:ea typeface="Nirmala UI" pitchFamily="34" charset="-122"/>
                <a:cs typeface="Nirmala UI" pitchFamily="34" charset="-120"/>
              </a:rPr>
              <a:t>Cyber-fraud, digital extortion and financial-crime intelligence</a:t>
            </a:r>
          </a:p>
          <a:p>
            <a:pPr marL="0" indent="0">
              <a:spcAft>
                <a:spcPts val="500"/>
              </a:spcAft>
              <a:buNone/>
            </a:pPr>
            <a:r>
              <a:rPr lang="en-US" sz="1100" i="0" dirty="0">
                <a:solidFill>
                  <a:srgbClr val="C9D2EC"/>
                </a:solidFill>
                <a:latin typeface="Nirmala UI" pitchFamily="34" charset="0"/>
                <a:ea typeface="Nirmala UI" pitchFamily="34" charset="-122"/>
                <a:cs typeface="Nirmala UI" pitchFamily="34" charset="-120"/>
              </a:rPr>
              <a:t>Stage:  </a:t>
            </a:r>
            <a:r>
              <a:rPr lang="en-US" sz="1100" i="0" dirty="0" b="1">
                <a:solidFill>
                  <a:srgbClr val="FFFFFF"/>
                </a:solidFill>
                <a:latin typeface="Nirmala UI" pitchFamily="34" charset="0"/>
                <a:ea typeface="Nirmala UI" pitchFamily="34" charset="-122"/>
                <a:cs typeface="Nirmala UI" pitchFamily="34" charset="-120"/>
              </a:rPr>
              <a:t>Working Prototype</a:t>
            </a:r>
          </a:p>
        </p:txBody>
      </p:sp>
      <p:sp>
        <p:nvSpPr>
          <p:cNvPr id="17" name="Shape 15"/>
          <p:cNvSpPr/>
          <p:nvPr/>
        </p:nvSpPr>
        <p:spPr>
          <a:xfrm>
            <a:off x="5532120" y="777240"/>
            <a:ext cx="3154680" cy="3429000"/>
          </a:xfrm>
          <a:prstGeom prst="roundRect">
            <a:avLst>
              <a:gd name="adj" fmla="val 3226"/>
            </a:avLst>
          </a:prstGeom>
          <a:solidFill>
            <a:srgbClr val="253870"/>
          </a:solidFill>
          <a:ln w="12700">
            <a:solidFill>
              <a:srgbClr val="253870"/>
            </a:solidFill>
            <a:prstDash val="solid"/>
          </a:ln>
        </p:spPr>
        <p:txBody>
          <a:bodyPr/>
          <a:lstStyle/>
          <a:p>
            <a:endParaRPr lang="en-IN"/>
          </a:p>
        </p:txBody>
      </p:sp>
      <p:sp>
        <p:nvSpPr>
          <p:cNvPr id="2" name="Text 0"/>
          <p:cNvSpPr txBox="1"/>
          <p:nvPr/>
        </p:nvSpPr>
        <p:spPr>
          <a:xfrm>
            <a:off x="5669280" y="868680"/>
            <a:ext cx="2926080" cy="274320"/>
          </a:xfrm>
          <a:prstGeom prst="rect">
            <a:avLst/>
          </a:prstGeom>
          <a:noFill/>
          <a:ln/>
        </p:spPr>
        <p:txBody>
          <a:bodyPr wrap="square" lIns="0" tIns="0" rIns="0" bIns="0" rtlCol="0" anchor="t"/>
          <a:lstStyle/>
          <a:p>
            <a:pPr marL="0" indent="0">
              <a:buNone/>
            </a:pPr>
            <a:r>
              <a:rPr lang="en-US" sz="900" b="1" kern="0" spc="0" dirty="0" i="0">
                <a:solidFill>
                  <a:srgbClr val="F28C28"/>
                </a:solidFill>
                <a:latin typeface="Nirmala UI" pitchFamily="34" charset="0"/>
                <a:ea typeface="Nirmala UI" pitchFamily="34" charset="-122"/>
                <a:cs typeface="Nirmala UI" pitchFamily="34" charset="-120"/>
              </a:rPr>
              <a:t>Prototype screens (synthetic lab captures)</a:t>
            </a:r>
          </a:p>
        </p:txBody>
      </p:sp>
      <p:pic>
        <p:nvPicPr>
          <p:cNvPr id="18" name="Picture 17" descr="screen_scored_flagship.png"/>
          <p:cNvPicPr>
            <a:picLocks noChangeAspect="1"/>
          </p:cNvPicPr>
          <p:nvPr/>
        </p:nvPicPr>
        <p:blipFill>
          <a:blip r:embed="rId3"/>
          <a:stretch>
            <a:fillRect/>
          </a:stretch>
        </p:blipFill>
        <p:spPr>
          <a:xfrm>
            <a:off x="5669280" y="1170432"/>
            <a:ext cx="2880360" cy="870807"/>
          </a:xfrm>
          <a:prstGeom prst="rect">
            <a:avLst/>
          </a:prstGeom>
        </p:spPr>
      </p:pic>
      <p:sp>
        <p:nvSpPr>
          <p:cNvPr id="2" name="Text 0"/>
          <p:cNvSpPr txBox="1"/>
          <p:nvPr/>
        </p:nvSpPr>
        <p:spPr>
          <a:xfrm>
            <a:off x="5669280" y="2077814"/>
            <a:ext cx="2926080" cy="274320"/>
          </a:xfrm>
          <a:prstGeom prst="rect">
            <a:avLst/>
          </a:prstGeom>
          <a:noFill/>
          <a:ln/>
        </p:spPr>
        <p:txBody>
          <a:bodyPr wrap="square" lIns="0" tIns="0" rIns="0" bIns="0" rtlCol="0" anchor="t"/>
          <a:lstStyle/>
          <a:p>
            <a:pPr marL="0" indent="0">
              <a:buNone/>
            </a:pPr>
            <a:r>
              <a:rPr lang="en-US" sz="850" b="0" kern="0" spc="0" dirty="0" i="0">
                <a:solidFill>
                  <a:srgbClr val="C9D2EC"/>
                </a:solidFill>
                <a:latin typeface="Nirmala UI" pitchFamily="34" charset="0"/>
                <a:ea typeface="Nirmala UI" pitchFamily="34" charset="-122"/>
                <a:cs typeface="Nirmala UI" pitchFamily="34" charset="-120"/>
              </a:rPr>
              <a:t>Scored: every finding cites its evidence</a:t>
            </a:r>
          </a:p>
        </p:txBody>
      </p:sp>
      <p:pic>
        <p:nvPicPr>
          <p:cNvPr id="19" name="Picture 18" descr="screen_withheld_not_scored.png"/>
          <p:cNvPicPr>
            <a:picLocks noChangeAspect="1"/>
          </p:cNvPicPr>
          <p:nvPr/>
        </p:nvPicPr>
        <p:blipFill>
          <a:blip r:embed="rId4"/>
          <a:stretch>
            <a:fillRect/>
          </a:stretch>
        </p:blipFill>
        <p:spPr>
          <a:xfrm>
            <a:off x="5669280" y="2425286"/>
            <a:ext cx="2880360" cy="863364"/>
          </a:xfrm>
          <a:prstGeom prst="rect">
            <a:avLst/>
          </a:prstGeom>
        </p:spPr>
      </p:pic>
      <p:sp>
        <p:nvSpPr>
          <p:cNvPr id="2" name="Text 0"/>
          <p:cNvSpPr txBox="1"/>
          <p:nvPr/>
        </p:nvSpPr>
        <p:spPr>
          <a:xfrm>
            <a:off x="5669280" y="3325226"/>
            <a:ext cx="2926080" cy="274320"/>
          </a:xfrm>
          <a:prstGeom prst="rect">
            <a:avLst/>
          </a:prstGeom>
          <a:noFill/>
          <a:ln/>
        </p:spPr>
        <p:txBody>
          <a:bodyPr wrap="square" lIns="0" tIns="0" rIns="0" bIns="0" rtlCol="0" anchor="t"/>
          <a:lstStyle/>
          <a:p>
            <a:pPr marL="0" indent="0">
              <a:buNone/>
            </a:pPr>
            <a:r>
              <a:rPr lang="en-US" sz="850" b="0" kern="0" spc="0" dirty="0" i="0">
                <a:solidFill>
                  <a:srgbClr val="C9D2EC"/>
                </a:solidFill>
                <a:latin typeface="Nirmala UI" pitchFamily="34" charset="0"/>
                <a:ea typeface="Nirmala UI" pitchFamily="34" charset="-122"/>
                <a:cs typeface="Nirmala UI" pitchFamily="34" charset="-120"/>
              </a:rPr>
              <a:t>Withheld: no score when the capture cannot support one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457200" y="347472"/>
            <a:ext cx="502920" cy="502920"/>
          </a:xfrm>
          <a:prstGeom prst="ellipse">
            <a:avLst/>
          </a:prstGeom>
          <a:solidFill>
            <a:srgbClr val="F28C28"/>
          </a:solidFill>
          <a:ln w="12700">
            <a:solidFill>
              <a:srgbClr val="F28C28"/>
            </a:solidFill>
            <a:prstDash val="solid"/>
          </a:ln>
        </p:spPr>
        <p:txBody>
          <a:bodyPr/>
          <a:lstStyle/>
          <a:p>
            <a:endParaRPr lang="en-IN"/>
          </a:p>
        </p:txBody>
      </p:sp>
      <p:sp>
        <p:nvSpPr>
          <p:cNvPr id="3" name="Text 1"/>
          <p:cNvSpPr txBox="1"/>
          <p:nvPr/>
        </p:nvSpPr>
        <p:spPr>
          <a:xfrm>
            <a:off x="457200" y="347472"/>
            <a:ext cx="502920" cy="502920"/>
          </a:xfrm>
          <a:prstGeom prst="rect">
            <a:avLst/>
          </a:prstGeom>
          <a:noFill/>
          <a:ln/>
        </p:spPr>
        <p:txBody>
          <a:bodyPr wrap="square" lIns="0" tIns="0" rIns="0" bIns="0" rtlCol="0" anchor="ctr"/>
          <a:lstStyle/>
          <a:p>
            <a:pPr marL="0" indent="0" algn="ctr">
              <a:buNone/>
            </a:pPr>
            <a:r>
              <a:rPr lang="en-US" sz="1540" b="1" dirty="0">
                <a:solidFill>
                  <a:srgbClr val="FFFFFF"/>
                </a:solidFill>
                <a:latin typeface="Nirmala UI" pitchFamily="34" charset="0"/>
                <a:ea typeface="Nirmala UI" pitchFamily="34" charset="-122"/>
                <a:cs typeface="Nirmala UI" pitchFamily="34" charset="-120"/>
              </a:rPr>
              <a:t>2</a:t>
            </a:r>
            <a:endParaRPr lang="en-US" sz="1540" dirty="0"/>
          </a:p>
        </p:txBody>
      </p:sp>
      <p:sp>
        <p:nvSpPr>
          <p:cNvPr id="4" name="Text 2"/>
          <p:cNvSpPr txBox="1"/>
          <p:nvPr/>
        </p:nvSpPr>
        <p:spPr>
          <a:xfrm>
            <a:off x="1097280" y="301752"/>
            <a:ext cx="6858000" cy="411480"/>
          </a:xfrm>
          <a:prstGeom prst="rect">
            <a:avLst/>
          </a:prstGeom>
          <a:noFill/>
          <a:ln/>
        </p:spPr>
        <p:txBody>
          <a:bodyPr wrap="square" lIns="0" tIns="0" rIns="0" bIns="0" rtlCol="0" anchor="t"/>
          <a:lstStyle/>
          <a:p>
            <a:pPr marL="0" indent="0">
              <a:buNone/>
            </a:pPr>
            <a:r>
              <a:rPr lang="en-US" sz="2600" b="1" dirty="0">
                <a:solidFill>
                  <a:srgbClr val="1B2A5C"/>
                </a:solidFill>
                <a:latin typeface="Nirmala UI" pitchFamily="34" charset="0"/>
                <a:ea typeface="Nirmala UI" pitchFamily="34" charset="-122"/>
                <a:cs typeface="Nirmala UI" pitchFamily="34" charset="-120"/>
              </a:rPr>
              <a:t>The Problem</a:t>
            </a:r>
            <a:endParaRPr lang="en-US" sz="2600" dirty="0"/>
          </a:p>
        </p:txBody>
      </p:sp>
      <p:sp>
        <p:nvSpPr>
          <p:cNvPr id="5" name="Text 3"/>
          <p:cNvSpPr txBox="1"/>
          <p:nvPr/>
        </p:nvSpPr>
        <p:spPr>
          <a:xfrm>
            <a:off x="1097280" y="713232"/>
            <a:ext cx="7589520" cy="274320"/>
          </a:xfrm>
          <a:prstGeom prst="rect">
            <a:avLst/>
          </a:prstGeom>
          <a:noFill/>
          <a:ln/>
        </p:spPr>
        <p:txBody>
          <a:bodyPr wrap="square" lIns="0" tIns="0" rIns="0" bIns="0" rtlCol="0" anchor="t"/>
          <a:lstStyle/>
          <a:p>
            <a:pPr marL="0" indent="0">
              <a:buNone/>
            </a:pPr>
            <a:r>
              <a:rPr lang="en-US" sz="1100" i="1" dirty="0">
                <a:solidFill>
                  <a:srgbClr val="6B7280"/>
                </a:solidFill>
                <a:latin typeface="Nirmala UI" pitchFamily="34" charset="0"/>
                <a:ea typeface="Nirmala UI" pitchFamily="34" charset="-122"/>
                <a:cs typeface="Nirmala UI" pitchFamily="34" charset="-120"/>
              </a:rPr>
              <a:t>What real challenge in society, government service or industry are you solving?</a:t>
            </a:r>
            <a:endParaRPr lang="en-US" sz="1100" dirty="0"/>
          </a:p>
        </p:txBody>
      </p:sp>
      <p:sp>
        <p:nvSpPr>
          <p:cNvPr id="6" name="Text 4"/>
          <p:cNvSpPr txBox="1"/>
          <p:nvPr/>
        </p:nvSpPr>
        <p:spPr>
          <a:xfrm>
            <a:off x="5486400" y="4846320"/>
            <a:ext cx="3200400" cy="182880"/>
          </a:xfrm>
          <a:prstGeom prst="rect">
            <a:avLst/>
          </a:prstGeom>
          <a:noFill/>
          <a:ln/>
        </p:spPr>
        <p:txBody>
          <a:bodyPr wrap="square" lIns="0" tIns="0" rIns="0" bIns="0" rtlCol="0" anchor="t"/>
          <a:lstStyle/>
          <a:p>
            <a:pPr marL="0" indent="0" algn="r">
              <a:buNone/>
            </a:pPr>
            <a:r>
              <a:rPr lang="en-US" sz="800" dirty="0">
                <a:solidFill>
                  <a:srgbClr val="6B7280"/>
                </a:solidFill>
                <a:latin typeface="Nirmala UI" pitchFamily="34" charset="0"/>
                <a:ea typeface="Nirmala UI" pitchFamily="34" charset="-122"/>
                <a:cs typeface="Nirmala UI" pitchFamily="34" charset="-120"/>
              </a:rPr>
              <a:t>Seva Innovation Challenge 2026  |  Slide 2 of 6</a:t>
            </a:r>
            <a:endParaRPr lang="en-US" sz="800" dirty="0"/>
          </a:p>
        </p:txBody>
      </p:sp>
      <p:sp>
        <p:nvSpPr>
          <p:cNvPr id="7" name="Shape 5"/>
          <p:cNvSpPr/>
          <p:nvPr/>
        </p:nvSpPr>
        <p:spPr>
          <a:xfrm>
            <a:off x="457200" y="1188720"/>
            <a:ext cx="2743200" cy="1600200"/>
          </a:xfrm>
          <a:prstGeom prst="roundRect">
            <a:avLst>
              <a:gd name="adj" fmla="val 4571"/>
            </a:avLst>
          </a:prstGeom>
          <a:solidFill>
            <a:srgbClr val="FFFFFF"/>
          </a:solidFill>
          <a:ln w="9525">
            <a:solidFill>
              <a:srgbClr val="D9DEEA"/>
            </a:solidFill>
            <a:prstDash val="solid"/>
          </a:ln>
        </p:spPr>
        <p:txBody>
          <a:bodyPr/>
          <a:lstStyle/>
          <a:p>
            <a:endParaRPr lang="en-IN"/>
          </a:p>
        </p:txBody>
      </p:sp>
      <p:sp>
        <p:nvSpPr>
          <p:cNvPr id="8" name="Text 6"/>
          <p:cNvSpPr txBox="1"/>
          <p:nvPr/>
        </p:nvSpPr>
        <p:spPr>
          <a:xfrm>
            <a:off x="594360" y="1298448"/>
            <a:ext cx="246888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What is the problem?</a:t>
            </a:r>
            <a:endParaRPr lang="en-US" sz="1200" dirty="0"/>
          </a:p>
        </p:txBody>
      </p:sp>
      <p:sp>
        <p:nvSpPr>
          <p:cNvPr id="9" name="Text 7"/>
          <p:cNvSpPr txBox="1"/>
          <p:nvPr/>
        </p:nvSpPr>
        <p:spPr>
          <a:xfrm>
            <a:off x="594360" y="1572768"/>
            <a:ext cx="2468880" cy="1143000"/>
          </a:xfrm>
          <a:prstGeom prst="rect">
            <a:avLst/>
          </a:prstGeom>
          <a:noFill/>
          <a:ln/>
        </p:spPr>
        <p:txBody>
          <a:bodyPr wrap="square" lIns="0" tIns="0" rIns="0" bIns="0" rtlCol="0" anchor="t"/>
          <a:lstStyle/>
          <a:p>
            <a:pPr marL="0" indent="0">
              <a:buNone/>
            </a:pPr>
            <a:r>
              <a:rPr lang="en-US" sz="1050" i="0" dirty="0">
                <a:solidFill>
                  <a:srgbClr val="2F3A56"/>
                </a:solidFill>
                <a:latin typeface="Nirmala UI" pitchFamily="34" charset="0"/>
                <a:ea typeface="Nirmala UI" pitchFamily="34" charset="-122"/>
                <a:cs typeface="Nirmala UI" pitchFamily="34" charset="-120"/>
              </a:rPr>
              <a:t>Investigators often hold a network capture that is cut short or encrypted. Reading more into it than it shows can produce a conclusion the evidence cannot support, and weaken a cyber-fraud case.</a:t>
            </a:r>
          </a:p>
        </p:txBody>
      </p:sp>
      <p:sp>
        <p:nvSpPr>
          <p:cNvPr id="10" name="Shape 8"/>
          <p:cNvSpPr/>
          <p:nvPr/>
        </p:nvSpPr>
        <p:spPr>
          <a:xfrm>
            <a:off x="3383280" y="1188720"/>
            <a:ext cx="2743200" cy="1600200"/>
          </a:xfrm>
          <a:prstGeom prst="roundRect">
            <a:avLst>
              <a:gd name="adj" fmla="val 4571"/>
            </a:avLst>
          </a:prstGeom>
          <a:solidFill>
            <a:srgbClr val="FFFFFF"/>
          </a:solidFill>
          <a:ln w="9525">
            <a:solidFill>
              <a:srgbClr val="D9DEEA"/>
            </a:solidFill>
            <a:prstDash val="solid"/>
          </a:ln>
        </p:spPr>
        <p:txBody>
          <a:bodyPr/>
          <a:lstStyle/>
          <a:p>
            <a:endParaRPr lang="en-IN"/>
          </a:p>
        </p:txBody>
      </p:sp>
      <p:sp>
        <p:nvSpPr>
          <p:cNvPr id="11" name="Text 9"/>
          <p:cNvSpPr txBox="1"/>
          <p:nvPr/>
        </p:nvSpPr>
        <p:spPr>
          <a:xfrm>
            <a:off x="3520440" y="1298448"/>
            <a:ext cx="246888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Who is affected, and where?</a:t>
            </a:r>
            <a:endParaRPr lang="en-US" sz="1200" dirty="0"/>
          </a:p>
        </p:txBody>
      </p:sp>
      <p:sp>
        <p:nvSpPr>
          <p:cNvPr id="12" name="Text 10"/>
          <p:cNvSpPr txBox="1"/>
          <p:nvPr/>
        </p:nvSpPr>
        <p:spPr>
          <a:xfrm>
            <a:off x="3520440" y="1572768"/>
            <a:ext cx="2468880" cy="1143000"/>
          </a:xfrm>
          <a:prstGeom prst="rect">
            <a:avLst/>
          </a:prstGeom>
          <a:noFill/>
          <a:ln/>
        </p:spPr>
        <p:txBody>
          <a:bodyPr wrap="square" lIns="0" tIns="0" rIns="0" bIns="0" rtlCol="0" anchor="t"/>
          <a:lstStyle/>
          <a:p>
            <a:pPr marL="0" indent="0">
              <a:spcAft>
                <a:spcPts val="400"/>
              </a:spcAft>
              <a:buNone/>
            </a:pPr>
            <a:r>
              <a:rPr lang="en-US" sz="1050" i="0" dirty="0">
                <a:solidFill>
                  <a:srgbClr val="2F3A56"/>
                </a:solidFill>
                <a:latin typeface="Nirmala UI" pitchFamily="34" charset="0"/>
                <a:ea typeface="Nirmala UI" pitchFamily="34" charset="-122"/>
                <a:cs typeface="Nirmala UI" pitchFamily="34" charset="-120"/>
              </a:rPr>
              <a:t>Cyber-cell and forensic investigators, and the supervisors who must defend a finding.</a:t>
            </a:r>
          </a:p>
          <a:p>
            <a:pPr marL="0" indent="0">
              <a:spcAft>
                <a:spcPts val="400"/>
              </a:spcAft>
              <a:buNone/>
            </a:pPr>
            <a:r>
              <a:rPr lang="en-US" sz="1050" i="0" dirty="0" b="1">
                <a:solidFill>
                  <a:srgbClr val="2F3A56"/>
                </a:solidFill>
                <a:latin typeface="Nirmala UI" pitchFamily="34" charset="0"/>
                <a:ea typeface="Nirmala UI" pitchFamily="34" charset="-122"/>
                <a:cs typeface="Nirmala UI" pitchFamily="34" charset="-120"/>
              </a:rPr>
              <a:t>Proposed first users: </a:t>
            </a:r>
            <a:r>
              <a:rPr lang="en-US" sz="1050" i="0" dirty="0">
                <a:solidFill>
                  <a:srgbClr val="2F3A56"/>
                </a:solidFill>
                <a:latin typeface="Nirmala UI" pitchFamily="34" charset="0"/>
                <a:ea typeface="Nirmala UI" pitchFamily="34" charset="-122"/>
                <a:cs typeface="Nirmala UI" pitchFamily="34" charset="-120"/>
              </a:rPr>
              <a:t>a Maharashtra cyber cell or forensic lab. No partner has agreed yet.</a:t>
            </a:r>
          </a:p>
        </p:txBody>
      </p:sp>
      <p:sp>
        <p:nvSpPr>
          <p:cNvPr id="13" name="Shape 11"/>
          <p:cNvSpPr/>
          <p:nvPr/>
        </p:nvSpPr>
        <p:spPr>
          <a:xfrm>
            <a:off x="457200" y="2971800"/>
            <a:ext cx="2743200" cy="1645920"/>
          </a:xfrm>
          <a:prstGeom prst="roundRect">
            <a:avLst>
              <a:gd name="adj" fmla="val 4444"/>
            </a:avLst>
          </a:prstGeom>
          <a:solidFill>
            <a:srgbClr val="FFFFFF"/>
          </a:solidFill>
          <a:ln w="9525">
            <a:solidFill>
              <a:srgbClr val="D9DEEA"/>
            </a:solidFill>
            <a:prstDash val="solid"/>
          </a:ln>
        </p:spPr>
        <p:txBody>
          <a:bodyPr/>
          <a:lstStyle/>
          <a:p>
            <a:endParaRPr lang="en-IN"/>
          </a:p>
        </p:txBody>
      </p:sp>
      <p:sp>
        <p:nvSpPr>
          <p:cNvPr id="14" name="Text 12"/>
          <p:cNvSpPr txBox="1"/>
          <p:nvPr/>
        </p:nvSpPr>
        <p:spPr>
          <a:xfrm>
            <a:off x="594360" y="3081528"/>
            <a:ext cx="246888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Evidence</a:t>
            </a:r>
            <a:endParaRPr lang="en-US" sz="1200" dirty="0"/>
          </a:p>
        </p:txBody>
      </p:sp>
      <p:sp>
        <p:nvSpPr>
          <p:cNvPr id="15" name="Text 13"/>
          <p:cNvSpPr txBox="1"/>
          <p:nvPr/>
        </p:nvSpPr>
        <p:spPr>
          <a:xfrm>
            <a:off x="594360" y="3355848"/>
            <a:ext cx="2468880" cy="1188720"/>
          </a:xfrm>
          <a:prstGeom prst="rect">
            <a:avLst/>
          </a:prstGeom>
          <a:noFill/>
          <a:ln/>
        </p:spPr>
        <p:txBody>
          <a:bodyPr wrap="square" lIns="0" tIns="0" rIns="0" bIns="0" rtlCol="0" anchor="t"/>
          <a:lstStyle/>
          <a:p>
            <a:pPr marL="114300" indent="-114300">
              <a:spcAft>
                <a:spcPts val="300"/>
              </a:spcAft>
              <a:buChar char="•"/>
            </a:pPr>
            <a:r>
              <a:rPr lang="en-US" sz="950" i="0" dirty="0">
                <a:solidFill>
                  <a:srgbClr val="2F3A56"/>
                </a:solidFill>
                <a:latin typeface="Nirmala UI" pitchFamily="34" charset="0"/>
                <a:ea typeface="Nirmala UI" pitchFamily="34" charset="-122"/>
                <a:cs typeface="Nirmala UI" pitchFamily="34" charset="-120"/>
              </a:rPr>
              <a:t>PIB cites over 17.82 lakh CFCFRMS cyber-fraud complaints (7 Oct 2025; period not stated; not email-specific).</a:t>
            </a:r>
          </a:p>
          <a:p>
            <a:pPr marL="114300" indent="-114300">
              <a:spcAft>
                <a:spcPts val="300"/>
              </a:spcAft>
              <a:buChar char="•"/>
            </a:pPr>
            <a:r>
              <a:rPr lang="en-US" sz="950" i="0" dirty="0">
                <a:solidFill>
                  <a:srgbClr val="2F3A56"/>
                </a:solidFill>
                <a:latin typeface="Nirmala UI" pitchFamily="34" charset="0"/>
                <a:ea typeface="Nirmala UI" pitchFamily="34" charset="-122"/>
                <a:cs typeface="Nirmala UI" pitchFamily="34" charset="-120"/>
              </a:rPr>
              <a:t>Wireshark decrypts TLS only if keys are supplied (Wireshark docs).</a:t>
            </a:r>
          </a:p>
          <a:p>
            <a:pPr marL="114300" indent="-114300">
              <a:spcAft>
                <a:spcPts val="300"/>
              </a:spcAft>
              <a:buChar char="•"/>
            </a:pPr>
            <a:r>
              <a:rPr lang="en-US" sz="950" i="0" dirty="0">
                <a:solidFill>
                  <a:srgbClr val="2F3A56"/>
                </a:solidFill>
                <a:latin typeface="Nirmala UI" pitchFamily="34" charset="0"/>
                <a:ea typeface="Nirmala UI" pitchFamily="34" charset="-122"/>
                <a:cs typeface="Nirmala UI" pitchFamily="34" charset="-120"/>
              </a:rPr>
              <a:t>SMTP security "favors failing open" (Durumeric et al., IMC 2015).</a:t>
            </a:r>
          </a:p>
        </p:txBody>
      </p:sp>
      <p:sp>
        <p:nvSpPr>
          <p:cNvPr id="16" name="Shape 14"/>
          <p:cNvSpPr/>
          <p:nvPr/>
        </p:nvSpPr>
        <p:spPr>
          <a:xfrm>
            <a:off x="3383280" y="2971800"/>
            <a:ext cx="2743200" cy="1645920"/>
          </a:xfrm>
          <a:prstGeom prst="roundRect">
            <a:avLst>
              <a:gd name="adj" fmla="val 4444"/>
            </a:avLst>
          </a:prstGeom>
          <a:solidFill>
            <a:srgbClr val="FFFFFF"/>
          </a:solidFill>
          <a:ln w="9525">
            <a:solidFill>
              <a:srgbClr val="D9DEEA"/>
            </a:solidFill>
            <a:prstDash val="solid"/>
          </a:ln>
        </p:spPr>
        <p:txBody>
          <a:bodyPr/>
          <a:lstStyle/>
          <a:p>
            <a:endParaRPr lang="en-IN"/>
          </a:p>
        </p:txBody>
      </p:sp>
      <p:sp>
        <p:nvSpPr>
          <p:cNvPr id="17" name="Text 15"/>
          <p:cNvSpPr txBox="1"/>
          <p:nvPr/>
        </p:nvSpPr>
        <p:spPr>
          <a:xfrm>
            <a:off x="3520440" y="3081528"/>
            <a:ext cx="246888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Current gaps</a:t>
            </a:r>
            <a:endParaRPr lang="en-US" sz="1200" dirty="0"/>
          </a:p>
        </p:txBody>
      </p:sp>
      <p:sp>
        <p:nvSpPr>
          <p:cNvPr id="18" name="Text 16"/>
          <p:cNvSpPr txBox="1"/>
          <p:nvPr/>
        </p:nvSpPr>
        <p:spPr>
          <a:xfrm>
            <a:off x="3520440" y="3355848"/>
            <a:ext cx="2468880" cy="1188720"/>
          </a:xfrm>
          <a:prstGeom prst="rect">
            <a:avLst/>
          </a:prstGeom>
          <a:noFill/>
          <a:ln/>
        </p:spPr>
        <p:txBody>
          <a:bodyPr wrap="square" lIns="0" tIns="0" rIns="0" bIns="0" rtlCol="0" anchor="t"/>
          <a:lstStyle/>
          <a:p>
            <a:pPr marL="0" indent="0">
              <a:buNone/>
            </a:pPr>
            <a:r>
              <a:rPr lang="en-US" sz="1050" i="0" dirty="0">
                <a:solidFill>
                  <a:srgbClr val="2F3A56"/>
                </a:solidFill>
                <a:latin typeface="Nirmala UI" pitchFamily="34" charset="0"/>
                <a:ea typeface="Nirmala UI" pitchFamily="34" charset="-122"/>
                <a:cs typeface="Nirmala UI" pitchFamily="34" charset="-120"/>
              </a:rPr>
              <a:t>Packet tools show packets; the analyst decides what is safe to conclude. For cut-off or encrypted captures that judgement is manual and hard to repeat or check.</a:t>
            </a:r>
          </a:p>
        </p:txBody>
      </p:sp>
      <p:sp>
        <p:nvSpPr>
          <p:cNvPr id="19" name="Shape 17"/>
          <p:cNvSpPr/>
          <p:nvPr/>
        </p:nvSpPr>
        <p:spPr>
          <a:xfrm>
            <a:off x="6309360" y="1188720"/>
            <a:ext cx="2377440" cy="3429000"/>
          </a:xfrm>
          <a:prstGeom prst="roundRect">
            <a:avLst>
              <a:gd name="adj" fmla="val 3846"/>
            </a:avLst>
          </a:prstGeom>
          <a:solidFill>
            <a:srgbClr val="1B2A5C"/>
          </a:solidFill>
          <a:ln w="12700">
            <a:solidFill>
              <a:srgbClr val="1B2A5C"/>
            </a:solidFill>
            <a:prstDash val="solid"/>
          </a:ln>
        </p:spPr>
        <p:txBody>
          <a:bodyPr/>
          <a:lstStyle/>
          <a:p>
            <a:endParaRPr lang="en-IN"/>
          </a:p>
        </p:txBody>
      </p:sp>
      <p:sp>
        <p:nvSpPr>
          <p:cNvPr id="20" name="Text 18"/>
          <p:cNvSpPr txBox="1"/>
          <p:nvPr/>
        </p:nvSpPr>
        <p:spPr>
          <a:xfrm>
            <a:off x="6400800" y="1508760"/>
            <a:ext cx="2194560" cy="731520"/>
          </a:xfrm>
          <a:prstGeom prst="rect">
            <a:avLst/>
          </a:prstGeom>
          <a:noFill/>
          <a:ln/>
        </p:spPr>
        <p:txBody>
          <a:bodyPr wrap="square" lIns="0" tIns="0" rIns="0" bIns="0" rtlCol="0" anchor="t"/>
          <a:lstStyle/>
          <a:p>
            <a:pPr marL="0" indent="0" algn="ctr">
              <a:buNone/>
            </a:pPr>
            <a:r>
              <a:rPr lang="en-US" sz="2800" b="1" dirty="0" i="0">
                <a:solidFill>
                  <a:srgbClr val="F28C28"/>
                </a:solidFill>
                <a:latin typeface="Nirmala UI" pitchFamily="34" charset="0"/>
                <a:ea typeface="Nirmala UI" pitchFamily="34" charset="-122"/>
                <a:cs typeface="Nirmala UI" pitchFamily="34" charset="-120"/>
              </a:rPr>
              <a:t>17.82 lakh</a:t>
            </a:r>
          </a:p>
        </p:txBody>
      </p:sp>
      <p:sp>
        <p:nvSpPr>
          <p:cNvPr id="21" name="Text 19"/>
          <p:cNvSpPr txBox="1"/>
          <p:nvPr/>
        </p:nvSpPr>
        <p:spPr>
          <a:xfrm>
            <a:off x="6492240" y="2286000"/>
            <a:ext cx="2011680" cy="640080"/>
          </a:xfrm>
          <a:prstGeom prst="rect">
            <a:avLst/>
          </a:prstGeom>
          <a:noFill/>
          <a:ln/>
        </p:spPr>
        <p:txBody>
          <a:bodyPr wrap="square" lIns="0" tIns="0" rIns="0" bIns="0" rtlCol="0" anchor="t"/>
          <a:lstStyle/>
          <a:p>
            <a:pPr marL="0" indent="0" algn="ctr">
              <a:buNone/>
            </a:pPr>
            <a:r>
              <a:rPr lang="en-US" sz="1000" i="0" dirty="0">
                <a:solidFill>
                  <a:srgbClr val="FFFFFF"/>
                </a:solidFill>
                <a:latin typeface="Nirmala UI" pitchFamily="34" charset="0"/>
                <a:ea typeface="Nirmala UI" pitchFamily="34" charset="-122"/>
                <a:cs typeface="Nirmala UI" pitchFamily="34" charset="-120"/>
              </a:rPr>
              <a:t>complaints cited for the national CFCFRMS cyber-fraud system (PIB, Oct 2025)</a:t>
            </a:r>
          </a:p>
        </p:txBody>
      </p:sp>
      <p:sp>
        <p:nvSpPr>
          <p:cNvPr id="22" name="Text 20"/>
          <p:cNvSpPr txBox="1"/>
          <p:nvPr/>
        </p:nvSpPr>
        <p:spPr>
          <a:xfrm>
            <a:off x="6492240" y="3108960"/>
            <a:ext cx="2011680" cy="274320"/>
          </a:xfrm>
          <a:prstGeom prst="rect">
            <a:avLst/>
          </a:prstGeom>
          <a:noFill/>
          <a:ln/>
        </p:spPr>
        <p:txBody>
          <a:bodyPr wrap="square" lIns="0" tIns="0" rIns="0" bIns="0" rtlCol="0" anchor="t"/>
          <a:lstStyle/>
          <a:p>
            <a:pPr marL="0" indent="0" algn="ctr">
              <a:buNone/>
            </a:pPr>
            <a:r>
              <a:rPr lang="en-US" sz="1100" b="1" dirty="0">
                <a:solidFill>
                  <a:srgbClr val="F28C28"/>
                </a:solidFill>
                <a:latin typeface="Nirmala UI" pitchFamily="34" charset="0"/>
                <a:ea typeface="Nirmala UI" pitchFamily="34" charset="-122"/>
                <a:cs typeface="Nirmala UI" pitchFamily="34" charset="-120"/>
              </a:rPr>
              <a:t>Why it matters</a:t>
            </a:r>
            <a:endParaRPr lang="en-US" sz="1100" dirty="0"/>
          </a:p>
        </p:txBody>
      </p:sp>
      <p:sp>
        <p:nvSpPr>
          <p:cNvPr id="23" name="Text 21"/>
          <p:cNvSpPr txBox="1"/>
          <p:nvPr/>
        </p:nvSpPr>
        <p:spPr>
          <a:xfrm>
            <a:off x="6492240" y="3383280"/>
            <a:ext cx="2011680" cy="731520"/>
          </a:xfrm>
          <a:prstGeom prst="rect">
            <a:avLst/>
          </a:prstGeom>
          <a:noFill/>
          <a:ln/>
        </p:spPr>
        <p:txBody>
          <a:bodyPr wrap="square" lIns="0" tIns="0" rIns="0" bIns="0" rtlCol="0" anchor="t"/>
          <a:lstStyle/>
          <a:p>
            <a:pPr marL="0" indent="0" algn="ctr">
              <a:buNone/>
            </a:pPr>
            <a:r>
              <a:rPr lang="en-US" sz="950" i="0" dirty="0">
                <a:solidFill>
                  <a:srgbClr val="C9D2EC"/>
                </a:solidFill>
                <a:latin typeface="Nirmala UI" pitchFamily="34" charset="0"/>
                <a:ea typeface="Nirmala UI" pitchFamily="34" charset="-122"/>
                <a:cs typeface="Nirmala UI" pitchFamily="34" charset="-120"/>
              </a:rPr>
              <a:t>Each case may rest on digital evidence that must be read carefully and defended. How many involve email is not published, so we make no claim about 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502920" cy="502920"/>
          </a:xfrm>
          <a:prstGeom prst="ellipse">
            <a:avLst/>
          </a:prstGeom>
          <a:solidFill>
            <a:srgbClr val="F28C28"/>
          </a:solidFill>
          <a:ln w="12700">
            <a:solidFill>
              <a:srgbClr val="F28C28"/>
            </a:solidFill>
            <a:prstDash val="solid"/>
          </a:ln>
        </p:spPr>
        <p:txBody>
          <a:bodyPr/>
          <a:lstStyle/>
          <a:p>
            <a:endParaRPr lang="en-IN"/>
          </a:p>
        </p:txBody>
      </p:sp>
      <p:sp>
        <p:nvSpPr>
          <p:cNvPr id="3" name="Text 1"/>
          <p:cNvSpPr txBox="1"/>
          <p:nvPr/>
        </p:nvSpPr>
        <p:spPr>
          <a:xfrm>
            <a:off x="457200" y="347472"/>
            <a:ext cx="502920" cy="502920"/>
          </a:xfrm>
          <a:prstGeom prst="rect">
            <a:avLst/>
          </a:prstGeom>
          <a:noFill/>
          <a:ln/>
        </p:spPr>
        <p:txBody>
          <a:bodyPr wrap="square" lIns="0" tIns="0" rIns="0" bIns="0" rtlCol="0" anchor="ctr"/>
          <a:lstStyle/>
          <a:p>
            <a:pPr marL="0" indent="0" algn="ctr">
              <a:buNone/>
            </a:pPr>
            <a:r>
              <a:rPr lang="en-US" sz="1540" b="1" dirty="0">
                <a:solidFill>
                  <a:srgbClr val="FFFFFF"/>
                </a:solidFill>
                <a:latin typeface="Nirmala UI" pitchFamily="34" charset="0"/>
                <a:ea typeface="Nirmala UI" pitchFamily="34" charset="-122"/>
                <a:cs typeface="Nirmala UI" pitchFamily="34" charset="-120"/>
              </a:rPr>
              <a:t>3</a:t>
            </a:r>
            <a:endParaRPr lang="en-US" sz="1540" dirty="0"/>
          </a:p>
        </p:txBody>
      </p:sp>
      <p:sp>
        <p:nvSpPr>
          <p:cNvPr id="4" name="Text 2"/>
          <p:cNvSpPr txBox="1"/>
          <p:nvPr/>
        </p:nvSpPr>
        <p:spPr>
          <a:xfrm>
            <a:off x="1097280" y="301752"/>
            <a:ext cx="6858000" cy="411480"/>
          </a:xfrm>
          <a:prstGeom prst="rect">
            <a:avLst/>
          </a:prstGeom>
          <a:noFill/>
          <a:ln/>
        </p:spPr>
        <p:txBody>
          <a:bodyPr wrap="square" lIns="0" tIns="0" rIns="0" bIns="0" rtlCol="0" anchor="t"/>
          <a:lstStyle/>
          <a:p>
            <a:pPr marL="0" indent="0">
              <a:buNone/>
            </a:pPr>
            <a:r>
              <a:rPr lang="en-US" sz="2600" b="1" dirty="0">
                <a:solidFill>
                  <a:srgbClr val="1B2A5C"/>
                </a:solidFill>
                <a:latin typeface="Nirmala UI" pitchFamily="34" charset="0"/>
                <a:ea typeface="Nirmala UI" pitchFamily="34" charset="-122"/>
                <a:cs typeface="Nirmala UI" pitchFamily="34" charset="-120"/>
              </a:rPr>
              <a:t>Our Solution &amp; Innovation</a:t>
            </a:r>
            <a:endParaRPr lang="en-US" sz="2600" dirty="0"/>
          </a:p>
        </p:txBody>
      </p:sp>
      <p:sp>
        <p:nvSpPr>
          <p:cNvPr id="5" name="Text 3"/>
          <p:cNvSpPr txBox="1"/>
          <p:nvPr/>
        </p:nvSpPr>
        <p:spPr>
          <a:xfrm>
            <a:off x="1097280" y="713232"/>
            <a:ext cx="7589520" cy="274320"/>
          </a:xfrm>
          <a:prstGeom prst="rect">
            <a:avLst/>
          </a:prstGeom>
          <a:noFill/>
          <a:ln/>
        </p:spPr>
        <p:txBody>
          <a:bodyPr wrap="square" lIns="0" tIns="0" rIns="0" bIns="0" rtlCol="0" anchor="t"/>
          <a:lstStyle/>
          <a:p>
            <a:pPr marL="0" indent="0">
              <a:buNone/>
            </a:pPr>
            <a:r>
              <a:rPr lang="en-US" sz="1100" i="1" dirty="0">
                <a:solidFill>
                  <a:srgbClr val="6B7280"/>
                </a:solidFill>
                <a:latin typeface="Nirmala UI" pitchFamily="34" charset="0"/>
                <a:ea typeface="Nirmala UI" pitchFamily="34" charset="-122"/>
                <a:cs typeface="Nirmala UI" pitchFamily="34" charset="-120"/>
              </a:rPr>
              <a:t>What have you built or designed, how does it work, and what is new about it?</a:t>
            </a:r>
            <a:endParaRPr lang="en-US" sz="1100" dirty="0"/>
          </a:p>
        </p:txBody>
      </p:sp>
      <p:sp>
        <p:nvSpPr>
          <p:cNvPr id="6" name="Text 4"/>
          <p:cNvSpPr txBox="1"/>
          <p:nvPr/>
        </p:nvSpPr>
        <p:spPr>
          <a:xfrm>
            <a:off x="5486400" y="4846320"/>
            <a:ext cx="3200400" cy="182880"/>
          </a:xfrm>
          <a:prstGeom prst="rect">
            <a:avLst/>
          </a:prstGeom>
          <a:noFill/>
          <a:ln/>
        </p:spPr>
        <p:txBody>
          <a:bodyPr wrap="square" lIns="0" tIns="0" rIns="0" bIns="0" rtlCol="0" anchor="t"/>
          <a:lstStyle/>
          <a:p>
            <a:pPr marL="0" indent="0" algn="r">
              <a:buNone/>
            </a:pPr>
            <a:r>
              <a:rPr lang="en-US" sz="800" dirty="0">
                <a:solidFill>
                  <a:srgbClr val="6B7280"/>
                </a:solidFill>
                <a:latin typeface="Nirmala UI" pitchFamily="34" charset="0"/>
                <a:ea typeface="Nirmala UI" pitchFamily="34" charset="-122"/>
                <a:cs typeface="Nirmala UI" pitchFamily="34" charset="-120"/>
              </a:rPr>
              <a:t>Seva Innovation Challenge 2026  |  Slide 3 of 6</a:t>
            </a:r>
            <a:endParaRPr lang="en-US" sz="800" dirty="0"/>
          </a:p>
        </p:txBody>
      </p:sp>
      <p:sp>
        <p:nvSpPr>
          <p:cNvPr id="7" name="Text 5"/>
          <p:cNvSpPr txBox="1"/>
          <p:nvPr/>
        </p:nvSpPr>
        <p:spPr>
          <a:xfrm>
            <a:off x="457200" y="1188720"/>
            <a:ext cx="3931920" cy="274320"/>
          </a:xfrm>
          <a:prstGeom prst="rect">
            <a:avLst/>
          </a:prstGeom>
          <a:noFill/>
          <a:ln/>
        </p:spPr>
        <p:txBody>
          <a:bodyPr wrap="square" lIns="0" tIns="0" rIns="0" bIns="0" rtlCol="0" anchor="t"/>
          <a:lstStyle/>
          <a:p>
            <a:pPr marL="0" indent="0">
              <a:buNone/>
            </a:pPr>
            <a:r>
              <a:rPr lang="en-US" sz="1300" b="1" dirty="0">
                <a:solidFill>
                  <a:srgbClr val="1B2A5C"/>
                </a:solidFill>
                <a:latin typeface="Nirmala UI" pitchFamily="34" charset="0"/>
                <a:ea typeface="Nirmala UI" pitchFamily="34" charset="-122"/>
                <a:cs typeface="Nirmala UI" pitchFamily="34" charset="-120"/>
              </a:rPr>
              <a:t>Our solution in brief</a:t>
            </a:r>
            <a:endParaRPr lang="en-US" sz="1300" dirty="0"/>
          </a:p>
        </p:txBody>
      </p:sp>
      <p:sp>
        <p:nvSpPr>
          <p:cNvPr id="8" name="Text 6"/>
          <p:cNvSpPr txBox="1"/>
          <p:nvPr/>
        </p:nvSpPr>
        <p:spPr>
          <a:xfrm>
            <a:off x="457200" y="1481328"/>
            <a:ext cx="3931920" cy="731520"/>
          </a:xfrm>
          <a:prstGeom prst="rect">
            <a:avLst/>
          </a:prstGeom>
          <a:noFill/>
          <a:ln/>
        </p:spPr>
        <p:txBody>
          <a:bodyPr wrap="square" lIns="0" tIns="0" rIns="0" bIns="0" rtlCol="0" anchor="t"/>
          <a:lstStyle/>
          <a:p>
            <a:pPr marL="0" indent="0">
              <a:buNone/>
            </a:pPr>
            <a:r>
              <a:rPr lang="en-US" sz="1000" i="0" dirty="0">
                <a:solidFill>
                  <a:srgbClr val="2F3A56"/>
                </a:solidFill>
                <a:latin typeface="Nirmala UI" pitchFamily="34" charset="0"/>
                <a:ea typeface="Nirmala UI" pitchFamily="34" charset="-122"/>
                <a:cs typeface="Nirmala UI" pitchFamily="34" charset="-120"/>
              </a:rPr>
              <a:t>NyaySaakshya reads a saved capture of email traffic and labels every fact: observed, inferred, unknown, ambiguous, incomplete or not observable. Each finding points to its packets. If the capture cannot support a score, it gives none.</a:t>
            </a:r>
          </a:p>
        </p:txBody>
      </p:sp>
      <p:sp>
        <p:nvSpPr>
          <p:cNvPr id="9" name="Text 7"/>
          <p:cNvSpPr txBox="1"/>
          <p:nvPr/>
        </p:nvSpPr>
        <p:spPr>
          <a:xfrm>
            <a:off x="457200" y="2377440"/>
            <a:ext cx="3931920" cy="274320"/>
          </a:xfrm>
          <a:prstGeom prst="rect">
            <a:avLst/>
          </a:prstGeom>
          <a:noFill/>
          <a:ln/>
        </p:spPr>
        <p:txBody>
          <a:bodyPr wrap="square" lIns="0" tIns="0" rIns="0" bIns="0" rtlCol="0" anchor="t"/>
          <a:lstStyle/>
          <a:p>
            <a:pPr marL="0" indent="0">
              <a:buNone/>
            </a:pPr>
            <a:r>
              <a:rPr lang="en-US" sz="1300" b="1" dirty="0">
                <a:solidFill>
                  <a:srgbClr val="1B2A5C"/>
                </a:solidFill>
                <a:latin typeface="Nirmala UI" pitchFamily="34" charset="0"/>
                <a:ea typeface="Nirmala UI" pitchFamily="34" charset="-122"/>
                <a:cs typeface="Nirmala UI" pitchFamily="34" charset="-120"/>
              </a:rPr>
              <a:t>How it works</a:t>
            </a:r>
            <a:endParaRPr lang="en-US" sz="1300" dirty="0"/>
          </a:p>
        </p:txBody>
      </p:sp>
      <p:sp>
        <p:nvSpPr>
          <p:cNvPr id="10" name="Shape 8"/>
          <p:cNvSpPr/>
          <p:nvPr/>
        </p:nvSpPr>
        <p:spPr>
          <a:xfrm>
            <a:off x="457200" y="2724912"/>
            <a:ext cx="1170432" cy="1783080"/>
          </a:xfrm>
          <a:prstGeom prst="roundRect">
            <a:avLst>
              <a:gd name="adj" fmla="val 6250"/>
            </a:avLst>
          </a:prstGeom>
          <a:solidFill>
            <a:srgbClr val="FDEBD7"/>
          </a:solidFill>
          <a:ln w="9525">
            <a:solidFill>
              <a:srgbClr val="D9DEEA"/>
            </a:solidFill>
            <a:prstDash val="solid"/>
          </a:ln>
        </p:spPr>
        <p:txBody>
          <a:bodyPr/>
          <a:lstStyle/>
          <a:p>
            <a:endParaRPr lang="en-IN"/>
          </a:p>
        </p:txBody>
      </p:sp>
      <p:sp>
        <p:nvSpPr>
          <p:cNvPr id="11" name="Shape 9"/>
          <p:cNvSpPr/>
          <p:nvPr/>
        </p:nvSpPr>
        <p:spPr>
          <a:xfrm>
            <a:off x="859536" y="2834640"/>
            <a:ext cx="365760" cy="365760"/>
          </a:xfrm>
          <a:prstGeom prst="ellipse">
            <a:avLst/>
          </a:prstGeom>
          <a:solidFill>
            <a:srgbClr val="F28C28"/>
          </a:solidFill>
          <a:ln w="12700">
            <a:solidFill>
              <a:srgbClr val="F28C28"/>
            </a:solidFill>
            <a:prstDash val="solid"/>
          </a:ln>
        </p:spPr>
        <p:txBody>
          <a:bodyPr/>
          <a:lstStyle/>
          <a:p>
            <a:endParaRPr lang="en-IN"/>
          </a:p>
        </p:txBody>
      </p:sp>
      <p:sp>
        <p:nvSpPr>
          <p:cNvPr id="12" name="Text 10"/>
          <p:cNvSpPr txBox="1"/>
          <p:nvPr/>
        </p:nvSpPr>
        <p:spPr>
          <a:xfrm>
            <a:off x="859536" y="2834640"/>
            <a:ext cx="365760" cy="365760"/>
          </a:xfrm>
          <a:prstGeom prst="rect">
            <a:avLst/>
          </a:prstGeom>
          <a:noFill/>
          <a:ln/>
        </p:spPr>
        <p:txBody>
          <a:bodyPr wrap="square" lIns="0" tIns="0" rIns="0" bIns="0" rtlCol="0" anchor="ctr"/>
          <a:lstStyle/>
          <a:p>
            <a:pPr marL="0" indent="0" algn="ctr">
              <a:buNone/>
            </a:pPr>
            <a:r>
              <a:rPr lang="en-US" sz="1120" b="1" dirty="0">
                <a:solidFill>
                  <a:srgbClr val="FFFFFF"/>
                </a:solidFill>
                <a:latin typeface="Nirmala UI" pitchFamily="34" charset="0"/>
                <a:ea typeface="Nirmala UI" pitchFamily="34" charset="-122"/>
                <a:cs typeface="Nirmala UI" pitchFamily="34" charset="-120"/>
              </a:rPr>
              <a:t>1</a:t>
            </a:r>
            <a:endParaRPr lang="en-US" sz="1120" dirty="0"/>
          </a:p>
        </p:txBody>
      </p:sp>
      <p:sp>
        <p:nvSpPr>
          <p:cNvPr id="13" name="Text 11"/>
          <p:cNvSpPr txBox="1"/>
          <p:nvPr/>
        </p:nvSpPr>
        <p:spPr>
          <a:xfrm>
            <a:off x="530352" y="3273552"/>
            <a:ext cx="1024128" cy="256032"/>
          </a:xfrm>
          <a:prstGeom prst="rect">
            <a:avLst/>
          </a:prstGeom>
          <a:noFill/>
          <a:ln/>
        </p:spPr>
        <p:txBody>
          <a:bodyPr wrap="square" lIns="0" tIns="0" rIns="0" bIns="0" rtlCol="0" anchor="t"/>
          <a:lstStyle/>
          <a:p>
            <a:pPr marL="0" indent="0" algn="ctr">
              <a:buNone/>
            </a:pPr>
            <a:r>
              <a:rPr lang="en-US" sz="1100" b="1" dirty="0">
                <a:solidFill>
                  <a:srgbClr val="1B2A5C"/>
                </a:solidFill>
                <a:latin typeface="Nirmala UI" pitchFamily="34" charset="0"/>
                <a:ea typeface="Nirmala UI" pitchFamily="34" charset="-122"/>
                <a:cs typeface="Nirmala UI" pitchFamily="34" charset="-120"/>
              </a:rPr>
              <a:t>Input</a:t>
            </a:r>
            <a:endParaRPr lang="en-US" sz="1100" dirty="0"/>
          </a:p>
        </p:txBody>
      </p:sp>
      <p:sp>
        <p:nvSpPr>
          <p:cNvPr id="14" name="Text 12"/>
          <p:cNvSpPr txBox="1"/>
          <p:nvPr/>
        </p:nvSpPr>
        <p:spPr>
          <a:xfrm>
            <a:off x="548640" y="3566160"/>
            <a:ext cx="987552" cy="868680"/>
          </a:xfrm>
          <a:prstGeom prst="rect">
            <a:avLst/>
          </a:prstGeom>
          <a:noFill/>
          <a:ln/>
        </p:spPr>
        <p:txBody>
          <a:bodyPr wrap="square" lIns="0" tIns="0" rIns="0" bIns="0" rtlCol="0" anchor="t"/>
          <a:lstStyle/>
          <a:p>
            <a:pPr marL="0" indent="0" algn="ctr">
              <a:buNone/>
            </a:pPr>
            <a:r>
              <a:rPr lang="en-US" sz="900" i="0" dirty="0">
                <a:solidFill>
                  <a:srgbClr val="2F3A56"/>
                </a:solidFill>
                <a:latin typeface="Nirmala UI" pitchFamily="34" charset="0"/>
                <a:ea typeface="Nirmala UI" pitchFamily="34" charset="-122"/>
                <a:cs typeface="Nirmala UI" pitchFamily="34" charset="-120"/>
              </a:rPr>
              <a:t>Investigator uploads a saved email-traffic capture</a:t>
            </a:r>
          </a:p>
        </p:txBody>
      </p:sp>
      <p:sp>
        <p:nvSpPr>
          <p:cNvPr id="15" name="Text 13"/>
          <p:cNvSpPr txBox="1"/>
          <p:nvPr/>
        </p:nvSpPr>
        <p:spPr>
          <a:xfrm>
            <a:off x="1627632" y="3291840"/>
            <a:ext cx="201168" cy="365760"/>
          </a:xfrm>
          <a:prstGeom prst="rect">
            <a:avLst/>
          </a:prstGeom>
          <a:noFill/>
          <a:ln/>
        </p:spPr>
        <p:txBody>
          <a:bodyPr wrap="square" lIns="0" tIns="0" rIns="0" bIns="0" rtlCol="0" anchor="t"/>
          <a:lstStyle/>
          <a:p>
            <a:pPr marL="0" indent="0" algn="ctr">
              <a:buNone/>
            </a:pPr>
            <a:r>
              <a:rPr lang="en-US" sz="2200" b="1" dirty="0">
                <a:solidFill>
                  <a:srgbClr val="F28C28"/>
                </a:solidFill>
                <a:latin typeface="Nirmala UI" pitchFamily="34" charset="0"/>
                <a:ea typeface="Nirmala UI" pitchFamily="34" charset="-122"/>
                <a:cs typeface="Nirmala UI" pitchFamily="34" charset="-120"/>
              </a:rPr>
              <a:t>›</a:t>
            </a:r>
            <a:endParaRPr lang="en-US" sz="2200" dirty="0"/>
          </a:p>
        </p:txBody>
      </p:sp>
      <p:sp>
        <p:nvSpPr>
          <p:cNvPr id="16" name="Shape 14"/>
          <p:cNvSpPr/>
          <p:nvPr/>
        </p:nvSpPr>
        <p:spPr>
          <a:xfrm>
            <a:off x="1828800" y="2724912"/>
            <a:ext cx="1170432" cy="1783080"/>
          </a:xfrm>
          <a:prstGeom prst="roundRect">
            <a:avLst>
              <a:gd name="adj" fmla="val 6250"/>
            </a:avLst>
          </a:prstGeom>
          <a:solidFill>
            <a:srgbClr val="FDEBD7"/>
          </a:solidFill>
          <a:ln w="9525">
            <a:solidFill>
              <a:srgbClr val="D9DEEA"/>
            </a:solidFill>
            <a:prstDash val="solid"/>
          </a:ln>
        </p:spPr>
        <p:txBody>
          <a:bodyPr/>
          <a:lstStyle/>
          <a:p>
            <a:endParaRPr lang="en-IN"/>
          </a:p>
        </p:txBody>
      </p:sp>
      <p:sp>
        <p:nvSpPr>
          <p:cNvPr id="17" name="Shape 15"/>
          <p:cNvSpPr/>
          <p:nvPr/>
        </p:nvSpPr>
        <p:spPr>
          <a:xfrm>
            <a:off x="2231136" y="2834640"/>
            <a:ext cx="365760" cy="365760"/>
          </a:xfrm>
          <a:prstGeom prst="ellipse">
            <a:avLst/>
          </a:prstGeom>
          <a:solidFill>
            <a:srgbClr val="F28C28"/>
          </a:solidFill>
          <a:ln w="12700">
            <a:solidFill>
              <a:srgbClr val="F28C28"/>
            </a:solidFill>
            <a:prstDash val="solid"/>
          </a:ln>
        </p:spPr>
        <p:txBody>
          <a:bodyPr/>
          <a:lstStyle/>
          <a:p>
            <a:endParaRPr lang="en-IN"/>
          </a:p>
        </p:txBody>
      </p:sp>
      <p:sp>
        <p:nvSpPr>
          <p:cNvPr id="18" name="Text 16"/>
          <p:cNvSpPr txBox="1"/>
          <p:nvPr/>
        </p:nvSpPr>
        <p:spPr>
          <a:xfrm>
            <a:off x="2231136" y="2834640"/>
            <a:ext cx="365760" cy="365760"/>
          </a:xfrm>
          <a:prstGeom prst="rect">
            <a:avLst/>
          </a:prstGeom>
          <a:noFill/>
          <a:ln/>
        </p:spPr>
        <p:txBody>
          <a:bodyPr wrap="square" lIns="0" tIns="0" rIns="0" bIns="0" rtlCol="0" anchor="ctr"/>
          <a:lstStyle/>
          <a:p>
            <a:pPr marL="0" indent="0" algn="ctr">
              <a:buNone/>
            </a:pPr>
            <a:r>
              <a:rPr lang="en-US" sz="1120" b="1" dirty="0">
                <a:solidFill>
                  <a:srgbClr val="FFFFFF"/>
                </a:solidFill>
                <a:latin typeface="Nirmala UI" pitchFamily="34" charset="0"/>
                <a:ea typeface="Nirmala UI" pitchFamily="34" charset="-122"/>
                <a:cs typeface="Nirmala UI" pitchFamily="34" charset="-120"/>
              </a:rPr>
              <a:t>2</a:t>
            </a:r>
            <a:endParaRPr lang="en-US" sz="1120" dirty="0"/>
          </a:p>
        </p:txBody>
      </p:sp>
      <p:sp>
        <p:nvSpPr>
          <p:cNvPr id="19" name="Text 17"/>
          <p:cNvSpPr txBox="1"/>
          <p:nvPr/>
        </p:nvSpPr>
        <p:spPr>
          <a:xfrm>
            <a:off x="1901952" y="3273552"/>
            <a:ext cx="1024128" cy="256032"/>
          </a:xfrm>
          <a:prstGeom prst="rect">
            <a:avLst/>
          </a:prstGeom>
          <a:noFill/>
          <a:ln/>
        </p:spPr>
        <p:txBody>
          <a:bodyPr wrap="square" lIns="0" tIns="0" rIns="0" bIns="0" rtlCol="0" anchor="t"/>
          <a:lstStyle/>
          <a:p>
            <a:pPr marL="0" indent="0" algn="ctr">
              <a:buNone/>
            </a:pPr>
            <a:r>
              <a:rPr lang="en-US" sz="1100" b="1" dirty="0">
                <a:solidFill>
                  <a:srgbClr val="1B2A5C"/>
                </a:solidFill>
                <a:latin typeface="Nirmala UI" pitchFamily="34" charset="0"/>
                <a:ea typeface="Nirmala UI" pitchFamily="34" charset="-122"/>
                <a:cs typeface="Nirmala UI" pitchFamily="34" charset="-120"/>
              </a:rPr>
              <a:t>Process</a:t>
            </a:r>
            <a:endParaRPr lang="en-US" sz="1100" dirty="0"/>
          </a:p>
        </p:txBody>
      </p:sp>
      <p:sp>
        <p:nvSpPr>
          <p:cNvPr id="20" name="Text 18"/>
          <p:cNvSpPr txBox="1"/>
          <p:nvPr/>
        </p:nvSpPr>
        <p:spPr>
          <a:xfrm>
            <a:off x="1920240" y="3566160"/>
            <a:ext cx="987552" cy="868680"/>
          </a:xfrm>
          <a:prstGeom prst="rect">
            <a:avLst/>
          </a:prstGeom>
          <a:noFill/>
          <a:ln/>
        </p:spPr>
        <p:txBody>
          <a:bodyPr wrap="square" lIns="0" tIns="0" rIns="0" bIns="0" rtlCol="0" anchor="t"/>
          <a:lstStyle/>
          <a:p>
            <a:pPr marL="0" indent="0" algn="ctr">
              <a:buNone/>
            </a:pPr>
            <a:r>
              <a:rPr lang="en-US" sz="900" i="0" dirty="0">
                <a:solidFill>
                  <a:srgbClr val="2F3A56"/>
                </a:solidFill>
                <a:latin typeface="Nirmala UI" pitchFamily="34" charset="0"/>
                <a:ea typeface="Nirmala UI" pitchFamily="34" charset="-122"/>
                <a:cs typeface="Nirmala UI" pitchFamily="34" charset="-120"/>
              </a:rPr>
              <a:t>SHA-256 fingerprint; sessions rebuilt; standards-based rules judge only what is visible</a:t>
            </a:r>
          </a:p>
        </p:txBody>
      </p:sp>
      <p:sp>
        <p:nvSpPr>
          <p:cNvPr id="21" name="Text 19"/>
          <p:cNvSpPr txBox="1"/>
          <p:nvPr/>
        </p:nvSpPr>
        <p:spPr>
          <a:xfrm>
            <a:off x="2999232" y="3291840"/>
            <a:ext cx="201168" cy="365760"/>
          </a:xfrm>
          <a:prstGeom prst="rect">
            <a:avLst/>
          </a:prstGeom>
          <a:noFill/>
          <a:ln/>
        </p:spPr>
        <p:txBody>
          <a:bodyPr wrap="square" lIns="0" tIns="0" rIns="0" bIns="0" rtlCol="0" anchor="t"/>
          <a:lstStyle/>
          <a:p>
            <a:pPr marL="0" indent="0" algn="ctr">
              <a:buNone/>
            </a:pPr>
            <a:r>
              <a:rPr lang="en-US" sz="2200" b="1" dirty="0">
                <a:solidFill>
                  <a:srgbClr val="F28C28"/>
                </a:solidFill>
                <a:latin typeface="Nirmala UI" pitchFamily="34" charset="0"/>
                <a:ea typeface="Nirmala UI" pitchFamily="34" charset="-122"/>
                <a:cs typeface="Nirmala UI" pitchFamily="34" charset="-120"/>
              </a:rPr>
              <a:t>›</a:t>
            </a:r>
            <a:endParaRPr lang="en-US" sz="2200" dirty="0"/>
          </a:p>
        </p:txBody>
      </p:sp>
      <p:sp>
        <p:nvSpPr>
          <p:cNvPr id="22" name="Shape 20"/>
          <p:cNvSpPr/>
          <p:nvPr/>
        </p:nvSpPr>
        <p:spPr>
          <a:xfrm>
            <a:off x="3200400" y="2724912"/>
            <a:ext cx="1170432" cy="1783080"/>
          </a:xfrm>
          <a:prstGeom prst="roundRect">
            <a:avLst>
              <a:gd name="adj" fmla="val 6250"/>
            </a:avLst>
          </a:prstGeom>
          <a:solidFill>
            <a:srgbClr val="FDEBD7"/>
          </a:solidFill>
          <a:ln w="9525">
            <a:solidFill>
              <a:srgbClr val="D9DEEA"/>
            </a:solidFill>
            <a:prstDash val="solid"/>
          </a:ln>
        </p:spPr>
        <p:txBody>
          <a:bodyPr/>
          <a:lstStyle/>
          <a:p>
            <a:endParaRPr lang="en-IN"/>
          </a:p>
        </p:txBody>
      </p:sp>
      <p:sp>
        <p:nvSpPr>
          <p:cNvPr id="23" name="Shape 21"/>
          <p:cNvSpPr/>
          <p:nvPr/>
        </p:nvSpPr>
        <p:spPr>
          <a:xfrm>
            <a:off x="3602736" y="2834640"/>
            <a:ext cx="365760" cy="365760"/>
          </a:xfrm>
          <a:prstGeom prst="ellipse">
            <a:avLst/>
          </a:prstGeom>
          <a:solidFill>
            <a:srgbClr val="F28C28"/>
          </a:solidFill>
          <a:ln w="12700">
            <a:solidFill>
              <a:srgbClr val="F28C28"/>
            </a:solidFill>
            <a:prstDash val="solid"/>
          </a:ln>
        </p:spPr>
        <p:txBody>
          <a:bodyPr/>
          <a:lstStyle/>
          <a:p>
            <a:endParaRPr lang="en-IN"/>
          </a:p>
        </p:txBody>
      </p:sp>
      <p:sp>
        <p:nvSpPr>
          <p:cNvPr id="24" name="Text 22"/>
          <p:cNvSpPr txBox="1"/>
          <p:nvPr/>
        </p:nvSpPr>
        <p:spPr>
          <a:xfrm>
            <a:off x="3602736" y="2834640"/>
            <a:ext cx="365760" cy="365760"/>
          </a:xfrm>
          <a:prstGeom prst="rect">
            <a:avLst/>
          </a:prstGeom>
          <a:noFill/>
          <a:ln/>
        </p:spPr>
        <p:txBody>
          <a:bodyPr wrap="square" lIns="0" tIns="0" rIns="0" bIns="0" rtlCol="0" anchor="ctr"/>
          <a:lstStyle/>
          <a:p>
            <a:pPr marL="0" indent="0" algn="ctr">
              <a:buNone/>
            </a:pPr>
            <a:r>
              <a:rPr lang="en-US" sz="1120" b="1" dirty="0">
                <a:solidFill>
                  <a:srgbClr val="FFFFFF"/>
                </a:solidFill>
                <a:latin typeface="Nirmala UI" pitchFamily="34" charset="0"/>
                <a:ea typeface="Nirmala UI" pitchFamily="34" charset="-122"/>
                <a:cs typeface="Nirmala UI" pitchFamily="34" charset="-120"/>
              </a:rPr>
              <a:t>3</a:t>
            </a:r>
            <a:endParaRPr lang="en-US" sz="1120" dirty="0"/>
          </a:p>
        </p:txBody>
      </p:sp>
      <p:sp>
        <p:nvSpPr>
          <p:cNvPr id="25" name="Text 23"/>
          <p:cNvSpPr txBox="1"/>
          <p:nvPr/>
        </p:nvSpPr>
        <p:spPr>
          <a:xfrm>
            <a:off x="3273552" y="3273552"/>
            <a:ext cx="1024128" cy="256032"/>
          </a:xfrm>
          <a:prstGeom prst="rect">
            <a:avLst/>
          </a:prstGeom>
          <a:noFill/>
          <a:ln/>
        </p:spPr>
        <p:txBody>
          <a:bodyPr wrap="square" lIns="0" tIns="0" rIns="0" bIns="0" rtlCol="0" anchor="t"/>
          <a:lstStyle/>
          <a:p>
            <a:pPr marL="0" indent="0" algn="ctr">
              <a:buNone/>
            </a:pPr>
            <a:r>
              <a:rPr lang="en-US" sz="1100" b="1" dirty="0">
                <a:solidFill>
                  <a:srgbClr val="1B2A5C"/>
                </a:solidFill>
                <a:latin typeface="Nirmala UI" pitchFamily="34" charset="0"/>
                <a:ea typeface="Nirmala UI" pitchFamily="34" charset="-122"/>
                <a:cs typeface="Nirmala UI" pitchFamily="34" charset="-120"/>
              </a:rPr>
              <a:t>Output</a:t>
            </a:r>
            <a:endParaRPr lang="en-US" sz="1100" dirty="0"/>
          </a:p>
        </p:txBody>
      </p:sp>
      <p:sp>
        <p:nvSpPr>
          <p:cNvPr id="26" name="Text 24"/>
          <p:cNvSpPr txBox="1"/>
          <p:nvPr/>
        </p:nvSpPr>
        <p:spPr>
          <a:xfrm>
            <a:off x="3291840" y="3566160"/>
            <a:ext cx="987552" cy="868680"/>
          </a:xfrm>
          <a:prstGeom prst="rect">
            <a:avLst/>
          </a:prstGeom>
          <a:noFill/>
          <a:ln/>
        </p:spPr>
        <p:txBody>
          <a:bodyPr wrap="square" lIns="0" tIns="0" rIns="0" bIns="0" rtlCol="0" anchor="t"/>
          <a:lstStyle/>
          <a:p>
            <a:pPr marL="0" indent="0" algn="ctr">
              <a:buNone/>
            </a:pPr>
            <a:r>
              <a:rPr lang="en-US" sz="900" i="0" dirty="0">
                <a:solidFill>
                  <a:srgbClr val="2F3A56"/>
                </a:solidFill>
                <a:latin typeface="Nirmala UI" pitchFamily="34" charset="0"/>
                <a:ea typeface="Nirmala UI" pitchFamily="34" charset="-122"/>
                <a:cs typeface="Nirmala UI" pitchFamily="34" charset="-120"/>
              </a:rPr>
              <a:t>Cited findings, a score or "not scored", and a report</a:t>
            </a:r>
          </a:p>
        </p:txBody>
      </p:sp>
      <p:sp>
        <p:nvSpPr>
          <p:cNvPr id="27" name="Text 25"/>
          <p:cNvSpPr txBox="1"/>
          <p:nvPr/>
        </p:nvSpPr>
        <p:spPr>
          <a:xfrm>
            <a:off x="4754880" y="1188720"/>
            <a:ext cx="3931920" cy="274320"/>
          </a:xfrm>
          <a:prstGeom prst="rect">
            <a:avLst/>
          </a:prstGeom>
          <a:noFill/>
          <a:ln/>
        </p:spPr>
        <p:txBody>
          <a:bodyPr wrap="square" lIns="0" tIns="0" rIns="0" bIns="0" rtlCol="0" anchor="t"/>
          <a:lstStyle/>
          <a:p>
            <a:pPr marL="0" indent="0">
              <a:buNone/>
            </a:pPr>
            <a:r>
              <a:rPr lang="en-US" sz="1300" b="1" dirty="0">
                <a:solidFill>
                  <a:srgbClr val="1B2A5C"/>
                </a:solidFill>
                <a:latin typeface="Nirmala UI" pitchFamily="34" charset="0"/>
                <a:ea typeface="Nirmala UI" pitchFamily="34" charset="-122"/>
                <a:cs typeface="Nirmala UI" pitchFamily="34" charset="-120"/>
              </a:rPr>
              <a:t>What makes it new?</a:t>
            </a:r>
            <a:endParaRPr lang="en-US" sz="13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4754880" y="1536192"/>
          <a:ext cx="3931920" cy="1920240"/>
        </p:xfrm>
        <a:graphic>
          <a:graphicData uri="http://schemas.openxmlformats.org/drawingml/2006/table">
            <a:tbl>
              <a:tblPr/>
              <a:tblGrid>
                <a:gridCol w="11887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384048">
                <a:tc>
                  <a:txBody>
                    <a:bodyPr/>
                    <a:lstStyle/>
                    <a:p>
                      <a:pPr marL="0" indent="0">
                        <a:buNone/>
                      </a:pP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1B2A5C"/>
                    </a:solidFill>
                  </a:tcPr>
                </a:tc>
                <a:tc>
                  <a:txBody>
                    <a:bodyPr/>
                    <a:lstStyle/>
                    <a:p>
                      <a:pPr marL="0" indent="0">
                        <a:buNone/>
                      </a:pPr>
                      <a:r>
                        <a:rPr lang="en-US" sz="850" b="1" dirty="0" i="0">
                          <a:solidFill>
                            <a:srgbClr val="FFFFFF"/>
                          </a:solidFill>
                          <a:latin typeface="Nirmala UI" pitchFamily="34" charset="0"/>
                          <a:ea typeface="Nirmala UI" pitchFamily="34" charset="-122"/>
                          <a:cs typeface="Nirmala UI" pitchFamily="34" charset="-120"/>
                        </a:rPr>
                        <a:t>Packet tools alone</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1B2A5C"/>
                    </a:solidFill>
                  </a:tcPr>
                </a:tc>
                <a:tc>
                  <a:txBody>
                    <a:bodyPr/>
                    <a:lstStyle/>
                    <a:p>
                      <a:pPr marL="0" indent="0">
                        <a:buNone/>
                      </a:pPr>
                      <a:r>
                        <a:rPr lang="en-US" sz="850" b="1" dirty="0" i="0">
                          <a:solidFill>
                            <a:srgbClr val="FFFFFF"/>
                          </a:solidFill>
                          <a:latin typeface="Nirmala UI" pitchFamily="34" charset="0"/>
                          <a:ea typeface="Nirmala UI" pitchFamily="34" charset="-122"/>
                          <a:cs typeface="Nirmala UI" pitchFamily="34" charset="-120"/>
                        </a:rPr>
                        <a:t>NyaySaakshya</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28C28"/>
                    </a:solidFill>
                  </a:tcPr>
                </a:tc>
                <a:extLst>
                  <a:ext uri="{0D108BD9-81ED-4DB2-BD59-A6C34878D82A}">
                    <a16:rowId xmlns:a16="http://schemas.microsoft.com/office/drawing/2014/main" val="10000"/>
                  </a:ext>
                </a:extLst>
              </a:tr>
              <a:tr h="384048">
                <a:tc>
                  <a:txBody>
                    <a:bodyPr/>
                    <a:lstStyle/>
                    <a:p>
                      <a:pPr marL="0" indent="0">
                        <a:buNone/>
                      </a:pPr>
                      <a:r>
                        <a:rPr lang="en-US" sz="850" b="1" dirty="0" i="0">
                          <a:solidFill>
                            <a:srgbClr val="1B2A5C"/>
                          </a:solidFill>
                          <a:latin typeface="Nirmala UI" pitchFamily="34" charset="0"/>
                          <a:ea typeface="Nirmala UI" pitchFamily="34" charset="-122"/>
                          <a:cs typeface="Nirmala UI" pitchFamily="34" charset="-120"/>
                        </a:rPr>
                        <a:t>What you get</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4F6FB"/>
                    </a:solidFill>
                  </a:tcPr>
                </a:tc>
                <a:tc>
                  <a:txBody>
                    <a:bodyPr/>
                    <a:lstStyle/>
                    <a:p>
                      <a:pPr marL="0" indent="0">
                        <a:buNone/>
                      </a:pPr>
                      <a:r>
                        <a:rPr lang="en-US" sz="850" i="0" dirty="0">
                          <a:solidFill>
                            <a:srgbClr val="2F3A56"/>
                          </a:solidFill>
                          <a:latin typeface="Nirmala UI" pitchFamily="34" charset="0"/>
                          <a:ea typeface="Nirmala UI" pitchFamily="34" charset="-122"/>
                          <a:cs typeface="Nirmala UI" pitchFamily="34" charset="-120"/>
                        </a:rPr>
                        <a:t>Packets, fields, logs</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4F6FB"/>
                    </a:solidFill>
                  </a:tcPr>
                </a:tc>
                <a:tc>
                  <a:txBody>
                    <a:bodyPr/>
                    <a:lstStyle/>
                    <a:p>
                      <a:pPr marL="0" indent="0">
                        <a:buNone/>
                      </a:pPr>
                      <a:r>
                        <a:rPr lang="en-US" sz="850" i="0" dirty="0">
                          <a:solidFill>
                            <a:srgbClr val="2F3A56"/>
                          </a:solidFill>
                          <a:latin typeface="Nirmala UI" pitchFamily="34" charset="0"/>
                          <a:ea typeface="Nirmala UI" pitchFamily="34" charset="-122"/>
                          <a:cs typeface="Nirmala UI" pitchFamily="34" charset="-120"/>
                        </a:rPr>
                        <a:t>Cited findings with an evidence state</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4F6FB"/>
                    </a:solidFill>
                  </a:tcPr>
                </a:tc>
                <a:extLst>
                  <a:ext uri="{0D108BD9-81ED-4DB2-BD59-A6C34878D82A}">
                    <a16:rowId xmlns:a16="http://schemas.microsoft.com/office/drawing/2014/main" val="10001"/>
                  </a:ext>
                </a:extLst>
              </a:tr>
              <a:tr h="384048">
                <a:tc>
                  <a:txBody>
                    <a:bodyPr/>
                    <a:lstStyle/>
                    <a:p>
                      <a:pPr marL="0" indent="0">
                        <a:buNone/>
                      </a:pPr>
                      <a:r>
                        <a:rPr lang="en-US" sz="850" b="1" dirty="0" i="0">
                          <a:solidFill>
                            <a:srgbClr val="1B2A5C"/>
                          </a:solidFill>
                          <a:latin typeface="Nirmala UI" pitchFamily="34" charset="0"/>
                          <a:ea typeface="Nirmala UI" pitchFamily="34" charset="-122"/>
                          <a:cs typeface="Nirmala UI" pitchFamily="34" charset="-120"/>
                        </a:rPr>
                        <a:t>Cut-off or encrypted</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FFFFF"/>
                    </a:solidFill>
                  </a:tcPr>
                </a:tc>
                <a:tc>
                  <a:txBody>
                    <a:bodyPr/>
                    <a:lstStyle/>
                    <a:p>
                      <a:pPr marL="0" indent="0">
                        <a:buNone/>
                      </a:pPr>
                      <a:r>
                        <a:rPr lang="en-US" sz="850" i="0" dirty="0">
                          <a:solidFill>
                            <a:srgbClr val="2F3A56"/>
                          </a:solidFill>
                          <a:latin typeface="Nirmala UI" pitchFamily="34" charset="0"/>
                          <a:ea typeface="Nirmala UI" pitchFamily="34" charset="-122"/>
                          <a:cs typeface="Nirmala UI" pitchFamily="34" charset="-120"/>
                        </a:rPr>
                        <a:t>Analyst decides</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FFFFF"/>
                    </a:solidFill>
                  </a:tcPr>
                </a:tc>
                <a:tc>
                  <a:txBody>
                    <a:bodyPr/>
                    <a:lstStyle/>
                    <a:p>
                      <a:pPr marL="0" indent="0">
                        <a:buNone/>
                      </a:pPr>
                      <a:r>
                        <a:rPr lang="en-US" sz="850" i="0" dirty="0">
                          <a:solidFill>
                            <a:srgbClr val="2F3A56"/>
                          </a:solidFill>
                          <a:latin typeface="Nirmala UI" pitchFamily="34" charset="0"/>
                          <a:ea typeface="Nirmala UI" pitchFamily="34" charset="-122"/>
                          <a:cs typeface="Nirmala UI" pitchFamily="34" charset="-120"/>
                        </a:rPr>
                        <a:t>Marked incomplete or not observable</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84048">
                <a:tc>
                  <a:txBody>
                    <a:bodyPr/>
                    <a:lstStyle/>
                    <a:p>
                      <a:pPr marL="0" indent="0">
                        <a:buNone/>
                      </a:pPr>
                      <a:r>
                        <a:rPr lang="en-US" sz="850" b="1" dirty="0" i="0">
                          <a:solidFill>
                            <a:srgbClr val="1B2A5C"/>
                          </a:solidFill>
                          <a:latin typeface="Nirmala UI" pitchFamily="34" charset="0"/>
                          <a:ea typeface="Nirmala UI" pitchFamily="34" charset="-122"/>
                          <a:cs typeface="Nirmala UI" pitchFamily="34" charset="-120"/>
                        </a:rPr>
                        <a:t>Repeatable?</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4F6FB"/>
                    </a:solidFill>
                  </a:tcPr>
                </a:tc>
                <a:tc>
                  <a:txBody>
                    <a:bodyPr/>
                    <a:lstStyle/>
                    <a:p>
                      <a:pPr marL="0" indent="0">
                        <a:buNone/>
                      </a:pPr>
                      <a:r>
                        <a:rPr lang="en-US" sz="850" i="0" dirty="0">
                          <a:solidFill>
                            <a:srgbClr val="2F3A56"/>
                          </a:solidFill>
                          <a:latin typeface="Nirmala UI" pitchFamily="34" charset="0"/>
                          <a:ea typeface="Nirmala UI" pitchFamily="34" charset="-122"/>
                          <a:cs typeface="Nirmala UI" pitchFamily="34" charset="-120"/>
                        </a:rPr>
                        <a:t>Depends on the analyst</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4F6FB"/>
                    </a:solidFill>
                  </a:tcPr>
                </a:tc>
                <a:tc>
                  <a:txBody>
                    <a:bodyPr/>
                    <a:lstStyle/>
                    <a:p>
                      <a:pPr marL="0" indent="0">
                        <a:buNone/>
                      </a:pPr>
                      <a:r>
                        <a:rPr lang="en-US" sz="850" i="0" dirty="0">
                          <a:solidFill>
                            <a:srgbClr val="2F3A56"/>
                          </a:solidFill>
                          <a:latin typeface="Nirmala UI" pitchFamily="34" charset="0"/>
                          <a:ea typeface="Nirmala UI" pitchFamily="34" charset="-122"/>
                          <a:cs typeface="Nirmala UI" pitchFamily="34" charset="-120"/>
                        </a:rPr>
                        <a:t>Same capture + software, same ID</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4F6FB"/>
                    </a:solidFill>
                  </a:tcPr>
                </a:tc>
                <a:extLst>
                  <a:ext uri="{0D108BD9-81ED-4DB2-BD59-A6C34878D82A}">
                    <a16:rowId xmlns:a16="http://schemas.microsoft.com/office/drawing/2014/main" val="10003"/>
                  </a:ext>
                </a:extLst>
              </a:tr>
              <a:tr h="384048">
                <a:tc>
                  <a:txBody>
                    <a:bodyPr/>
                    <a:lstStyle/>
                    <a:p>
                      <a:pPr marL="0" indent="0">
                        <a:buNone/>
                      </a:pPr>
                      <a:r>
                        <a:rPr lang="en-US" sz="850" b="1" dirty="0" i="0">
                          <a:solidFill>
                            <a:srgbClr val="1B2A5C"/>
                          </a:solidFill>
                          <a:latin typeface="Nirmala UI" pitchFamily="34" charset="0"/>
                          <a:ea typeface="Nirmala UI" pitchFamily="34" charset="-122"/>
                          <a:cs typeface="Nirmala UI" pitchFamily="34" charset="-120"/>
                        </a:rPr>
                        <a:t>Role</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FFFFF"/>
                    </a:solidFill>
                  </a:tcPr>
                </a:tc>
                <a:tc>
                  <a:txBody>
                    <a:bodyPr/>
                    <a:lstStyle/>
                    <a:p>
                      <a:pPr marL="0" indent="0">
                        <a:buNone/>
                      </a:pPr>
                      <a:r>
                        <a:rPr lang="en-US" sz="850" i="0" dirty="0">
                          <a:solidFill>
                            <a:srgbClr val="2F3A56"/>
                          </a:solidFill>
                          <a:latin typeface="Nirmala UI" pitchFamily="34" charset="0"/>
                          <a:ea typeface="Nirmala UI" pitchFamily="34" charset="-122"/>
                          <a:cs typeface="Nirmala UI" pitchFamily="34" charset="-120"/>
                        </a:rPr>
                        <a:t>General analysis</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FFFFF"/>
                    </a:solidFill>
                  </a:tcPr>
                </a:tc>
                <a:tc>
                  <a:txBody>
                    <a:bodyPr/>
                    <a:lstStyle/>
                    <a:p>
                      <a:pPr marL="0" indent="0">
                        <a:buNone/>
                      </a:pPr>
                      <a:r>
                        <a:rPr lang="en-US" sz="850" i="0" dirty="0">
                          <a:solidFill>
                            <a:srgbClr val="2F3A56"/>
                          </a:solidFill>
                          <a:latin typeface="Nirmala UI" pitchFamily="34" charset="0"/>
                          <a:ea typeface="Nirmala UI" pitchFamily="34" charset="-122"/>
                          <a:cs typeface="Nirmala UI" pitchFamily="34" charset="-120"/>
                        </a:rPr>
                        <a:t>Narrow: evidence-bounded triage</a:t>
                      </a:r>
                      <a:endParaRPr lang="en-US" sz="1000" dirty="0">
                        <a:latin typeface="Nirmala UI" charset="0"/>
                        <a:ea typeface="Nirmala UI" charset="0"/>
                        <a:cs typeface="Nirmala UI" charset="0"/>
                      </a:endParaRPr>
                    </a:p>
                  </a:txBody>
                  <a:tcPr anchor="ctr">
                    <a:lnL w="6350" cap="flat" cmpd="sng" algn="ctr">
                      <a:solidFill>
                        <a:srgbClr val="D9DEEA"/>
                      </a:solidFill>
                      <a:prstDash val="solid"/>
                      <a:round/>
                      <a:headEnd type="none" w="med" len="med"/>
                      <a:tailEnd type="none" w="med" len="med"/>
                    </a:lnL>
                    <a:lnR w="6350" cap="flat" cmpd="sng" algn="ctr">
                      <a:solidFill>
                        <a:srgbClr val="D9DEEA"/>
                      </a:solidFill>
                      <a:prstDash val="solid"/>
                      <a:round/>
                      <a:headEnd type="none" w="med" len="med"/>
                      <a:tailEnd type="none" w="med" len="med"/>
                    </a:lnR>
                    <a:lnT w="6350" cap="flat" cmpd="sng" algn="ctr">
                      <a:solidFill>
                        <a:srgbClr val="D9DEEA"/>
                      </a:solidFill>
                      <a:prstDash val="solid"/>
                      <a:round/>
                      <a:headEnd type="none" w="med" len="med"/>
                      <a:tailEnd type="none" w="med" len="med"/>
                    </a:lnT>
                    <a:lnB w="6350" cap="flat" cmpd="sng" algn="ctr">
                      <a:solidFill>
                        <a:srgbClr val="D9DEEA"/>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9" name="Text 26"/>
          <p:cNvSpPr txBox="1"/>
          <p:nvPr/>
        </p:nvSpPr>
        <p:spPr>
          <a:xfrm>
            <a:off x="4754880" y="3730752"/>
            <a:ext cx="393192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Key USP</a:t>
            </a:r>
            <a:endParaRPr lang="en-US" sz="1200" dirty="0"/>
          </a:p>
        </p:txBody>
      </p:sp>
      <p:sp>
        <p:nvSpPr>
          <p:cNvPr id="30" name="Text 27"/>
          <p:cNvSpPr txBox="1"/>
          <p:nvPr/>
        </p:nvSpPr>
        <p:spPr>
          <a:xfrm>
            <a:off x="4754880" y="4005072"/>
            <a:ext cx="3931920" cy="640080"/>
          </a:xfrm>
          <a:prstGeom prst="rect">
            <a:avLst/>
          </a:prstGeom>
          <a:noFill/>
          <a:ln/>
        </p:spPr>
        <p:txBody>
          <a:bodyPr wrap="square" lIns="0" tIns="0" rIns="0" bIns="0" rtlCol="0" anchor="t"/>
          <a:lstStyle/>
          <a:p>
            <a:pPr marL="0" indent="0">
              <a:buNone/>
            </a:pPr>
            <a:r>
              <a:rPr lang="en-US" sz="1000" i="0" dirty="0">
                <a:solidFill>
                  <a:srgbClr val="2F3A56"/>
                </a:solidFill>
                <a:latin typeface="Nirmala UI" pitchFamily="34" charset="0"/>
                <a:ea typeface="Nirmala UI" pitchFamily="34" charset="-122"/>
                <a:cs typeface="Nirmala UI" pitchFamily="34" charset="-120"/>
              </a:rPr>
              <a:t>Every finding says how sure the evidence allows us to be, and which packets it rests on. When a capture is not enough, it says so instead of guessing.</a:t>
            </a:r>
          </a:p>
        </p:txBody>
      </p:sp>
      <p:sp>
        <p:nvSpPr>
          <p:cNvPr id="29" name="Text 26"/>
          <p:cNvSpPr txBox="1"/>
          <p:nvPr/>
        </p:nvSpPr>
        <p:spPr>
          <a:xfrm>
            <a:off x="4754880" y="3529584"/>
            <a:ext cx="3931920" cy="182880"/>
          </a:xfrm>
          <a:prstGeom prst="rect">
            <a:avLst/>
          </a:prstGeom>
          <a:noFill/>
          <a:ln/>
        </p:spPr>
        <p:txBody>
          <a:bodyPr wrap="square" lIns="0" tIns="0" rIns="0" bIns="0" rtlCol="0" anchor="t"/>
          <a:lstStyle/>
          <a:p>
            <a:pPr marL="0" indent="0">
              <a:buNone/>
            </a:pPr>
            <a:r>
              <a:rPr lang="en-US" sz="800" b="0" dirty="0" i="1">
                <a:solidFill>
                  <a:srgbClr val="6B7280"/>
                </a:solidFill>
                <a:latin typeface="Nirmala UI" pitchFamily="34" charset="0"/>
                <a:ea typeface="Nirmala UI" pitchFamily="34" charset="-122"/>
                <a:cs typeface="Nirmala UI" pitchFamily="34" charset="-120"/>
              </a:rPr>
              <a:t>Complements packet tools; no speed or cost comparison is made.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a:effectLst/>
      </p:bgPr>
    </p:bg>
    <p:spTree>
      <p:nvGrpSpPr>
        <p:cNvPr id="1" name=""/>
        <p:cNvGrpSpPr/>
        <p:nvPr/>
      </p:nvGrpSpPr>
      <p:grpSpPr>
        <a:xfrm>
          <a:off x="0" y="0"/>
          <a:ext cx="0" cy="0"/>
          <a:chOff x="0" y="0"/>
          <a:chExt cx="0" cy="0"/>
        </a:xfrm>
      </p:grpSpPr>
      <p:sp>
        <p:nvSpPr>
          <p:cNvPr id="2" name="Shape 0"/>
          <p:cNvSpPr/>
          <p:nvPr/>
        </p:nvSpPr>
        <p:spPr>
          <a:xfrm>
            <a:off x="457200" y="347472"/>
            <a:ext cx="502920" cy="502920"/>
          </a:xfrm>
          <a:prstGeom prst="ellipse">
            <a:avLst/>
          </a:prstGeom>
          <a:solidFill>
            <a:srgbClr val="F28C28"/>
          </a:solidFill>
          <a:ln w="12700">
            <a:solidFill>
              <a:srgbClr val="F28C28"/>
            </a:solidFill>
            <a:prstDash val="solid"/>
          </a:ln>
        </p:spPr>
        <p:txBody>
          <a:bodyPr/>
          <a:lstStyle/>
          <a:p>
            <a:endParaRPr lang="en-IN"/>
          </a:p>
        </p:txBody>
      </p:sp>
      <p:sp>
        <p:nvSpPr>
          <p:cNvPr id="3" name="Text 1"/>
          <p:cNvSpPr txBox="1"/>
          <p:nvPr/>
        </p:nvSpPr>
        <p:spPr>
          <a:xfrm>
            <a:off x="457200" y="347472"/>
            <a:ext cx="502920" cy="502920"/>
          </a:xfrm>
          <a:prstGeom prst="rect">
            <a:avLst/>
          </a:prstGeom>
          <a:noFill/>
          <a:ln/>
        </p:spPr>
        <p:txBody>
          <a:bodyPr wrap="square" lIns="0" tIns="0" rIns="0" bIns="0" rtlCol="0" anchor="ctr"/>
          <a:lstStyle/>
          <a:p>
            <a:pPr marL="0" indent="0" algn="ctr">
              <a:buNone/>
            </a:pPr>
            <a:r>
              <a:rPr lang="en-US" sz="1540" b="1" dirty="0">
                <a:solidFill>
                  <a:srgbClr val="FFFFFF"/>
                </a:solidFill>
                <a:latin typeface="Nirmala UI" pitchFamily="34" charset="0"/>
                <a:ea typeface="Nirmala UI" pitchFamily="34" charset="-122"/>
                <a:cs typeface="Nirmala UI" pitchFamily="34" charset="-120"/>
              </a:rPr>
              <a:t>4</a:t>
            </a:r>
            <a:endParaRPr lang="en-US" sz="1540" dirty="0"/>
          </a:p>
        </p:txBody>
      </p:sp>
      <p:sp>
        <p:nvSpPr>
          <p:cNvPr id="4" name="Text 2"/>
          <p:cNvSpPr txBox="1"/>
          <p:nvPr/>
        </p:nvSpPr>
        <p:spPr>
          <a:xfrm>
            <a:off x="1097280" y="301752"/>
            <a:ext cx="6858000" cy="411480"/>
          </a:xfrm>
          <a:prstGeom prst="rect">
            <a:avLst/>
          </a:prstGeom>
          <a:noFill/>
          <a:ln/>
        </p:spPr>
        <p:txBody>
          <a:bodyPr wrap="square" lIns="0" tIns="0" rIns="0" bIns="0" rtlCol="0" anchor="t"/>
          <a:lstStyle/>
          <a:p>
            <a:pPr marL="0" indent="0">
              <a:buNone/>
            </a:pPr>
            <a:r>
              <a:rPr lang="en-US" sz="2600" b="1" dirty="0">
                <a:solidFill>
                  <a:srgbClr val="1B2A5C"/>
                </a:solidFill>
                <a:latin typeface="Nirmala UI" pitchFamily="34" charset="0"/>
                <a:ea typeface="Nirmala UI" pitchFamily="34" charset="-122"/>
                <a:cs typeface="Nirmala UI" pitchFamily="34" charset="-120"/>
              </a:rPr>
              <a:t>Feasibility &amp; Implementation</a:t>
            </a:r>
            <a:endParaRPr lang="en-US" sz="2600" dirty="0"/>
          </a:p>
        </p:txBody>
      </p:sp>
      <p:sp>
        <p:nvSpPr>
          <p:cNvPr id="5" name="Text 3"/>
          <p:cNvSpPr txBox="1"/>
          <p:nvPr/>
        </p:nvSpPr>
        <p:spPr>
          <a:xfrm>
            <a:off x="1097280" y="713232"/>
            <a:ext cx="7589520" cy="274320"/>
          </a:xfrm>
          <a:prstGeom prst="rect">
            <a:avLst/>
          </a:prstGeom>
          <a:noFill/>
          <a:ln/>
        </p:spPr>
        <p:txBody>
          <a:bodyPr wrap="square" lIns="0" tIns="0" rIns="0" bIns="0" rtlCol="0" anchor="t"/>
          <a:lstStyle/>
          <a:p>
            <a:pPr marL="0" indent="0">
              <a:buNone/>
            </a:pPr>
            <a:r>
              <a:rPr lang="en-US" sz="1100" i="1" dirty="0">
                <a:solidFill>
                  <a:srgbClr val="6B7280"/>
                </a:solidFill>
                <a:latin typeface="Nirmala UI" pitchFamily="34" charset="0"/>
                <a:ea typeface="Nirmala UI" pitchFamily="34" charset="-122"/>
                <a:cs typeface="Nirmala UI" pitchFamily="34" charset="-120"/>
              </a:rPr>
              <a:t>How ready is the solution, and what will it take to implement it on the ground?</a:t>
            </a:r>
            <a:endParaRPr lang="en-US" sz="1100" dirty="0"/>
          </a:p>
        </p:txBody>
      </p:sp>
      <p:sp>
        <p:nvSpPr>
          <p:cNvPr id="6" name="Text 4"/>
          <p:cNvSpPr txBox="1"/>
          <p:nvPr/>
        </p:nvSpPr>
        <p:spPr>
          <a:xfrm>
            <a:off x="5486400" y="4846320"/>
            <a:ext cx="3200400" cy="182880"/>
          </a:xfrm>
          <a:prstGeom prst="rect">
            <a:avLst/>
          </a:prstGeom>
          <a:noFill/>
          <a:ln/>
        </p:spPr>
        <p:txBody>
          <a:bodyPr wrap="square" lIns="0" tIns="0" rIns="0" bIns="0" rtlCol="0" anchor="t"/>
          <a:lstStyle/>
          <a:p>
            <a:pPr marL="0" indent="0" algn="r">
              <a:buNone/>
            </a:pPr>
            <a:r>
              <a:rPr lang="en-US" sz="800" dirty="0">
                <a:solidFill>
                  <a:srgbClr val="6B7280"/>
                </a:solidFill>
                <a:latin typeface="Nirmala UI" pitchFamily="34" charset="0"/>
                <a:ea typeface="Nirmala UI" pitchFamily="34" charset="-122"/>
                <a:cs typeface="Nirmala UI" pitchFamily="34" charset="-120"/>
              </a:rPr>
              <a:t>Seva Innovation Challenge 2026  |  Slide 4 of 6</a:t>
            </a:r>
            <a:endParaRPr lang="en-US" sz="800" dirty="0"/>
          </a:p>
        </p:txBody>
      </p:sp>
      <p:sp>
        <p:nvSpPr>
          <p:cNvPr id="7" name="Text 5"/>
          <p:cNvSpPr txBox="1"/>
          <p:nvPr/>
        </p:nvSpPr>
        <p:spPr>
          <a:xfrm>
            <a:off x="457200" y="1170432"/>
            <a:ext cx="8229600" cy="256032"/>
          </a:xfrm>
          <a:prstGeom prst="rect">
            <a:avLst/>
          </a:prstGeom>
          <a:noFill/>
          <a:ln/>
        </p:spPr>
        <p:txBody>
          <a:bodyPr wrap="square" lIns="0" tIns="0" rIns="0" bIns="0" rtlCol="0" anchor="t"/>
          <a:lstStyle/>
          <a:p>
            <a:pPr marL="0" indent="0">
              <a:buNone/>
            </a:pPr>
            <a:r>
              <a:rPr lang="en-US" sz="1200" b="1" dirty="0" i="0">
                <a:solidFill>
                  <a:srgbClr val="1B2A5C"/>
                </a:solidFill>
                <a:latin typeface="Nirmala UI" pitchFamily="34" charset="0"/>
                <a:ea typeface="Nirmala UI" pitchFamily="34" charset="-122"/>
                <a:cs typeface="Nirmala UI" pitchFamily="34" charset="-120"/>
              </a:rPr>
              <a:t>Current stage: Working Prototype</a:t>
            </a:r>
          </a:p>
        </p:txBody>
      </p:sp>
      <p:sp>
        <p:nvSpPr>
          <p:cNvPr id="8" name="Shape 6"/>
          <p:cNvSpPr/>
          <p:nvPr/>
        </p:nvSpPr>
        <p:spPr>
          <a:xfrm>
            <a:off x="914400" y="1783080"/>
            <a:ext cx="7315200" cy="0"/>
          </a:xfrm>
          <a:prstGeom prst="line">
            <a:avLst/>
          </a:prstGeom>
          <a:noFill/>
          <a:ln w="25400">
            <a:solidFill>
              <a:srgbClr val="C3CAE0"/>
            </a:solidFill>
            <a:prstDash val="solid"/>
          </a:ln>
        </p:spPr>
        <p:txBody>
          <a:bodyPr/>
          <a:lstStyle/>
          <a:p>
            <a:endParaRPr lang="en-IN"/>
          </a:p>
        </p:txBody>
      </p:sp>
      <p:sp>
        <p:nvSpPr>
          <p:cNvPr id="9" name="Shape 7"/>
          <p:cNvSpPr/>
          <p:nvPr/>
        </p:nvSpPr>
        <p:spPr>
          <a:xfrm>
            <a:off x="758952" y="1627632"/>
            <a:ext cx="310896" cy="310896"/>
          </a:xfrm>
          <a:prstGeom prst="ellipse">
            <a:avLst/>
          </a:prstGeom>
          <a:solidFill>
            <a:srgbClr val="FFFFFF"/>
          </a:solidFill>
          <a:ln w="25400">
            <a:solidFill>
              <a:srgbClr val="F28C28"/>
            </a:solidFill>
            <a:prstDash val="solid"/>
          </a:ln>
        </p:spPr>
        <p:txBody>
          <a:bodyPr/>
          <a:lstStyle/>
          <a:p>
            <a:endParaRPr lang="en-IN"/>
          </a:p>
        </p:txBody>
      </p:sp>
      <p:sp>
        <p:nvSpPr>
          <p:cNvPr id="10" name="Text 8"/>
          <p:cNvSpPr txBox="1"/>
          <p:nvPr/>
        </p:nvSpPr>
        <p:spPr>
          <a:xfrm>
            <a:off x="182880" y="2011680"/>
            <a:ext cx="1463040" cy="228600"/>
          </a:xfrm>
          <a:prstGeom prst="rect">
            <a:avLst/>
          </a:prstGeom>
          <a:noFill/>
          <a:ln/>
        </p:spPr>
        <p:txBody>
          <a:bodyPr wrap="square" lIns="0" tIns="0" rIns="0" bIns="0" rtlCol="0" anchor="t"/>
          <a:lstStyle/>
          <a:p>
            <a:pPr marL="0" indent="0" algn="ctr">
              <a:buNone/>
            </a:pPr>
            <a:r>
              <a:rPr lang="en-US" sz="1000" b="1" dirty="0">
                <a:solidFill>
                  <a:srgbClr val="1F2937"/>
                </a:solidFill>
                <a:latin typeface="Nirmala UI" pitchFamily="34" charset="0"/>
                <a:ea typeface="Nirmala UI" pitchFamily="34" charset="-122"/>
                <a:cs typeface="Nirmala UI" pitchFamily="34" charset="-120"/>
              </a:rPr>
              <a:t>Idea</a:t>
            </a:r>
            <a:endParaRPr lang="en-US" sz="1000" dirty="0"/>
          </a:p>
        </p:txBody>
      </p:sp>
      <p:sp>
        <p:nvSpPr>
          <p:cNvPr id="11" name="Shape 9"/>
          <p:cNvSpPr/>
          <p:nvPr/>
        </p:nvSpPr>
        <p:spPr>
          <a:xfrm>
            <a:off x="2587752" y="1627632"/>
            <a:ext cx="310896" cy="310896"/>
          </a:xfrm>
          <a:prstGeom prst="ellipse">
            <a:avLst/>
          </a:prstGeom>
          <a:solidFill>
            <a:srgbClr val="FFFFFF"/>
          </a:solidFill>
          <a:ln w="25400">
            <a:solidFill>
              <a:srgbClr val="F28C28"/>
            </a:solidFill>
            <a:prstDash val="solid"/>
          </a:ln>
        </p:spPr>
        <p:txBody>
          <a:bodyPr/>
          <a:lstStyle/>
          <a:p>
            <a:endParaRPr lang="en-IN"/>
          </a:p>
        </p:txBody>
      </p:sp>
      <p:sp>
        <p:nvSpPr>
          <p:cNvPr id="12" name="Text 10"/>
          <p:cNvSpPr txBox="1"/>
          <p:nvPr/>
        </p:nvSpPr>
        <p:spPr>
          <a:xfrm>
            <a:off x="2011680" y="2011680"/>
            <a:ext cx="1463040" cy="228600"/>
          </a:xfrm>
          <a:prstGeom prst="rect">
            <a:avLst/>
          </a:prstGeom>
          <a:noFill/>
          <a:ln/>
        </p:spPr>
        <p:txBody>
          <a:bodyPr wrap="square" lIns="0" tIns="0" rIns="0" bIns="0" rtlCol="0" anchor="t"/>
          <a:lstStyle/>
          <a:p>
            <a:pPr marL="0" indent="0" algn="ctr">
              <a:buNone/>
            </a:pPr>
            <a:r>
              <a:rPr lang="en-US" sz="1000" b="1" dirty="0">
                <a:solidFill>
                  <a:srgbClr val="1F2937"/>
                </a:solidFill>
                <a:latin typeface="Nirmala UI" pitchFamily="34" charset="0"/>
                <a:ea typeface="Nirmala UI" pitchFamily="34" charset="-122"/>
                <a:cs typeface="Nirmala UI" pitchFamily="34" charset="-120"/>
              </a:rPr>
              <a:t>Proof of Concept</a:t>
            </a:r>
            <a:endParaRPr lang="en-US" sz="1000" dirty="0"/>
          </a:p>
        </p:txBody>
      </p:sp>
      <p:sp>
        <p:nvSpPr>
          <p:cNvPr id="13" name="Shape 11"/>
          <p:cNvSpPr/>
          <p:nvPr/>
        </p:nvSpPr>
        <p:spPr>
          <a:xfrm>
            <a:off x="4416552" y="1627632"/>
            <a:ext cx="310896" cy="310896"/>
          </a:xfrm>
          <a:prstGeom prst="ellipse">
            <a:avLst/>
          </a:prstGeom>
          <a:solidFill>
            <a:srgbClr val="F28C28"/>
          </a:solidFill>
          <a:ln w="25400">
            <a:solidFill>
              <a:srgbClr val="F28C28"/>
            </a:solidFill>
            <a:prstDash val="solid"/>
          </a:ln>
        </p:spPr>
        <p:txBody>
          <a:bodyPr/>
          <a:lstStyle/>
          <a:p>
            <a:pPr algn="ctr"/>
            <a:r>
              <a:rPr sz="1200" b="1">
                <a:solidFill>
                  <a:srgbClr val="FFFFFF"/>
                </a:solidFill>
              </a:rPr>
              <a:t>✓</a:t>
            </a:r>
          </a:p>
        </p:txBody>
      </p:sp>
      <p:sp>
        <p:nvSpPr>
          <p:cNvPr id="14" name="Text 12"/>
          <p:cNvSpPr txBox="1"/>
          <p:nvPr/>
        </p:nvSpPr>
        <p:spPr>
          <a:xfrm>
            <a:off x="3840480" y="2011680"/>
            <a:ext cx="1463040" cy="228600"/>
          </a:xfrm>
          <a:prstGeom prst="rect">
            <a:avLst/>
          </a:prstGeom>
          <a:noFill/>
          <a:ln/>
        </p:spPr>
        <p:txBody>
          <a:bodyPr wrap="square" lIns="0" tIns="0" rIns="0" bIns="0" rtlCol="0" anchor="t"/>
          <a:lstStyle/>
          <a:p>
            <a:pPr marL="0" indent="0" algn="ctr">
              <a:buNone/>
            </a:pPr>
            <a:r>
              <a:rPr lang="en-US" sz="1000" b="1" dirty="0" i="0">
                <a:solidFill>
                  <a:srgbClr val="F28C28"/>
                </a:solidFill>
                <a:latin typeface="Nirmala UI" pitchFamily="34" charset="0"/>
                <a:ea typeface="Nirmala UI" pitchFamily="34" charset="-122"/>
                <a:cs typeface="Nirmala UI" pitchFamily="34" charset="-120"/>
              </a:rPr>
              <a:t>Working Prototype</a:t>
            </a:r>
          </a:p>
        </p:txBody>
      </p:sp>
      <p:sp>
        <p:nvSpPr>
          <p:cNvPr id="15" name="Shape 13"/>
          <p:cNvSpPr/>
          <p:nvPr/>
        </p:nvSpPr>
        <p:spPr>
          <a:xfrm>
            <a:off x="6245352" y="1627632"/>
            <a:ext cx="310896" cy="310896"/>
          </a:xfrm>
          <a:prstGeom prst="ellipse">
            <a:avLst/>
          </a:prstGeom>
          <a:solidFill>
            <a:srgbClr val="FFFFFF"/>
          </a:solidFill>
          <a:ln w="25400">
            <a:solidFill>
              <a:srgbClr val="F28C28"/>
            </a:solidFill>
            <a:prstDash val="solid"/>
          </a:ln>
        </p:spPr>
        <p:txBody>
          <a:bodyPr/>
          <a:lstStyle/>
          <a:p>
            <a:endParaRPr lang="en-IN"/>
          </a:p>
        </p:txBody>
      </p:sp>
      <p:sp>
        <p:nvSpPr>
          <p:cNvPr id="16" name="Text 14"/>
          <p:cNvSpPr txBox="1"/>
          <p:nvPr/>
        </p:nvSpPr>
        <p:spPr>
          <a:xfrm>
            <a:off x="5669280" y="2011680"/>
            <a:ext cx="1463040" cy="228600"/>
          </a:xfrm>
          <a:prstGeom prst="rect">
            <a:avLst/>
          </a:prstGeom>
          <a:noFill/>
          <a:ln/>
        </p:spPr>
        <p:txBody>
          <a:bodyPr wrap="square" lIns="0" tIns="0" rIns="0" bIns="0" rtlCol="0" anchor="t"/>
          <a:lstStyle/>
          <a:p>
            <a:pPr marL="0" indent="0" algn="ctr">
              <a:buNone/>
            </a:pPr>
            <a:r>
              <a:rPr lang="en-US" sz="1000" b="1" dirty="0">
                <a:solidFill>
                  <a:srgbClr val="1F2937"/>
                </a:solidFill>
                <a:latin typeface="Nirmala UI" pitchFamily="34" charset="0"/>
                <a:ea typeface="Nirmala UI" pitchFamily="34" charset="-122"/>
                <a:cs typeface="Nirmala UI" pitchFamily="34" charset="-120"/>
              </a:rPr>
              <a:t>Field Pilot</a:t>
            </a:r>
            <a:endParaRPr lang="en-US" sz="1000" dirty="0"/>
          </a:p>
        </p:txBody>
      </p:sp>
      <p:sp>
        <p:nvSpPr>
          <p:cNvPr id="17" name="Shape 15"/>
          <p:cNvSpPr/>
          <p:nvPr/>
        </p:nvSpPr>
        <p:spPr>
          <a:xfrm>
            <a:off x="8074152" y="1627632"/>
            <a:ext cx="310896" cy="310896"/>
          </a:xfrm>
          <a:prstGeom prst="ellipse">
            <a:avLst/>
          </a:prstGeom>
          <a:solidFill>
            <a:srgbClr val="FFFFFF"/>
          </a:solidFill>
          <a:ln w="25400">
            <a:solidFill>
              <a:srgbClr val="F28C28"/>
            </a:solidFill>
            <a:prstDash val="solid"/>
          </a:ln>
        </p:spPr>
        <p:txBody>
          <a:bodyPr/>
          <a:lstStyle/>
          <a:p>
            <a:endParaRPr lang="en-IN"/>
          </a:p>
        </p:txBody>
      </p:sp>
      <p:sp>
        <p:nvSpPr>
          <p:cNvPr id="18" name="Text 16"/>
          <p:cNvSpPr txBox="1"/>
          <p:nvPr/>
        </p:nvSpPr>
        <p:spPr>
          <a:xfrm>
            <a:off x="7498080" y="2011680"/>
            <a:ext cx="1463040" cy="228600"/>
          </a:xfrm>
          <a:prstGeom prst="rect">
            <a:avLst/>
          </a:prstGeom>
          <a:noFill/>
          <a:ln/>
        </p:spPr>
        <p:txBody>
          <a:bodyPr wrap="square" lIns="0" tIns="0" rIns="0" bIns="0" rtlCol="0" anchor="t"/>
          <a:lstStyle/>
          <a:p>
            <a:pPr marL="0" indent="0" algn="ctr">
              <a:buNone/>
            </a:pPr>
            <a:r>
              <a:rPr lang="en-US" sz="1000" b="1" dirty="0">
                <a:solidFill>
                  <a:srgbClr val="1F2937"/>
                </a:solidFill>
                <a:latin typeface="Nirmala UI" pitchFamily="34" charset="0"/>
                <a:ea typeface="Nirmala UI" pitchFamily="34" charset="-122"/>
                <a:cs typeface="Nirmala UI" pitchFamily="34" charset="-120"/>
              </a:rPr>
              <a:t>Ready to Deploy</a:t>
            </a:r>
            <a:endParaRPr lang="en-US" sz="1000" dirty="0"/>
          </a:p>
        </p:txBody>
      </p:sp>
      <p:sp>
        <p:nvSpPr>
          <p:cNvPr id="19" name="Shape 17"/>
          <p:cNvSpPr/>
          <p:nvPr/>
        </p:nvSpPr>
        <p:spPr>
          <a:xfrm>
            <a:off x="457200" y="2514600"/>
            <a:ext cx="1920240" cy="2103120"/>
          </a:xfrm>
          <a:prstGeom prst="roundRect">
            <a:avLst>
              <a:gd name="adj" fmla="val 3810"/>
            </a:avLst>
          </a:prstGeom>
          <a:solidFill>
            <a:srgbClr val="FFFFFF"/>
          </a:solidFill>
          <a:ln w="9525">
            <a:solidFill>
              <a:srgbClr val="D9DEEA"/>
            </a:solidFill>
            <a:prstDash val="solid"/>
          </a:ln>
        </p:spPr>
        <p:txBody>
          <a:bodyPr/>
          <a:lstStyle/>
          <a:p>
            <a:endParaRPr lang="en-IN"/>
          </a:p>
        </p:txBody>
      </p:sp>
      <p:sp>
        <p:nvSpPr>
          <p:cNvPr id="20" name="Text 18"/>
          <p:cNvSpPr txBox="1"/>
          <p:nvPr/>
        </p:nvSpPr>
        <p:spPr>
          <a:xfrm>
            <a:off x="594360" y="2624328"/>
            <a:ext cx="164592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Technology</a:t>
            </a:r>
            <a:endParaRPr lang="en-US" sz="1200" dirty="0"/>
          </a:p>
        </p:txBody>
      </p:sp>
      <p:sp>
        <p:nvSpPr>
          <p:cNvPr id="21" name="Text 19"/>
          <p:cNvSpPr txBox="1"/>
          <p:nvPr/>
        </p:nvSpPr>
        <p:spPr>
          <a:xfrm>
            <a:off x="594360" y="2898648"/>
            <a:ext cx="1645920" cy="1645920"/>
          </a:xfrm>
          <a:prstGeom prst="rect">
            <a:avLst/>
          </a:prstGeom>
          <a:noFill/>
          <a:ln/>
        </p:spPr>
        <p:txBody>
          <a:bodyPr wrap="square" lIns="0" tIns="0" rIns="0" bIns="0" rtlCol="0" anchor="t"/>
          <a:lstStyle/>
          <a:p>
            <a:pPr marL="0" indent="0">
              <a:spcAft>
                <a:spcPts val="300"/>
              </a:spcAft>
              <a:buNone/>
            </a:pPr>
            <a:r>
              <a:rPr lang="en-US" sz="850" i="0" dirty="0" b="1">
                <a:solidFill>
                  <a:srgbClr val="2F3A56"/>
                </a:solidFill>
                <a:latin typeface="Nirmala UI" pitchFamily="34" charset="0"/>
                <a:ea typeface="Nirmala UI" pitchFamily="34" charset="-122"/>
                <a:cs typeface="Nirmala UI" pitchFamily="34" charset="-120"/>
              </a:rPr>
              <a:t>Built and running: </a:t>
            </a:r>
            <a:r>
              <a:rPr lang="en-US" sz="850" i="0" dirty="0">
                <a:solidFill>
                  <a:srgbClr val="2F3A56"/>
                </a:solidFill>
                <a:latin typeface="Nirmala UI" pitchFamily="34" charset="0"/>
                <a:ea typeface="Nirmala UI" pitchFamily="34" charset="-122"/>
                <a:cs typeface="Nirmala UI" pitchFamily="34" charset="-120"/>
              </a:rPr>
              <a:t>Python, TShark, React console, FastAPI, SQLite.</a:t>
            </a:r>
          </a:p>
          <a:p>
            <a:pPr marL="0" indent="0">
              <a:spcAft>
                <a:spcPts val="300"/>
              </a:spcAft>
              <a:buNone/>
            </a:pPr>
            <a:r>
              <a:rPr lang="en-US" sz="850" i="0" dirty="0" b="1">
                <a:solidFill>
                  <a:srgbClr val="2F3A56"/>
                </a:solidFill>
                <a:latin typeface="Nirmala UI" pitchFamily="34" charset="0"/>
                <a:ea typeface="Nirmala UI" pitchFamily="34" charset="-122"/>
                <a:cs typeface="Nirmala UI" pitchFamily="34" charset="-120"/>
              </a:rPr>
              <a:t>Internal validation only: </a:t>
            </a:r>
            <a:r>
              <a:rPr lang="en-US" sz="850" i="0" dirty="0">
                <a:solidFill>
                  <a:srgbClr val="2F3A56"/>
                </a:solidFill>
                <a:latin typeface="Nirmala UI" pitchFamily="34" charset="0"/>
                <a:ea typeface="Nirmala UI" pitchFamily="34" charset="-122"/>
                <a:cs typeface="Nirmala UI" pitchFamily="34" charset="-120"/>
              </a:rPr>
              <a:t>1,521 automated tests; 98 controlled captures. No external pilot, real-world accuracy benchmark or approval.</a:t>
            </a:r>
          </a:p>
          <a:p>
            <a:pPr marL="0" indent="0">
              <a:spcAft>
                <a:spcPts val="300"/>
              </a:spcAft>
              <a:buNone/>
            </a:pPr>
            <a:r>
              <a:rPr lang="en-US" sz="850" i="0" dirty="0" b="1">
                <a:solidFill>
                  <a:srgbClr val="B4531B"/>
                </a:solidFill>
                <a:latin typeface="Nirmala UI" pitchFamily="34" charset="0"/>
                <a:ea typeface="Nirmala UI" pitchFamily="34" charset="-122"/>
                <a:cs typeface="Nirmala UI" pitchFamily="34" charset="-120"/>
              </a:rPr>
              <a:t>Not production-ready. Missing: </a:t>
            </a:r>
            <a:r>
              <a:rPr lang="en-US" sz="850" i="0" dirty="0">
                <a:solidFill>
                  <a:srgbClr val="2F3A56"/>
                </a:solidFill>
                <a:latin typeface="Nirmala UI" pitchFamily="34" charset="0"/>
                <a:ea typeface="Nirmala UI" pitchFamily="34" charset="-122"/>
                <a:cs typeface="Nirmala UI" pitchFamily="34" charset="-120"/>
              </a:rPr>
              <a:t>login, audit log, encrypted storage, backups, a concurrency fix.</a:t>
            </a:r>
          </a:p>
        </p:txBody>
      </p:sp>
      <p:sp>
        <p:nvSpPr>
          <p:cNvPr id="22" name="Shape 20"/>
          <p:cNvSpPr/>
          <p:nvPr/>
        </p:nvSpPr>
        <p:spPr>
          <a:xfrm>
            <a:off x="2560320" y="2514600"/>
            <a:ext cx="1920240" cy="2103120"/>
          </a:xfrm>
          <a:prstGeom prst="roundRect">
            <a:avLst>
              <a:gd name="adj" fmla="val 3810"/>
            </a:avLst>
          </a:prstGeom>
          <a:solidFill>
            <a:srgbClr val="FFFFFF"/>
          </a:solidFill>
          <a:ln w="9525">
            <a:solidFill>
              <a:srgbClr val="D9DEEA"/>
            </a:solidFill>
            <a:prstDash val="solid"/>
          </a:ln>
        </p:spPr>
        <p:txBody>
          <a:bodyPr/>
          <a:lstStyle/>
          <a:p>
            <a:endParaRPr lang="en-IN"/>
          </a:p>
        </p:txBody>
      </p:sp>
      <p:sp>
        <p:nvSpPr>
          <p:cNvPr id="23" name="Text 21"/>
          <p:cNvSpPr txBox="1"/>
          <p:nvPr/>
        </p:nvSpPr>
        <p:spPr>
          <a:xfrm>
            <a:off x="2697480" y="2624328"/>
            <a:ext cx="164592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Estimated cost</a:t>
            </a:r>
            <a:endParaRPr lang="en-US" sz="1200" dirty="0"/>
          </a:p>
        </p:txBody>
      </p:sp>
      <p:sp>
        <p:nvSpPr>
          <p:cNvPr id="24" name="Text 22"/>
          <p:cNvSpPr txBox="1"/>
          <p:nvPr/>
        </p:nvSpPr>
        <p:spPr>
          <a:xfrm>
            <a:off x="2697480" y="2898648"/>
            <a:ext cx="1645920" cy="1645920"/>
          </a:xfrm>
          <a:prstGeom prst="rect">
            <a:avLst/>
          </a:prstGeom>
          <a:noFill/>
          <a:ln/>
        </p:spPr>
        <p:txBody>
          <a:bodyPr wrap="square" lIns="0" tIns="0" rIns="0" bIns="0" rtlCol="0" anchor="t"/>
          <a:lstStyle/>
          <a:p>
            <a:pPr marL="0" indent="0">
              <a:spcAft>
                <a:spcPts val="300"/>
              </a:spcAft>
              <a:buNone/>
            </a:pPr>
            <a:r>
              <a:rPr lang="en-US" sz="850" i="0" dirty="0" b="1">
                <a:solidFill>
                  <a:srgbClr val="2F3A56"/>
                </a:solidFill>
                <a:latin typeface="Nirmala UI" pitchFamily="34" charset="0"/>
                <a:ea typeface="Nirmala UI" pitchFamily="34" charset="-122"/>
                <a:cs typeface="Nirmala UI" pitchFamily="34" charset="-120"/>
              </a:rPr>
              <a:t>Local synthetic demo: </a:t>
            </a:r>
            <a:r>
              <a:rPr lang="en-US" sz="850" i="0" dirty="0">
                <a:solidFill>
                  <a:srgbClr val="2F3A56"/>
                </a:solidFill>
                <a:latin typeface="Nirmala UI" pitchFamily="34" charset="0"/>
                <a:ea typeface="Nirmala UI" pitchFamily="34" charset="-122"/>
                <a:cs typeface="Nirmala UI" pitchFamily="34" charset="-120"/>
              </a:rPr>
              <a:t>no extra cost.</a:t>
            </a:r>
          </a:p>
          <a:p>
            <a:pPr marL="0" indent="0">
              <a:spcAft>
                <a:spcPts val="300"/>
              </a:spcAft>
              <a:buNone/>
            </a:pPr>
            <a:r>
              <a:rPr lang="en-US" sz="850" i="0" dirty="0" b="1">
                <a:solidFill>
                  <a:srgbClr val="2F3A56"/>
                </a:solidFill>
                <a:latin typeface="Nirmala UI" pitchFamily="34" charset="0"/>
                <a:ea typeface="Nirmala UI" pitchFamily="34" charset="-122"/>
                <a:cs typeface="Nirmala UI" pitchFamily="34" charset="-120"/>
              </a:rPr>
              <a:t>Hosted prototype: </a:t>
            </a:r>
            <a:r>
              <a:rPr lang="en-US" sz="850" i="0" dirty="0">
                <a:solidFill>
                  <a:srgbClr val="2F3A56"/>
                </a:solidFill>
                <a:latin typeface="Nirmala UI" pitchFamily="34" charset="0"/>
                <a:ea typeface="Nirmala UI" pitchFamily="34" charset="-122"/>
                <a:cs typeface="Nirmala UI" pitchFamily="34" charset="-120"/>
              </a:rPr>
              <a:t>free tiers wipe stored data when idle; Vercel Hobby is $0 for personal use only.</a:t>
            </a:r>
          </a:p>
          <a:p>
            <a:pPr marL="0" indent="0">
              <a:spcAft>
                <a:spcPts val="300"/>
              </a:spcAft>
              <a:buNone/>
            </a:pPr>
            <a:r>
              <a:rPr lang="en-US" sz="850" i="0" dirty="0" b="1">
                <a:solidFill>
                  <a:srgbClr val="2F3A56"/>
                </a:solidFill>
                <a:latin typeface="Nirmala UI" pitchFamily="34" charset="0"/>
                <a:ea typeface="Nirmala UI" pitchFamily="34" charset="-122"/>
                <a:cs typeface="Nirmala UI" pitchFamily="34" charset="-120"/>
              </a:rPr>
              <a:t>On-premise pilot: </a:t>
            </a:r>
            <a:r>
              <a:rPr lang="en-US" sz="850" i="0" dirty="0">
                <a:solidFill>
                  <a:srgbClr val="2F3A56"/>
                </a:solidFill>
                <a:latin typeface="Nirmala UI" pitchFamily="34" charset="0"/>
                <a:ea typeface="Nirmala UI" pitchFamily="34" charset="-122"/>
                <a:cs typeface="Nirmala UI" pitchFamily="34" charset="-120"/>
              </a:rPr>
              <a:t>not priced. Needs vendor quotes for a server and encrypted storage, plus security engineering.</a:t>
            </a:r>
          </a:p>
          <a:p>
            <a:pPr marL="0" indent="0">
              <a:spcAft>
                <a:spcPts val="300"/>
              </a:spcAft>
              <a:buNone/>
            </a:pPr>
            <a:r>
              <a:rPr lang="en-US" sz="850" i="0" dirty="0">
                <a:solidFill>
                  <a:srgbClr val="2F3A56"/>
                </a:solidFill>
                <a:latin typeface="Nirmala UI" pitchFamily="34" charset="0"/>
                <a:ea typeface="Nirmala UI" pitchFamily="34" charset="-122"/>
                <a:cs typeface="Nirmala UI" pitchFamily="34" charset="-120"/>
              </a:rPr>
              <a:t>Estimates only, not quotations.</a:t>
            </a:r>
          </a:p>
        </p:txBody>
      </p:sp>
      <p:sp>
        <p:nvSpPr>
          <p:cNvPr id="25" name="Shape 23"/>
          <p:cNvSpPr/>
          <p:nvPr/>
        </p:nvSpPr>
        <p:spPr>
          <a:xfrm>
            <a:off x="4663440" y="2514600"/>
            <a:ext cx="1920240" cy="2103120"/>
          </a:xfrm>
          <a:prstGeom prst="roundRect">
            <a:avLst>
              <a:gd name="adj" fmla="val 3810"/>
            </a:avLst>
          </a:prstGeom>
          <a:solidFill>
            <a:srgbClr val="FFFFFF"/>
          </a:solidFill>
          <a:ln w="9525">
            <a:solidFill>
              <a:srgbClr val="D9DEEA"/>
            </a:solidFill>
            <a:prstDash val="solid"/>
          </a:ln>
        </p:spPr>
        <p:txBody>
          <a:bodyPr/>
          <a:lstStyle/>
          <a:p>
            <a:endParaRPr lang="en-IN"/>
          </a:p>
        </p:txBody>
      </p:sp>
      <p:sp>
        <p:nvSpPr>
          <p:cNvPr id="26" name="Text 24"/>
          <p:cNvSpPr txBox="1"/>
          <p:nvPr/>
        </p:nvSpPr>
        <p:spPr>
          <a:xfrm>
            <a:off x="4800600" y="2624328"/>
            <a:ext cx="164592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Timeline</a:t>
            </a:r>
            <a:endParaRPr lang="en-US" sz="1200" dirty="0"/>
          </a:p>
        </p:txBody>
      </p:sp>
      <p:sp>
        <p:nvSpPr>
          <p:cNvPr id="27" name="Text 25"/>
          <p:cNvSpPr txBox="1"/>
          <p:nvPr/>
        </p:nvSpPr>
        <p:spPr>
          <a:xfrm>
            <a:off x="4800600" y="2898648"/>
            <a:ext cx="1645920" cy="1645920"/>
          </a:xfrm>
          <a:prstGeom prst="rect">
            <a:avLst/>
          </a:prstGeom>
          <a:noFill/>
          <a:ln/>
        </p:spPr>
        <p:txBody>
          <a:bodyPr wrap="square" lIns="0" tIns="0" rIns="0" bIns="0" rtlCol="0" anchor="t"/>
          <a:lstStyle/>
          <a:p>
            <a:pPr marL="0" indent="0">
              <a:spcAft>
                <a:spcPts val="300"/>
              </a:spcAft>
              <a:buNone/>
            </a:pPr>
            <a:r>
              <a:rPr lang="en-US" sz="850" i="0" dirty="0" b="1">
                <a:solidFill>
                  <a:srgbClr val="2F3A56"/>
                </a:solidFill>
                <a:latin typeface="Nirmala UI" pitchFamily="34" charset="0"/>
                <a:ea typeface="Nirmala UI" pitchFamily="34" charset="-122"/>
                <a:cs typeface="Nirmala UI" pitchFamily="34" charset="-120"/>
              </a:rPr>
              <a:t>3 months: </a:t>
            </a:r>
            <a:r>
              <a:rPr lang="en-US" sz="850" i="0" dirty="0">
                <a:solidFill>
                  <a:srgbClr val="2F3A56"/>
                </a:solidFill>
                <a:latin typeface="Nirmala UI" pitchFamily="34" charset="0"/>
                <a:ea typeface="Nirmala UI" pitchFamily="34" charset="-122"/>
                <a:cs typeface="Nirmala UI" pitchFamily="34" charset="-120"/>
              </a:rPr>
              <a:t>close the security gaps; tests pass.</a:t>
            </a:r>
          </a:p>
          <a:p>
            <a:pPr marL="0" indent="0">
              <a:spcAft>
                <a:spcPts val="300"/>
              </a:spcAft>
              <a:buNone/>
            </a:pPr>
            <a:r>
              <a:rPr lang="en-US" sz="850" i="0" dirty="0" b="1">
                <a:solidFill>
                  <a:srgbClr val="2F3A56"/>
                </a:solidFill>
                <a:latin typeface="Nirmala UI" pitchFamily="34" charset="0"/>
                <a:ea typeface="Nirmala UI" pitchFamily="34" charset="-122"/>
                <a:cs typeface="Nirmala UI" pitchFamily="34" charset="-120"/>
              </a:rPr>
              <a:t>6 months: </a:t>
            </a:r>
            <a:r>
              <a:rPr lang="en-US" sz="850" i="0" dirty="0">
                <a:solidFill>
                  <a:srgbClr val="2F3A56"/>
                </a:solidFill>
                <a:latin typeface="Nirmala UI" pitchFamily="34" charset="0"/>
                <a:ea typeface="Nirmala UI" pitchFamily="34" charset="-122"/>
                <a:cs typeface="Nirmala UI" pitchFamily="34" charset="-120"/>
              </a:rPr>
              <a:t>technical pilot on synthetic or consented captures; collect baselines.</a:t>
            </a:r>
          </a:p>
          <a:p>
            <a:pPr marL="0" indent="0">
              <a:spcAft>
                <a:spcPts val="300"/>
              </a:spcAft>
              <a:buNone/>
            </a:pPr>
            <a:r>
              <a:rPr lang="en-US" sz="850" i="0" dirty="0" b="1">
                <a:solidFill>
                  <a:srgbClr val="2F3A56"/>
                </a:solidFill>
                <a:latin typeface="Nirmala UI" pitchFamily="34" charset="0"/>
                <a:ea typeface="Nirmala UI" pitchFamily="34" charset="-122"/>
                <a:cs typeface="Nirmala UI" pitchFamily="34" charset="-120"/>
              </a:rPr>
              <a:t>12 months: </a:t>
            </a:r>
            <a:r>
              <a:rPr lang="en-US" sz="850" i="0" dirty="0">
                <a:solidFill>
                  <a:srgbClr val="2F3A56"/>
                </a:solidFill>
                <a:latin typeface="Nirmala UI" pitchFamily="34" charset="0"/>
                <a:ea typeface="Nirmala UI" pitchFamily="34" charset="-122"/>
                <a:cs typeface="Nirmala UI" pitchFamily="34" charset="-120"/>
              </a:rPr>
              <a:t>supervised single-unit pilot, only if a department agrees.</a:t>
            </a:r>
          </a:p>
          <a:p>
            <a:pPr marL="0" indent="0">
              <a:spcAft>
                <a:spcPts val="300"/>
              </a:spcAft>
              <a:buNone/>
            </a:pPr>
            <a:r>
              <a:rPr lang="en-US" sz="850" i="0" dirty="0">
                <a:solidFill>
                  <a:srgbClr val="2F3A56"/>
                </a:solidFill>
                <a:latin typeface="Nirmala UI" pitchFamily="34" charset="0"/>
                <a:ea typeface="Nirmala UI" pitchFamily="34" charset="-122"/>
                <a:cs typeface="Nirmala UI" pitchFamily="34" charset="-120"/>
              </a:rPr>
              <a:t>Proposed, not committed.</a:t>
            </a:r>
          </a:p>
        </p:txBody>
      </p:sp>
      <p:sp>
        <p:nvSpPr>
          <p:cNvPr id="28" name="Shape 26"/>
          <p:cNvSpPr/>
          <p:nvPr/>
        </p:nvSpPr>
        <p:spPr>
          <a:xfrm>
            <a:off x="6766560" y="2514600"/>
            <a:ext cx="1920240" cy="2103120"/>
          </a:xfrm>
          <a:prstGeom prst="roundRect">
            <a:avLst>
              <a:gd name="adj" fmla="val 3810"/>
            </a:avLst>
          </a:prstGeom>
          <a:solidFill>
            <a:srgbClr val="FFFFFF"/>
          </a:solidFill>
          <a:ln w="9525">
            <a:solidFill>
              <a:srgbClr val="D9DEEA"/>
            </a:solidFill>
            <a:prstDash val="solid"/>
          </a:ln>
        </p:spPr>
        <p:txBody>
          <a:bodyPr/>
          <a:lstStyle/>
          <a:p>
            <a:endParaRPr lang="en-IN"/>
          </a:p>
        </p:txBody>
      </p:sp>
      <p:sp>
        <p:nvSpPr>
          <p:cNvPr id="29" name="Text 27"/>
          <p:cNvSpPr txBox="1"/>
          <p:nvPr/>
        </p:nvSpPr>
        <p:spPr>
          <a:xfrm>
            <a:off x="6903720" y="2624328"/>
            <a:ext cx="164592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Partners</a:t>
            </a:r>
            <a:endParaRPr lang="en-US" sz="1200" dirty="0"/>
          </a:p>
        </p:txBody>
      </p:sp>
      <p:sp>
        <p:nvSpPr>
          <p:cNvPr id="30" name="Text 28"/>
          <p:cNvSpPr txBox="1"/>
          <p:nvPr/>
        </p:nvSpPr>
        <p:spPr>
          <a:xfrm>
            <a:off x="6903720" y="2898648"/>
            <a:ext cx="1645920" cy="1645920"/>
          </a:xfrm>
          <a:prstGeom prst="rect">
            <a:avLst/>
          </a:prstGeom>
          <a:noFill/>
          <a:ln/>
        </p:spPr>
        <p:txBody>
          <a:bodyPr wrap="square" lIns="0" tIns="0" rIns="0" bIns="0" rtlCol="0" anchor="t"/>
          <a:lstStyle/>
          <a:p>
            <a:pPr marL="0" indent="0">
              <a:spcAft>
                <a:spcPts val="400"/>
              </a:spcAft>
              <a:buNone/>
            </a:pPr>
            <a:r>
              <a:rPr lang="en-US" sz="850" i="0" dirty="0" b="1">
                <a:solidFill>
                  <a:srgbClr val="2F3A56"/>
                </a:solidFill>
                <a:latin typeface="Nirmala UI" pitchFamily="34" charset="0"/>
                <a:ea typeface="Nirmala UI" pitchFamily="34" charset="-122"/>
                <a:cs typeface="Nirmala UI" pitchFamily="34" charset="-120"/>
              </a:rPr>
              <a:t>None yet. </a:t>
            </a:r>
            <a:r>
              <a:rPr lang="en-US" sz="850" i="0" dirty="0">
                <a:solidFill>
                  <a:srgbClr val="2F3A56"/>
                </a:solidFill>
                <a:latin typeface="Nirmala UI" pitchFamily="34" charset="0"/>
                <a:ea typeface="Nirmala UI" pitchFamily="34" charset="-122"/>
                <a:cs typeface="Nirmala UI" pitchFamily="34" charset="-120"/>
              </a:rPr>
              <a:t>Seeking one cyber cell or forensic lab for a supervised pilot. No department has agreed.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347472"/>
            <a:ext cx="502920" cy="502920"/>
          </a:xfrm>
          <a:prstGeom prst="ellipse">
            <a:avLst/>
          </a:prstGeom>
          <a:solidFill>
            <a:srgbClr val="F28C28"/>
          </a:solidFill>
          <a:ln w="12700">
            <a:solidFill>
              <a:srgbClr val="F28C28"/>
            </a:solidFill>
            <a:prstDash val="solid"/>
          </a:ln>
        </p:spPr>
        <p:txBody>
          <a:bodyPr/>
          <a:lstStyle/>
          <a:p>
            <a:endParaRPr lang="en-IN"/>
          </a:p>
        </p:txBody>
      </p:sp>
      <p:sp>
        <p:nvSpPr>
          <p:cNvPr id="3" name="Text 1"/>
          <p:cNvSpPr txBox="1"/>
          <p:nvPr/>
        </p:nvSpPr>
        <p:spPr>
          <a:xfrm>
            <a:off x="457200" y="347472"/>
            <a:ext cx="502920" cy="502920"/>
          </a:xfrm>
          <a:prstGeom prst="rect">
            <a:avLst/>
          </a:prstGeom>
          <a:noFill/>
          <a:ln/>
        </p:spPr>
        <p:txBody>
          <a:bodyPr wrap="square" lIns="0" tIns="0" rIns="0" bIns="0" rtlCol="0" anchor="ctr"/>
          <a:lstStyle/>
          <a:p>
            <a:pPr marL="0" indent="0" algn="ctr">
              <a:buNone/>
            </a:pPr>
            <a:r>
              <a:rPr lang="en-US" sz="1540" b="1" dirty="0">
                <a:solidFill>
                  <a:srgbClr val="FFFFFF"/>
                </a:solidFill>
                <a:latin typeface="Nirmala UI" pitchFamily="34" charset="0"/>
                <a:ea typeface="Nirmala UI" pitchFamily="34" charset="-122"/>
                <a:cs typeface="Nirmala UI" pitchFamily="34" charset="-120"/>
              </a:rPr>
              <a:t>5</a:t>
            </a:r>
            <a:endParaRPr lang="en-US" sz="1540" dirty="0"/>
          </a:p>
        </p:txBody>
      </p:sp>
      <p:sp>
        <p:nvSpPr>
          <p:cNvPr id="4" name="Text 2"/>
          <p:cNvSpPr txBox="1"/>
          <p:nvPr/>
        </p:nvSpPr>
        <p:spPr>
          <a:xfrm>
            <a:off x="1097280" y="301752"/>
            <a:ext cx="6858000" cy="411480"/>
          </a:xfrm>
          <a:prstGeom prst="rect">
            <a:avLst/>
          </a:prstGeom>
          <a:noFill/>
          <a:ln/>
        </p:spPr>
        <p:txBody>
          <a:bodyPr wrap="square" lIns="0" tIns="0" rIns="0" bIns="0" rtlCol="0" anchor="t"/>
          <a:lstStyle/>
          <a:p>
            <a:pPr marL="0" indent="0">
              <a:buNone/>
            </a:pPr>
            <a:r>
              <a:rPr lang="en-US" sz="2600" b="1" dirty="0">
                <a:solidFill>
                  <a:srgbClr val="1B2A5C"/>
                </a:solidFill>
                <a:latin typeface="Nirmala UI" pitchFamily="34" charset="0"/>
                <a:ea typeface="Nirmala UI" pitchFamily="34" charset="-122"/>
                <a:cs typeface="Nirmala UI" pitchFamily="34" charset="-120"/>
              </a:rPr>
              <a:t>Impact &amp; Scalability</a:t>
            </a:r>
            <a:endParaRPr lang="en-US" sz="2600" dirty="0"/>
          </a:p>
        </p:txBody>
      </p:sp>
      <p:sp>
        <p:nvSpPr>
          <p:cNvPr id="5" name="Text 3"/>
          <p:cNvSpPr txBox="1"/>
          <p:nvPr/>
        </p:nvSpPr>
        <p:spPr>
          <a:xfrm>
            <a:off x="1097280" y="713232"/>
            <a:ext cx="7589520" cy="274320"/>
          </a:xfrm>
          <a:prstGeom prst="rect">
            <a:avLst/>
          </a:prstGeom>
          <a:noFill/>
          <a:ln/>
        </p:spPr>
        <p:txBody>
          <a:bodyPr wrap="square" lIns="0" tIns="0" rIns="0" bIns="0" rtlCol="0" anchor="t"/>
          <a:lstStyle/>
          <a:p>
            <a:pPr marL="0" indent="0">
              <a:buNone/>
            </a:pPr>
            <a:r>
              <a:rPr lang="en-US" sz="1100" i="1" dirty="0">
                <a:solidFill>
                  <a:srgbClr val="6B7280"/>
                </a:solidFill>
                <a:latin typeface="Nirmala UI" pitchFamily="34" charset="0"/>
                <a:ea typeface="Nirmala UI" pitchFamily="34" charset="-122"/>
                <a:cs typeface="Nirmala UI" pitchFamily="34" charset="-120"/>
              </a:rPr>
              <a:t>What change will your solution create, and how can it grow beyond the first location?</a:t>
            </a:r>
            <a:endParaRPr lang="en-US" sz="1100" dirty="0"/>
          </a:p>
        </p:txBody>
      </p:sp>
      <p:sp>
        <p:nvSpPr>
          <p:cNvPr id="6" name="Text 4"/>
          <p:cNvSpPr txBox="1"/>
          <p:nvPr/>
        </p:nvSpPr>
        <p:spPr>
          <a:xfrm>
            <a:off x="5486400" y="4846320"/>
            <a:ext cx="3200400" cy="182880"/>
          </a:xfrm>
          <a:prstGeom prst="rect">
            <a:avLst/>
          </a:prstGeom>
          <a:noFill/>
          <a:ln/>
        </p:spPr>
        <p:txBody>
          <a:bodyPr wrap="square" lIns="0" tIns="0" rIns="0" bIns="0" rtlCol="0" anchor="t"/>
          <a:lstStyle/>
          <a:p>
            <a:pPr marL="0" indent="0" algn="r">
              <a:buNone/>
            </a:pPr>
            <a:r>
              <a:rPr lang="en-US" sz="800" dirty="0">
                <a:solidFill>
                  <a:srgbClr val="6B7280"/>
                </a:solidFill>
                <a:latin typeface="Nirmala UI" pitchFamily="34" charset="0"/>
                <a:ea typeface="Nirmala UI" pitchFamily="34" charset="-122"/>
                <a:cs typeface="Nirmala UI" pitchFamily="34" charset="-120"/>
              </a:rPr>
              <a:t>Seva Innovation Challenge 2026  |  Slide 5 of 6</a:t>
            </a:r>
            <a:endParaRPr lang="en-US" sz="800" dirty="0"/>
          </a:p>
        </p:txBody>
      </p:sp>
      <p:sp>
        <p:nvSpPr>
          <p:cNvPr id="7" name="Shape 5"/>
          <p:cNvSpPr/>
          <p:nvPr/>
        </p:nvSpPr>
        <p:spPr>
          <a:xfrm>
            <a:off x="457200" y="1188720"/>
            <a:ext cx="2606040" cy="1463040"/>
          </a:xfrm>
          <a:prstGeom prst="roundRect">
            <a:avLst>
              <a:gd name="adj" fmla="val 5000"/>
            </a:avLst>
          </a:prstGeom>
          <a:solidFill>
            <a:srgbClr val="FDEBD7"/>
          </a:solidFill>
          <a:ln w="9525">
            <a:solidFill>
              <a:srgbClr val="D9DEEA"/>
            </a:solidFill>
            <a:prstDash val="solid"/>
          </a:ln>
        </p:spPr>
        <p:txBody>
          <a:bodyPr/>
          <a:lstStyle/>
          <a:p>
            <a:endParaRPr lang="en-IN"/>
          </a:p>
        </p:txBody>
      </p:sp>
      <p:sp>
        <p:nvSpPr>
          <p:cNvPr id="8" name="Text 6"/>
          <p:cNvSpPr txBox="1"/>
          <p:nvPr/>
        </p:nvSpPr>
        <p:spPr>
          <a:xfrm>
            <a:off x="548640" y="1280160"/>
            <a:ext cx="2423160" cy="640080"/>
          </a:xfrm>
          <a:prstGeom prst="rect">
            <a:avLst/>
          </a:prstGeom>
          <a:noFill/>
          <a:ln/>
        </p:spPr>
        <p:txBody>
          <a:bodyPr wrap="square" lIns="0" tIns="0" rIns="0" bIns="0" rtlCol="0" anchor="t"/>
          <a:lstStyle/>
          <a:p>
            <a:pPr marL="0" indent="0" algn="ctr">
              <a:buNone/>
            </a:pPr>
            <a:r>
              <a:rPr lang="en-US" sz="2000" b="1" dirty="0" i="0">
                <a:solidFill>
                  <a:srgbClr val="1B2A5C"/>
                </a:solidFill>
                <a:latin typeface="Nirmala UI" pitchFamily="34" charset="0"/>
                <a:ea typeface="Nirmala UI" pitchFamily="34" charset="-122"/>
                <a:cs typeface="Nirmala UI" pitchFamily="34" charset="-120"/>
              </a:rPr>
              <a:t>1 pilot (target)</a:t>
            </a:r>
          </a:p>
        </p:txBody>
      </p:sp>
      <p:sp>
        <p:nvSpPr>
          <p:cNvPr id="9" name="Text 7"/>
          <p:cNvSpPr txBox="1"/>
          <p:nvPr/>
        </p:nvSpPr>
        <p:spPr>
          <a:xfrm>
            <a:off x="548640" y="1874519"/>
            <a:ext cx="2423160" cy="256032"/>
          </a:xfrm>
          <a:prstGeom prst="rect">
            <a:avLst/>
          </a:prstGeom>
          <a:noFill/>
          <a:ln/>
        </p:spPr>
        <p:txBody>
          <a:bodyPr wrap="square" lIns="0" tIns="0" rIns="0" bIns="0" rtlCol="0" anchor="t"/>
          <a:lstStyle/>
          <a:p>
            <a:pPr marL="0" indent="0" algn="ctr">
              <a:buNone/>
            </a:pPr>
            <a:r>
              <a:rPr lang="en-US" sz="1100" b="1" dirty="0">
                <a:solidFill>
                  <a:srgbClr val="1F2937"/>
                </a:solidFill>
                <a:latin typeface="Nirmala UI" pitchFamily="34" charset="0"/>
                <a:ea typeface="Nirmala UI" pitchFamily="34" charset="-122"/>
                <a:cs typeface="Nirmala UI" pitchFamily="34" charset="-120"/>
              </a:rPr>
              <a:t>Beneficiaries reached</a:t>
            </a:r>
            <a:endParaRPr lang="en-US" sz="1100" dirty="0"/>
          </a:p>
        </p:txBody>
      </p:sp>
      <p:sp>
        <p:nvSpPr>
          <p:cNvPr id="10" name="Text 8"/>
          <p:cNvSpPr txBox="1"/>
          <p:nvPr/>
        </p:nvSpPr>
        <p:spPr>
          <a:xfrm>
            <a:off x="548640" y="2148840"/>
            <a:ext cx="2423160" cy="502920"/>
          </a:xfrm>
          <a:prstGeom prst="rect">
            <a:avLst/>
          </a:prstGeom>
          <a:noFill/>
          <a:ln/>
        </p:spPr>
        <p:txBody>
          <a:bodyPr wrap="square" lIns="0" tIns="0" rIns="0" bIns="0" rtlCol="0" anchor="t"/>
          <a:lstStyle/>
          <a:p>
            <a:pPr marL="0" indent="0" algn="ctr">
              <a:buNone/>
            </a:pPr>
            <a:r>
              <a:rPr lang="en-US" sz="900" i="0" dirty="0">
                <a:solidFill>
                  <a:srgbClr val="2F3A56"/>
                </a:solidFill>
                <a:latin typeface="Nirmala UI" pitchFamily="34" charset="0"/>
                <a:ea typeface="Nirmala UI" pitchFamily="34" charset="-122"/>
                <a:cs typeface="Nirmala UI" pitchFamily="34" charset="-120"/>
              </a:rPr>
              <a:t>Target: one supervised cyber-cell pilot in year one. None reached yet; no partner yet.</a:t>
            </a:r>
          </a:p>
        </p:txBody>
      </p:sp>
      <p:sp>
        <p:nvSpPr>
          <p:cNvPr id="11" name="Shape 9"/>
          <p:cNvSpPr/>
          <p:nvPr/>
        </p:nvSpPr>
        <p:spPr>
          <a:xfrm>
            <a:off x="3264408" y="1188720"/>
            <a:ext cx="2606040" cy="1463040"/>
          </a:xfrm>
          <a:prstGeom prst="roundRect">
            <a:avLst>
              <a:gd name="adj" fmla="val 5000"/>
            </a:avLst>
          </a:prstGeom>
          <a:solidFill>
            <a:srgbClr val="FDEBD7"/>
          </a:solidFill>
          <a:ln w="9525">
            <a:solidFill>
              <a:srgbClr val="D9DEEA"/>
            </a:solidFill>
            <a:prstDash val="solid"/>
          </a:ln>
        </p:spPr>
        <p:txBody>
          <a:bodyPr/>
          <a:lstStyle/>
          <a:p>
            <a:endParaRPr lang="en-IN"/>
          </a:p>
        </p:txBody>
      </p:sp>
      <p:sp>
        <p:nvSpPr>
          <p:cNvPr id="12" name="Text 10"/>
          <p:cNvSpPr txBox="1"/>
          <p:nvPr/>
        </p:nvSpPr>
        <p:spPr>
          <a:xfrm>
            <a:off x="3355848" y="1280160"/>
            <a:ext cx="2423160" cy="640080"/>
          </a:xfrm>
          <a:prstGeom prst="rect">
            <a:avLst/>
          </a:prstGeom>
          <a:noFill/>
          <a:ln/>
        </p:spPr>
        <p:txBody>
          <a:bodyPr wrap="square" lIns="0" tIns="0" rIns="0" bIns="0" rtlCol="0" anchor="t"/>
          <a:lstStyle/>
          <a:p>
            <a:pPr marL="0" indent="0" algn="ctr">
              <a:buNone/>
            </a:pPr>
            <a:r>
              <a:rPr lang="en-US" sz="2000" b="1" dirty="0" i="0">
                <a:solidFill>
                  <a:srgbClr val="1B2A5C"/>
                </a:solidFill>
                <a:latin typeface="Nirmala UI" pitchFamily="34" charset="0"/>
                <a:ea typeface="Nirmala UI" pitchFamily="34" charset="-122"/>
                <a:cs typeface="Nirmala UI" pitchFamily="34" charset="-120"/>
              </a:rPr>
              <a:t>To be measured</a:t>
            </a:r>
          </a:p>
        </p:txBody>
      </p:sp>
      <p:sp>
        <p:nvSpPr>
          <p:cNvPr id="13" name="Text 11"/>
          <p:cNvSpPr txBox="1"/>
          <p:nvPr/>
        </p:nvSpPr>
        <p:spPr>
          <a:xfrm>
            <a:off x="3355848" y="1874519"/>
            <a:ext cx="2423160" cy="256032"/>
          </a:xfrm>
          <a:prstGeom prst="rect">
            <a:avLst/>
          </a:prstGeom>
          <a:noFill/>
          <a:ln/>
        </p:spPr>
        <p:txBody>
          <a:bodyPr wrap="square" lIns="0" tIns="0" rIns="0" bIns="0" rtlCol="0" anchor="t"/>
          <a:lstStyle/>
          <a:p>
            <a:pPr marL="0" indent="0" algn="ctr">
              <a:buNone/>
            </a:pPr>
            <a:r>
              <a:rPr lang="en-US" sz="1100" b="1" dirty="0">
                <a:solidFill>
                  <a:srgbClr val="1F2937"/>
                </a:solidFill>
                <a:latin typeface="Nirmala UI" pitchFamily="34" charset="0"/>
                <a:ea typeface="Nirmala UI" pitchFamily="34" charset="-122"/>
                <a:cs typeface="Nirmala UI" pitchFamily="34" charset="-120"/>
              </a:rPr>
              <a:t>Saving in cost / time</a:t>
            </a:r>
            <a:endParaRPr lang="en-US" sz="1100" dirty="0"/>
          </a:p>
        </p:txBody>
      </p:sp>
      <p:sp>
        <p:nvSpPr>
          <p:cNvPr id="14" name="Text 12"/>
          <p:cNvSpPr txBox="1"/>
          <p:nvPr/>
        </p:nvSpPr>
        <p:spPr>
          <a:xfrm>
            <a:off x="3355848" y="2148840"/>
            <a:ext cx="2423160" cy="502920"/>
          </a:xfrm>
          <a:prstGeom prst="rect">
            <a:avLst/>
          </a:prstGeom>
          <a:noFill/>
          <a:ln/>
        </p:spPr>
        <p:txBody>
          <a:bodyPr wrap="square" lIns="0" tIns="0" rIns="0" bIns="0" rtlCol="0" anchor="t"/>
          <a:lstStyle/>
          <a:p>
            <a:pPr marL="0" indent="0" algn="ctr">
              <a:buNone/>
            </a:pPr>
            <a:r>
              <a:rPr lang="en-US" sz="900" i="0" dirty="0">
                <a:solidFill>
                  <a:srgbClr val="2F3A56"/>
                </a:solidFill>
                <a:latin typeface="Nirmala UI" pitchFamily="34" charset="0"/>
                <a:ea typeface="Nirmala UI" pitchFamily="34" charset="-122"/>
                <a:cs typeface="Nirmala UI" pitchFamily="34" charset="-120"/>
              </a:rPr>
              <a:t>Pilot to compare time to a first assessment and to a finished report with current practice. No baseline yet.</a:t>
            </a:r>
          </a:p>
        </p:txBody>
      </p:sp>
      <p:sp>
        <p:nvSpPr>
          <p:cNvPr id="15" name="Shape 13"/>
          <p:cNvSpPr/>
          <p:nvPr/>
        </p:nvSpPr>
        <p:spPr>
          <a:xfrm>
            <a:off x="6071616" y="1188720"/>
            <a:ext cx="2606040" cy="1463040"/>
          </a:xfrm>
          <a:prstGeom prst="roundRect">
            <a:avLst>
              <a:gd name="adj" fmla="val 5000"/>
            </a:avLst>
          </a:prstGeom>
          <a:solidFill>
            <a:srgbClr val="FDEBD7"/>
          </a:solidFill>
          <a:ln w="9525">
            <a:solidFill>
              <a:srgbClr val="D9DEEA"/>
            </a:solidFill>
            <a:prstDash val="solid"/>
          </a:ln>
        </p:spPr>
        <p:txBody>
          <a:bodyPr/>
          <a:lstStyle/>
          <a:p>
            <a:endParaRPr lang="en-IN"/>
          </a:p>
        </p:txBody>
      </p:sp>
      <p:sp>
        <p:nvSpPr>
          <p:cNvPr id="16" name="Text 14"/>
          <p:cNvSpPr txBox="1"/>
          <p:nvPr/>
        </p:nvSpPr>
        <p:spPr>
          <a:xfrm>
            <a:off x="6163056" y="1280160"/>
            <a:ext cx="2423160" cy="640080"/>
          </a:xfrm>
          <a:prstGeom prst="rect">
            <a:avLst/>
          </a:prstGeom>
          <a:noFill/>
          <a:ln/>
        </p:spPr>
        <p:txBody>
          <a:bodyPr wrap="square" lIns="0" tIns="0" rIns="0" bIns="0" rtlCol="0" anchor="t"/>
          <a:lstStyle/>
          <a:p>
            <a:pPr marL="0" indent="0" algn="ctr">
              <a:buNone/>
            </a:pPr>
            <a:r>
              <a:rPr lang="en-US" sz="2000" b="1" dirty="0" i="0">
                <a:solidFill>
                  <a:srgbClr val="1B2A5C"/>
                </a:solidFill>
                <a:latin typeface="Nirmala UI" pitchFamily="34" charset="0"/>
                <a:ea typeface="Nirmala UI" pitchFamily="34" charset="-122"/>
                <a:cs typeface="Nirmala UI" pitchFamily="34" charset="-120"/>
              </a:rPr>
              <a:t>Not claimed</a:t>
            </a:r>
          </a:p>
        </p:txBody>
      </p:sp>
      <p:sp>
        <p:nvSpPr>
          <p:cNvPr id="17" name="Text 15"/>
          <p:cNvSpPr txBox="1"/>
          <p:nvPr/>
        </p:nvSpPr>
        <p:spPr>
          <a:xfrm>
            <a:off x="6163056" y="1874519"/>
            <a:ext cx="2423160" cy="256032"/>
          </a:xfrm>
          <a:prstGeom prst="rect">
            <a:avLst/>
          </a:prstGeom>
          <a:noFill/>
          <a:ln/>
        </p:spPr>
        <p:txBody>
          <a:bodyPr wrap="square" lIns="0" tIns="0" rIns="0" bIns="0" rtlCol="0" anchor="t"/>
          <a:lstStyle/>
          <a:p>
            <a:pPr marL="0" indent="0" algn="ctr">
              <a:buNone/>
            </a:pPr>
            <a:r>
              <a:rPr lang="en-US" sz="1100" b="1" dirty="0">
                <a:solidFill>
                  <a:srgbClr val="1F2937"/>
                </a:solidFill>
                <a:latin typeface="Nirmala UI" pitchFamily="34" charset="0"/>
                <a:ea typeface="Nirmala UI" pitchFamily="34" charset="-122"/>
                <a:cs typeface="Nirmala UI" pitchFamily="34" charset="-120"/>
              </a:rPr>
              <a:t>Jobs or livelihoods</a:t>
            </a:r>
            <a:endParaRPr lang="en-US" sz="1100" dirty="0"/>
          </a:p>
        </p:txBody>
      </p:sp>
      <p:sp>
        <p:nvSpPr>
          <p:cNvPr id="18" name="Text 16"/>
          <p:cNvSpPr txBox="1"/>
          <p:nvPr/>
        </p:nvSpPr>
        <p:spPr>
          <a:xfrm>
            <a:off x="6163056" y="2148840"/>
            <a:ext cx="2423160" cy="502920"/>
          </a:xfrm>
          <a:prstGeom prst="rect">
            <a:avLst/>
          </a:prstGeom>
          <a:noFill/>
          <a:ln/>
        </p:spPr>
        <p:txBody>
          <a:bodyPr wrap="square" lIns="0" tIns="0" rIns="0" bIns="0" rtlCol="0" anchor="t"/>
          <a:lstStyle/>
          <a:p>
            <a:pPr marL="0" indent="0" algn="ctr">
              <a:buNone/>
            </a:pPr>
            <a:r>
              <a:rPr lang="en-US" sz="900" i="0" dirty="0">
                <a:solidFill>
                  <a:srgbClr val="2F3A56"/>
                </a:solidFill>
                <a:latin typeface="Nirmala UI" pitchFamily="34" charset="0"/>
                <a:ea typeface="Nirmala UI" pitchFamily="34" charset="-122"/>
                <a:cs typeface="Nirmala UI" pitchFamily="34" charset="-120"/>
              </a:rPr>
              <a:t>No evidence of job creation, so none is claimed.</a:t>
            </a:r>
          </a:p>
        </p:txBody>
      </p:sp>
      <p:sp>
        <p:nvSpPr>
          <p:cNvPr id="19" name="Shape 17"/>
          <p:cNvSpPr/>
          <p:nvPr/>
        </p:nvSpPr>
        <p:spPr>
          <a:xfrm>
            <a:off x="457200" y="2834640"/>
            <a:ext cx="2606040" cy="1783080"/>
          </a:xfrm>
          <a:prstGeom prst="roundRect">
            <a:avLst>
              <a:gd name="adj" fmla="val 4103"/>
            </a:avLst>
          </a:prstGeom>
          <a:solidFill>
            <a:srgbClr val="FFFFFF"/>
          </a:solidFill>
          <a:ln w="9525">
            <a:solidFill>
              <a:srgbClr val="D9DEEA"/>
            </a:solidFill>
            <a:prstDash val="solid"/>
          </a:ln>
        </p:spPr>
        <p:txBody>
          <a:bodyPr/>
          <a:lstStyle/>
          <a:p>
            <a:endParaRPr lang="en-IN"/>
          </a:p>
        </p:txBody>
      </p:sp>
      <p:sp>
        <p:nvSpPr>
          <p:cNvPr id="20" name="Text 18"/>
          <p:cNvSpPr txBox="1"/>
          <p:nvPr/>
        </p:nvSpPr>
        <p:spPr>
          <a:xfrm>
            <a:off x="594360" y="2944368"/>
            <a:ext cx="233172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Social impact</a:t>
            </a:r>
            <a:endParaRPr lang="en-US" sz="1200" dirty="0"/>
          </a:p>
        </p:txBody>
      </p:sp>
      <p:sp>
        <p:nvSpPr>
          <p:cNvPr id="21" name="Text 19"/>
          <p:cNvSpPr txBox="1"/>
          <p:nvPr/>
        </p:nvSpPr>
        <p:spPr>
          <a:xfrm>
            <a:off x="594360" y="3218688"/>
            <a:ext cx="2331720" cy="1325880"/>
          </a:xfrm>
          <a:prstGeom prst="rect">
            <a:avLst/>
          </a:prstGeom>
          <a:noFill/>
          <a:ln/>
        </p:spPr>
        <p:txBody>
          <a:bodyPr wrap="square" lIns="0" tIns="0" rIns="0" bIns="0" rtlCol="0" anchor="t"/>
          <a:lstStyle/>
          <a:p>
            <a:pPr marL="0" indent="0">
              <a:spcAft>
                <a:spcPts val="400"/>
              </a:spcAft>
              <a:buNone/>
            </a:pPr>
            <a:r>
              <a:rPr lang="en-US" sz="900" i="0" dirty="0">
                <a:solidFill>
                  <a:srgbClr val="2F3A56"/>
                </a:solidFill>
                <a:latin typeface="Nirmala UI" pitchFamily="34" charset="0"/>
                <a:ea typeface="Nirmala UI" pitchFamily="34" charset="-122"/>
                <a:cs typeface="Nirmala UI" pitchFamily="34" charset="-120"/>
              </a:rPr>
              <a:t>Helps investigators avoid unsupported conclusions, supporting fairer and stronger cyber-fraud cases.</a:t>
            </a:r>
          </a:p>
          <a:p>
            <a:pPr marL="0" indent="0">
              <a:spcAft>
                <a:spcPts val="400"/>
              </a:spcAft>
              <a:buNone/>
            </a:pPr>
            <a:r>
              <a:rPr lang="en-US" sz="900" i="0" dirty="0">
                <a:solidFill>
                  <a:srgbClr val="2F3A56"/>
                </a:solidFill>
                <a:latin typeface="Nirmala UI" pitchFamily="34" charset="0"/>
                <a:ea typeface="Nirmala UI" pitchFamily="34" charset="-122"/>
                <a:cs typeface="Nirmala UI" pitchFamily="34" charset="-120"/>
              </a:rPr>
              <a:t>Links to SDG 16 (institutions that combat crime, target 16.a).</a:t>
            </a:r>
          </a:p>
          <a:p>
            <a:pPr marL="0" indent="0">
              <a:spcAft>
                <a:spcPts val="400"/>
              </a:spcAft>
              <a:buNone/>
            </a:pPr>
            <a:r>
              <a:rPr lang="en-US" sz="900" i="0" dirty="0">
                <a:solidFill>
                  <a:srgbClr val="2F3A56"/>
                </a:solidFill>
                <a:latin typeface="Nirmala UI" pitchFamily="34" charset="0"/>
                <a:ea typeface="Nirmala UI" pitchFamily="34" charset="-122"/>
                <a:cs typeface="Nirmala UI" pitchFamily="34" charset="-120"/>
              </a:rPr>
              <a:t>Social impact is not yet measured.</a:t>
            </a:r>
          </a:p>
        </p:txBody>
      </p:sp>
      <p:sp>
        <p:nvSpPr>
          <p:cNvPr id="22" name="Shape 20"/>
          <p:cNvSpPr/>
          <p:nvPr/>
        </p:nvSpPr>
        <p:spPr>
          <a:xfrm>
            <a:off x="3264408" y="2834640"/>
            <a:ext cx="2606040" cy="1783080"/>
          </a:xfrm>
          <a:prstGeom prst="roundRect">
            <a:avLst>
              <a:gd name="adj" fmla="val 4103"/>
            </a:avLst>
          </a:prstGeom>
          <a:solidFill>
            <a:srgbClr val="FFFFFF"/>
          </a:solidFill>
          <a:ln w="9525">
            <a:solidFill>
              <a:srgbClr val="D9DEEA"/>
            </a:solidFill>
            <a:prstDash val="solid"/>
          </a:ln>
        </p:spPr>
        <p:txBody>
          <a:bodyPr/>
          <a:lstStyle/>
          <a:p>
            <a:endParaRPr lang="en-IN"/>
          </a:p>
        </p:txBody>
      </p:sp>
      <p:sp>
        <p:nvSpPr>
          <p:cNvPr id="23" name="Text 21"/>
          <p:cNvSpPr txBox="1"/>
          <p:nvPr/>
        </p:nvSpPr>
        <p:spPr>
          <a:xfrm>
            <a:off x="3401568" y="2944368"/>
            <a:ext cx="233172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Sustainability</a:t>
            </a:r>
            <a:endParaRPr lang="en-US" sz="1200" dirty="0"/>
          </a:p>
        </p:txBody>
      </p:sp>
      <p:sp>
        <p:nvSpPr>
          <p:cNvPr id="24" name="Text 22"/>
          <p:cNvSpPr txBox="1"/>
          <p:nvPr/>
        </p:nvSpPr>
        <p:spPr>
          <a:xfrm>
            <a:off x="3401568" y="3218688"/>
            <a:ext cx="2331720" cy="1325880"/>
          </a:xfrm>
          <a:prstGeom prst="rect">
            <a:avLst/>
          </a:prstGeom>
          <a:noFill/>
          <a:ln/>
        </p:spPr>
        <p:txBody>
          <a:bodyPr wrap="square" lIns="0" tIns="0" rIns="0" bIns="0" rtlCol="0" anchor="t"/>
          <a:lstStyle/>
          <a:p>
            <a:pPr marL="0" indent="0">
              <a:spcAft>
                <a:spcPts val="400"/>
              </a:spcAft>
              <a:buNone/>
            </a:pPr>
            <a:r>
              <a:rPr lang="en-US" sz="900" i="0" dirty="0">
                <a:solidFill>
                  <a:srgbClr val="2F3A56"/>
                </a:solidFill>
                <a:latin typeface="Nirmala UI" pitchFamily="34" charset="0"/>
                <a:ea typeface="Nirmala UI" pitchFamily="34" charset="-122"/>
                <a:cs typeface="Nirmala UI" pitchFamily="34" charset="-120"/>
              </a:rPr>
              <a:t>No revenue model is decided. The stack is open source; licences are to be confirmed.</a:t>
            </a:r>
          </a:p>
          <a:p>
            <a:pPr marL="0" indent="0">
              <a:spcAft>
                <a:spcPts val="400"/>
              </a:spcAft>
              <a:buNone/>
            </a:pPr>
            <a:r>
              <a:rPr lang="en-US" sz="900" i="0" dirty="0">
                <a:solidFill>
                  <a:srgbClr val="2F3A56"/>
                </a:solidFill>
                <a:latin typeface="Nirmala UI" pitchFamily="34" charset="0"/>
                <a:ea typeface="Nirmala UI" pitchFamily="34" charset="-122"/>
                <a:cs typeface="Nirmala UI" pitchFamily="34" charset="-120"/>
              </a:rPr>
              <a:t>Option to discuss with a partner: department budget or grant. No commitment exists.</a:t>
            </a:r>
          </a:p>
        </p:txBody>
      </p:sp>
      <p:sp>
        <p:nvSpPr>
          <p:cNvPr id="25" name="Shape 23"/>
          <p:cNvSpPr/>
          <p:nvPr/>
        </p:nvSpPr>
        <p:spPr>
          <a:xfrm>
            <a:off x="6071616" y="2834640"/>
            <a:ext cx="2606040" cy="1783080"/>
          </a:xfrm>
          <a:prstGeom prst="roundRect">
            <a:avLst>
              <a:gd name="adj" fmla="val 4103"/>
            </a:avLst>
          </a:prstGeom>
          <a:solidFill>
            <a:srgbClr val="FFFFFF"/>
          </a:solidFill>
          <a:ln w="9525">
            <a:solidFill>
              <a:srgbClr val="D9DEEA"/>
            </a:solidFill>
            <a:prstDash val="solid"/>
          </a:ln>
        </p:spPr>
        <p:txBody>
          <a:bodyPr/>
          <a:lstStyle/>
          <a:p>
            <a:endParaRPr lang="en-IN"/>
          </a:p>
        </p:txBody>
      </p:sp>
      <p:sp>
        <p:nvSpPr>
          <p:cNvPr id="26" name="Text 24"/>
          <p:cNvSpPr txBox="1"/>
          <p:nvPr/>
        </p:nvSpPr>
        <p:spPr>
          <a:xfrm>
            <a:off x="6208776" y="2944368"/>
            <a:ext cx="2331720" cy="256032"/>
          </a:xfrm>
          <a:prstGeom prst="rect">
            <a:avLst/>
          </a:prstGeom>
          <a:noFill/>
          <a:ln/>
        </p:spPr>
        <p:txBody>
          <a:bodyPr wrap="square" lIns="0" tIns="0" rIns="0" bIns="0" rtlCol="0" anchor="t"/>
          <a:lstStyle/>
          <a:p>
            <a:pPr marL="0" indent="0">
              <a:buNone/>
            </a:pPr>
            <a:r>
              <a:rPr lang="en-US" sz="1200" b="1" dirty="0">
                <a:solidFill>
                  <a:srgbClr val="1B2A5C"/>
                </a:solidFill>
                <a:latin typeface="Nirmala UI" pitchFamily="34" charset="0"/>
                <a:ea typeface="Nirmala UI" pitchFamily="34" charset="-122"/>
                <a:cs typeface="Nirmala UI" pitchFamily="34" charset="-120"/>
              </a:rPr>
              <a:t>Scale-up plan</a:t>
            </a:r>
            <a:endParaRPr lang="en-US" sz="1200" dirty="0"/>
          </a:p>
        </p:txBody>
      </p:sp>
      <p:sp>
        <p:nvSpPr>
          <p:cNvPr id="27" name="Text 25"/>
          <p:cNvSpPr txBox="1"/>
          <p:nvPr/>
        </p:nvSpPr>
        <p:spPr>
          <a:xfrm>
            <a:off x="6208776" y="3218688"/>
            <a:ext cx="2331720" cy="1325880"/>
          </a:xfrm>
          <a:prstGeom prst="rect">
            <a:avLst/>
          </a:prstGeom>
          <a:noFill/>
          <a:ln/>
        </p:spPr>
        <p:txBody>
          <a:bodyPr wrap="square" lIns="0" tIns="0" rIns="0" bIns="0" rtlCol="0" anchor="t"/>
          <a:lstStyle/>
          <a:p>
            <a:pPr marL="0" indent="0">
              <a:spcAft>
                <a:spcPts val="400"/>
              </a:spcAft>
              <a:buNone/>
            </a:pPr>
            <a:r>
              <a:rPr lang="en-US" sz="900" i="0" dirty="0">
                <a:solidFill>
                  <a:srgbClr val="2F3A56"/>
                </a:solidFill>
                <a:latin typeface="Nirmala UI" pitchFamily="34" charset="0"/>
                <a:ea typeface="Nirmala UI" pitchFamily="34" charset="-122"/>
                <a:cs typeface="Nirmala UI" pitchFamily="34" charset="-120"/>
              </a:rPr>
              <a:t>Demo, then close the security gaps, then one supervised cyber-cell pilot, then further units.</a:t>
            </a:r>
          </a:p>
          <a:p>
            <a:pPr marL="0" indent="0">
              <a:spcAft>
                <a:spcPts val="400"/>
              </a:spcAft>
              <a:buNone/>
            </a:pPr>
            <a:r>
              <a:rPr lang="en-US" sz="900" i="0" dirty="0">
                <a:solidFill>
                  <a:srgbClr val="2F3A56"/>
                </a:solidFill>
                <a:latin typeface="Nirmala UI" pitchFamily="34" charset="0"/>
                <a:ea typeface="Nirmala UI" pitchFamily="34" charset="-122"/>
                <a:cs typeface="Nirmala UI" pitchFamily="34" charset="-120"/>
              </a:rPr>
              <a:t>Each unit would run locally so evidence stays in the unit; central administration only.</a:t>
            </a:r>
          </a:p>
          <a:p>
            <a:pPr marL="0" indent="0">
              <a:spcAft>
                <a:spcPts val="400"/>
              </a:spcAft>
              <a:buNone/>
            </a:pPr>
            <a:r>
              <a:rPr lang="en-US" sz="900" i="0" dirty="0">
                <a:solidFill>
                  <a:srgbClr val="2F3A56"/>
                </a:solidFill>
                <a:latin typeface="Nirmala UI" pitchFamily="34" charset="0"/>
                <a:ea typeface="Nirmala UI" pitchFamily="34" charset="-122"/>
                <a:cs typeface="Nirmala UI" pitchFamily="34" charset="-120"/>
              </a:rPr>
              <a:t>Proposed; nothing is deployed.</a:t>
            </a:r>
          </a:p>
        </p:txBody>
      </p:sp>
      <p:sp>
        <p:nvSpPr>
          <p:cNvPr id="6" name="Text 4"/>
          <p:cNvSpPr txBox="1"/>
          <p:nvPr/>
        </p:nvSpPr>
        <p:spPr>
          <a:xfrm>
            <a:off x="457200" y="4663440"/>
            <a:ext cx="4937760" cy="365760"/>
          </a:xfrm>
          <a:prstGeom prst="rect">
            <a:avLst/>
          </a:prstGeom>
          <a:noFill/>
          <a:ln/>
        </p:spPr>
        <p:txBody>
          <a:bodyPr wrap="square" lIns="0" tIns="0" rIns="0" bIns="0" rtlCol="0" anchor="t"/>
          <a:lstStyle/>
          <a:p>
            <a:pPr marL="0" indent="0" algn="l">
              <a:buNone/>
            </a:pPr>
            <a:r>
              <a:rPr lang="en-US" sz="750" dirty="0" i="1">
                <a:solidFill>
                  <a:srgbClr val="6B7280"/>
                </a:solidFill>
                <a:latin typeface="Nirmala UI" pitchFamily="34" charset="0"/>
                <a:ea typeface="Nirmala UI" pitchFamily="34" charset="-122"/>
                <a:cs typeface="Nirmala UI" pitchFamily="34" charset="-120"/>
              </a:rPr>
              <a:t>Pilot measures: time to first assessment, time to report, share of findings with usable provenance, correct handling of unresolved evidence, reproducibility, supervisor confidence.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5C"/>
        </a:solidFill>
        <a:effectLst/>
      </p:bgPr>
    </p:bg>
    <p:spTree>
      <p:nvGrpSpPr>
        <p:cNvPr id="1" name=""/>
        <p:cNvGrpSpPr/>
        <p:nvPr/>
      </p:nvGrpSpPr>
      <p:grpSpPr>
        <a:xfrm>
          <a:off x="0" y="0"/>
          <a:ext cx="0" cy="0"/>
          <a:chOff x="0" y="0"/>
          <a:chExt cx="0" cy="0"/>
        </a:xfrm>
      </p:grpSpPr>
      <p:sp>
        <p:nvSpPr>
          <p:cNvPr id="2" name="Shape 0"/>
          <p:cNvSpPr/>
          <p:nvPr/>
        </p:nvSpPr>
        <p:spPr>
          <a:xfrm>
            <a:off x="457200" y="347472"/>
            <a:ext cx="502920" cy="502920"/>
          </a:xfrm>
          <a:prstGeom prst="ellipse">
            <a:avLst/>
          </a:prstGeom>
          <a:solidFill>
            <a:srgbClr val="F28C28"/>
          </a:solidFill>
          <a:ln w="12700">
            <a:solidFill>
              <a:srgbClr val="F28C28"/>
            </a:solidFill>
            <a:prstDash val="solid"/>
          </a:ln>
        </p:spPr>
        <p:txBody>
          <a:bodyPr/>
          <a:lstStyle/>
          <a:p>
            <a:endParaRPr lang="en-IN"/>
          </a:p>
        </p:txBody>
      </p:sp>
      <p:sp>
        <p:nvSpPr>
          <p:cNvPr id="3" name="Text 1"/>
          <p:cNvSpPr txBox="1"/>
          <p:nvPr/>
        </p:nvSpPr>
        <p:spPr>
          <a:xfrm>
            <a:off x="457200" y="347472"/>
            <a:ext cx="502920" cy="502920"/>
          </a:xfrm>
          <a:prstGeom prst="rect">
            <a:avLst/>
          </a:prstGeom>
          <a:noFill/>
          <a:ln/>
        </p:spPr>
        <p:txBody>
          <a:bodyPr wrap="square" lIns="0" tIns="0" rIns="0" bIns="0" rtlCol="0" anchor="ctr"/>
          <a:lstStyle/>
          <a:p>
            <a:pPr marL="0" indent="0" algn="ctr">
              <a:buNone/>
            </a:pPr>
            <a:r>
              <a:rPr lang="en-US" sz="1540" b="1" dirty="0">
                <a:solidFill>
                  <a:srgbClr val="FFFFFF"/>
                </a:solidFill>
                <a:latin typeface="Nirmala UI" pitchFamily="34" charset="0"/>
                <a:ea typeface="Nirmala UI" pitchFamily="34" charset="-122"/>
                <a:cs typeface="Nirmala UI" pitchFamily="34" charset="-120"/>
              </a:rPr>
              <a:t>6</a:t>
            </a:r>
            <a:endParaRPr lang="en-US" sz="1540" dirty="0"/>
          </a:p>
        </p:txBody>
      </p:sp>
      <p:sp>
        <p:nvSpPr>
          <p:cNvPr id="4" name="Text 2"/>
          <p:cNvSpPr txBox="1"/>
          <p:nvPr/>
        </p:nvSpPr>
        <p:spPr>
          <a:xfrm>
            <a:off x="1097280" y="301752"/>
            <a:ext cx="6858000" cy="411480"/>
          </a:xfrm>
          <a:prstGeom prst="rect">
            <a:avLst/>
          </a:prstGeom>
          <a:noFill/>
          <a:ln/>
        </p:spPr>
        <p:txBody>
          <a:bodyPr wrap="square" lIns="0" tIns="0" rIns="0" bIns="0" rtlCol="0" anchor="t"/>
          <a:lstStyle/>
          <a:p>
            <a:pPr marL="0" indent="0">
              <a:buNone/>
            </a:pPr>
            <a:r>
              <a:rPr lang="en-US" sz="2600" b="1" dirty="0">
                <a:solidFill>
                  <a:srgbClr val="FFFFFF"/>
                </a:solidFill>
                <a:latin typeface="Nirmala UI" pitchFamily="34" charset="0"/>
                <a:ea typeface="Nirmala UI" pitchFamily="34" charset="-122"/>
                <a:cs typeface="Nirmala UI" pitchFamily="34" charset="-120"/>
              </a:rPr>
              <a:t>Team/Individual &amp; Support Required</a:t>
            </a:r>
            <a:endParaRPr lang="en-US" sz="2600" dirty="0"/>
          </a:p>
        </p:txBody>
      </p:sp>
      <p:sp>
        <p:nvSpPr>
          <p:cNvPr id="5" name="Text 3"/>
          <p:cNvSpPr txBox="1"/>
          <p:nvPr/>
        </p:nvSpPr>
        <p:spPr>
          <a:xfrm>
            <a:off x="1097280" y="713232"/>
            <a:ext cx="7589520" cy="274320"/>
          </a:xfrm>
          <a:prstGeom prst="rect">
            <a:avLst/>
          </a:prstGeom>
          <a:noFill/>
          <a:ln/>
        </p:spPr>
        <p:txBody>
          <a:bodyPr wrap="square" lIns="0" tIns="0" rIns="0" bIns="0" rtlCol="0" anchor="t"/>
          <a:lstStyle/>
          <a:p>
            <a:pPr marL="0" indent="0">
              <a:buNone/>
            </a:pPr>
            <a:r>
              <a:rPr lang="en-US" sz="1100" i="1" dirty="0">
                <a:solidFill>
                  <a:srgbClr val="C9D2EC"/>
                </a:solidFill>
                <a:latin typeface="Nirmala UI" pitchFamily="34" charset="0"/>
                <a:ea typeface="Nirmala UI" pitchFamily="34" charset="-122"/>
                <a:cs typeface="Nirmala UI" pitchFamily="34" charset="-120"/>
              </a:rPr>
              <a:t>Who is behind the idea, and what help do you need from the Challenge?</a:t>
            </a:r>
            <a:endParaRPr lang="en-US" sz="1100" dirty="0"/>
          </a:p>
        </p:txBody>
      </p:sp>
      <p:sp>
        <p:nvSpPr>
          <p:cNvPr id="6" name="Shape 4"/>
          <p:cNvSpPr/>
          <p:nvPr/>
        </p:nvSpPr>
        <p:spPr>
          <a:xfrm>
            <a:off x="457200" y="1188720"/>
            <a:ext cx="4434840" cy="1325880"/>
          </a:xfrm>
          <a:prstGeom prst="roundRect">
            <a:avLst>
              <a:gd name="adj" fmla="val 6400"/>
            </a:avLst>
          </a:prstGeom>
          <a:solidFill>
            <a:srgbClr val="253870"/>
          </a:solidFill>
          <a:ln w="12700">
            <a:solidFill>
              <a:srgbClr val="253870"/>
            </a:solidFill>
            <a:prstDash val="solid"/>
          </a:ln>
        </p:spPr>
        <p:txBody>
          <a:bodyPr/>
          <a:lstStyle/>
          <a:p>
            <a:endParaRPr lang="en-IN"/>
          </a:p>
        </p:txBody>
      </p:sp>
      <p:sp>
        <p:nvSpPr>
          <p:cNvPr id="6" name="Shape 4"/>
          <p:cNvSpPr/>
          <p:nvPr/>
        </p:nvSpPr>
        <p:spPr>
          <a:xfrm>
            <a:off x="457200" y="2697480"/>
            <a:ext cx="4434840" cy="1188720"/>
          </a:xfrm>
          <a:prstGeom prst="roundRect">
            <a:avLst>
              <a:gd name="adj" fmla="val 6400"/>
            </a:avLst>
          </a:prstGeom>
          <a:solidFill>
            <a:srgbClr val="253870"/>
          </a:solidFill>
          <a:ln w="12700">
            <a:solidFill>
              <a:srgbClr val="253870"/>
            </a:solidFill>
            <a:prstDash val="solid"/>
          </a:ln>
        </p:spPr>
        <p:txBody>
          <a:bodyPr/>
          <a:lstStyle/>
          <a:p>
            <a:endParaRPr lang="en-IN"/>
          </a:p>
        </p:txBody>
      </p:sp>
      <p:sp>
        <p:nvSpPr>
          <p:cNvPr id="7" name="Shape 5"/>
          <p:cNvSpPr/>
          <p:nvPr/>
        </p:nvSpPr>
        <p:spPr>
          <a:xfrm>
            <a:off x="658368" y="1371600"/>
            <a:ext cx="822960" cy="822960"/>
          </a:xfrm>
          <a:prstGeom prst="ellipse">
            <a:avLst/>
          </a:prstGeom>
          <a:solidFill>
            <a:srgbClr val="3A4C85"/>
          </a:solidFill>
          <a:ln w="12700">
            <a:solidFill>
              <a:srgbClr val="F28C28"/>
            </a:solidFill>
            <a:prstDash val="solid"/>
          </a:ln>
        </p:spPr>
        <p:txBody>
          <a:bodyPr/>
          <a:lstStyle/>
          <a:p>
            <a:endParaRPr lang="en-IN"/>
          </a:p>
        </p:txBody>
      </p:sp>
      <p:sp>
        <p:nvSpPr>
          <p:cNvPr id="8" name="Text 6"/>
          <p:cNvSpPr txBox="1"/>
          <p:nvPr/>
        </p:nvSpPr>
        <p:spPr>
          <a:xfrm>
            <a:off x="658368" y="1371600"/>
            <a:ext cx="822960" cy="822960"/>
          </a:xfrm>
          <a:prstGeom prst="rect">
            <a:avLst/>
          </a:prstGeom>
          <a:noFill/>
          <a:ln/>
        </p:spPr>
        <p:txBody>
          <a:bodyPr wrap="square" lIns="0" tIns="0" rIns="0" bIns="0" rtlCol="0" anchor="ctr"/>
          <a:lstStyle/>
          <a:p>
            <a:pPr marL="0" indent="0" algn="ctr">
              <a:buNone/>
            </a:pPr>
            <a:r>
              <a:rPr lang="en-US" sz="1600" dirty="0" i="0" b="1">
                <a:solidFill>
                  <a:srgbClr val="FFFFFF"/>
                </a:solidFill>
                <a:latin typeface="Nirmala UI" pitchFamily="34" charset="0"/>
                <a:ea typeface="Nirmala UI" pitchFamily="34" charset="-122"/>
                <a:cs typeface="Nirmala UI" pitchFamily="34" charset="-120"/>
              </a:rPr>
              <a:t>SP</a:t>
            </a:r>
          </a:p>
        </p:txBody>
      </p:sp>
      <p:sp>
        <p:nvSpPr>
          <p:cNvPr id="9" name="Text 7"/>
          <p:cNvSpPr txBox="1"/>
          <p:nvPr/>
        </p:nvSpPr>
        <p:spPr>
          <a:xfrm>
            <a:off x="1627632" y="1335024"/>
            <a:ext cx="3154680" cy="329184"/>
          </a:xfrm>
          <a:prstGeom prst="rect">
            <a:avLst/>
          </a:prstGeom>
          <a:noFill/>
          <a:ln/>
        </p:spPr>
        <p:txBody>
          <a:bodyPr wrap="square" lIns="0" tIns="0" rIns="0" bIns="0" rtlCol="0" anchor="t"/>
          <a:lstStyle/>
          <a:p>
            <a:pPr marL="0" indent="0">
              <a:buNone/>
            </a:pPr>
            <a:r>
              <a:rPr lang="en-US" sz="1500" b="1" dirty="0" i="0">
                <a:solidFill>
                  <a:srgbClr val="FFFFFF"/>
                </a:solidFill>
                <a:latin typeface="Nirmala UI" pitchFamily="34" charset="0"/>
                <a:ea typeface="Nirmala UI" pitchFamily="34" charset="-122"/>
                <a:cs typeface="Nirmala UI" pitchFamily="34" charset="-120"/>
              </a:rPr>
              <a:t>Siddhant Hiralal Patil</a:t>
            </a:r>
          </a:p>
        </p:txBody>
      </p:sp>
      <p:sp>
        <p:nvSpPr>
          <p:cNvPr id="10" name="Text 8"/>
          <p:cNvSpPr txBox="1"/>
          <p:nvPr/>
        </p:nvSpPr>
        <p:spPr>
          <a:xfrm>
            <a:off x="1627632" y="1700784"/>
            <a:ext cx="3154680" cy="274320"/>
          </a:xfrm>
          <a:prstGeom prst="rect">
            <a:avLst/>
          </a:prstGeom>
          <a:noFill/>
          <a:ln/>
        </p:spPr>
        <p:txBody>
          <a:bodyPr wrap="square" lIns="0" tIns="0" rIns="0" bIns="0" rtlCol="0" anchor="t"/>
          <a:lstStyle/>
          <a:p>
            <a:pPr marL="0" indent="0">
              <a:buNone/>
            </a:pPr>
            <a:r>
              <a:rPr lang="en-US" sz="1000" i="0" dirty="0" b="0">
                <a:solidFill>
                  <a:srgbClr val="F28C28"/>
                </a:solidFill>
                <a:latin typeface="Nirmala UI" pitchFamily="34" charset="0"/>
                <a:ea typeface="Nirmala UI" pitchFamily="34" charset="-122"/>
                <a:cs typeface="Nirmala UI" pitchFamily="34" charset="-120"/>
              </a:rPr>
              <a:t>Applicant and team lead</a:t>
            </a:r>
          </a:p>
        </p:txBody>
      </p:sp>
      <p:sp>
        <p:nvSpPr>
          <p:cNvPr id="11" name="Text 9"/>
          <p:cNvSpPr txBox="1"/>
          <p:nvPr/>
        </p:nvSpPr>
        <p:spPr>
          <a:xfrm>
            <a:off x="1627632" y="1975104"/>
            <a:ext cx="3154680" cy="457200"/>
          </a:xfrm>
          <a:prstGeom prst="rect">
            <a:avLst/>
          </a:prstGeom>
          <a:noFill/>
          <a:ln/>
        </p:spPr>
        <p:txBody>
          <a:bodyPr wrap="square" lIns="0" tIns="0" rIns="0" bIns="0" rtlCol="0" anchor="t"/>
          <a:lstStyle/>
          <a:p>
            <a:pPr marL="0" indent="0">
              <a:buNone/>
            </a:pPr>
            <a:r>
              <a:rPr lang="en-US" sz="900" i="0" dirty="0">
                <a:solidFill>
                  <a:srgbClr val="DCE3F5"/>
                </a:solidFill>
                <a:latin typeface="Nirmala UI" pitchFamily="34" charset="0"/>
                <a:ea typeface="Nirmala UI" pitchFamily="34" charset="-122"/>
                <a:cs typeface="Nirmala UI" pitchFamily="34" charset="-120"/>
              </a:rPr>
              <a:t>Individual application (team size 1)</a:t>
            </a:r>
          </a:p>
        </p:txBody>
      </p:sp>
      <p:sp>
        <p:nvSpPr>
          <p:cNvPr id="31" name="Shape 29"/>
          <p:cNvSpPr/>
          <p:nvPr/>
        </p:nvSpPr>
        <p:spPr>
          <a:xfrm>
            <a:off x="5120640" y="1188720"/>
            <a:ext cx="3566160" cy="3383280"/>
          </a:xfrm>
          <a:prstGeom prst="roundRect">
            <a:avLst>
              <a:gd name="adj" fmla="val 2703"/>
            </a:avLst>
          </a:prstGeom>
          <a:solidFill>
            <a:srgbClr val="FFFFFF"/>
          </a:solidFill>
          <a:ln w="12700">
            <a:solidFill>
              <a:srgbClr val="FFFFFF"/>
            </a:solidFill>
            <a:prstDash val="solid"/>
          </a:ln>
        </p:spPr>
        <p:txBody>
          <a:bodyPr/>
          <a:lstStyle/>
          <a:p>
            <a:endParaRPr lang="en-IN"/>
          </a:p>
        </p:txBody>
      </p:sp>
      <p:sp>
        <p:nvSpPr>
          <p:cNvPr id="32" name="Text 30"/>
          <p:cNvSpPr txBox="1"/>
          <p:nvPr/>
        </p:nvSpPr>
        <p:spPr>
          <a:xfrm>
            <a:off x="5303520" y="1325880"/>
            <a:ext cx="3200400" cy="274320"/>
          </a:xfrm>
          <a:prstGeom prst="rect">
            <a:avLst/>
          </a:prstGeom>
          <a:noFill/>
          <a:ln/>
        </p:spPr>
        <p:txBody>
          <a:bodyPr wrap="square" lIns="0" tIns="0" rIns="0" bIns="0" rtlCol="0" anchor="t"/>
          <a:lstStyle/>
          <a:p>
            <a:pPr marL="0" indent="0">
              <a:buNone/>
            </a:pPr>
            <a:r>
              <a:rPr lang="en-US" sz="1300" b="1" dirty="0">
                <a:solidFill>
                  <a:srgbClr val="1B2A5C"/>
                </a:solidFill>
                <a:latin typeface="Nirmala UI" pitchFamily="34" charset="0"/>
                <a:ea typeface="Nirmala UI" pitchFamily="34" charset="-122"/>
                <a:cs typeface="Nirmala UI" pitchFamily="34" charset="-120"/>
              </a:rPr>
              <a:t>Support we are seeking</a:t>
            </a:r>
            <a:endParaRPr lang="en-US" sz="1300" dirty="0"/>
          </a:p>
        </p:txBody>
      </p:sp>
      <p:sp>
        <p:nvSpPr>
          <p:cNvPr id="33" name="Shape 31"/>
          <p:cNvSpPr/>
          <p:nvPr/>
        </p:nvSpPr>
        <p:spPr>
          <a:xfrm>
            <a:off x="5349240" y="1764792"/>
            <a:ext cx="182880" cy="182880"/>
          </a:xfrm>
          <a:prstGeom prst="rect">
            <a:avLst/>
          </a:prstGeom>
          <a:solidFill>
            <a:srgbClr val="F28C28"/>
          </a:solidFill>
          <a:ln w="15875">
            <a:solidFill>
              <a:srgbClr val="F28C28"/>
            </a:solidFill>
            <a:prstDash val="solid"/>
          </a:ln>
        </p:spPr>
        <p:txBody>
          <a:bodyPr/>
          <a:lstStyle/>
          <a:p>
            <a:pPr algn="ctr"/>
            <a:r>
              <a:rPr sz="900" b="1">
                <a:solidFill>
                  <a:srgbClr val="FFFFFF"/>
                </a:solidFill>
              </a:rPr>
              <a:t>✓</a:t>
            </a:r>
          </a:p>
        </p:txBody>
      </p:sp>
      <p:sp>
        <p:nvSpPr>
          <p:cNvPr id="34" name="Text 32"/>
          <p:cNvSpPr txBox="1"/>
          <p:nvPr/>
        </p:nvSpPr>
        <p:spPr>
          <a:xfrm>
            <a:off x="5669280" y="1737360"/>
            <a:ext cx="2926080" cy="256032"/>
          </a:xfrm>
          <a:prstGeom prst="rect">
            <a:avLst/>
          </a:prstGeom>
          <a:noFill/>
          <a:ln/>
        </p:spPr>
        <p:txBody>
          <a:bodyPr wrap="square" lIns="0" tIns="0" rIns="0" bIns="0" rtlCol="0" anchor="t"/>
          <a:lstStyle/>
          <a:p>
            <a:pPr marL="0" indent="0">
              <a:buNone/>
            </a:pPr>
            <a:r>
              <a:rPr lang="en-US" sz="1050" dirty="0" i="0" b="1">
                <a:solidFill>
                  <a:srgbClr val="2F3A56"/>
                </a:solidFill>
                <a:latin typeface="Nirmala UI" pitchFamily="34" charset="0"/>
                <a:ea typeface="Nirmala UI" pitchFamily="34" charset="-122"/>
                <a:cs typeface="Nirmala UI" pitchFamily="34" charset="-120"/>
              </a:rPr>
              <a:t>Mentorship &amp; technical guidance (security)</a:t>
            </a:r>
          </a:p>
        </p:txBody>
      </p:sp>
      <p:sp>
        <p:nvSpPr>
          <p:cNvPr id="35" name="Shape 33"/>
          <p:cNvSpPr/>
          <p:nvPr/>
        </p:nvSpPr>
        <p:spPr>
          <a:xfrm>
            <a:off x="5349240" y="2148840"/>
            <a:ext cx="182880" cy="182880"/>
          </a:xfrm>
          <a:prstGeom prst="rect">
            <a:avLst/>
          </a:prstGeom>
          <a:solidFill>
            <a:srgbClr val="F28C28"/>
          </a:solidFill>
          <a:ln w="15875">
            <a:solidFill>
              <a:srgbClr val="F28C28"/>
            </a:solidFill>
            <a:prstDash val="solid"/>
          </a:ln>
        </p:spPr>
        <p:txBody>
          <a:bodyPr/>
          <a:lstStyle/>
          <a:p>
            <a:pPr algn="ctr"/>
            <a:r>
              <a:rPr sz="900" b="1">
                <a:solidFill>
                  <a:srgbClr val="FFFFFF"/>
                </a:solidFill>
              </a:rPr>
              <a:t>✓</a:t>
            </a:r>
          </a:p>
        </p:txBody>
      </p:sp>
      <p:sp>
        <p:nvSpPr>
          <p:cNvPr id="36" name="Text 34"/>
          <p:cNvSpPr txBox="1"/>
          <p:nvPr/>
        </p:nvSpPr>
        <p:spPr>
          <a:xfrm>
            <a:off x="5669280" y="2121408"/>
            <a:ext cx="2926080" cy="256032"/>
          </a:xfrm>
          <a:prstGeom prst="rect">
            <a:avLst/>
          </a:prstGeom>
          <a:noFill/>
          <a:ln/>
        </p:spPr>
        <p:txBody>
          <a:bodyPr wrap="square" lIns="0" tIns="0" rIns="0" bIns="0" rtlCol="0" anchor="t"/>
          <a:lstStyle/>
          <a:p>
            <a:pPr marL="0" indent="0">
              <a:buNone/>
            </a:pPr>
            <a:r>
              <a:rPr lang="en-US" sz="1050" dirty="0" i="0" b="1">
                <a:solidFill>
                  <a:srgbClr val="2F3A56"/>
                </a:solidFill>
                <a:latin typeface="Nirmala UI" pitchFamily="34" charset="0"/>
                <a:ea typeface="Nirmala UI" pitchFamily="34" charset="-122"/>
                <a:cs typeface="Nirmala UI" pitchFamily="34" charset="-120"/>
              </a:rPr>
              <a:t>Pilot with a government department</a:t>
            </a:r>
          </a:p>
        </p:txBody>
      </p:sp>
      <p:sp>
        <p:nvSpPr>
          <p:cNvPr id="37" name="Shape 35"/>
          <p:cNvSpPr/>
          <p:nvPr/>
        </p:nvSpPr>
        <p:spPr>
          <a:xfrm>
            <a:off x="5349240" y="2532888"/>
            <a:ext cx="182880" cy="182880"/>
          </a:xfrm>
          <a:prstGeom prst="rect">
            <a:avLst/>
          </a:prstGeom>
          <a:solidFill>
            <a:srgbClr val="F28C28"/>
          </a:solidFill>
          <a:ln w="15875">
            <a:solidFill>
              <a:srgbClr val="F28C28"/>
            </a:solidFill>
            <a:prstDash val="solid"/>
          </a:ln>
        </p:spPr>
        <p:txBody>
          <a:bodyPr/>
          <a:lstStyle/>
          <a:p>
            <a:pPr algn="ctr"/>
            <a:r>
              <a:rPr sz="900" b="1">
                <a:solidFill>
                  <a:srgbClr val="FFFFFF"/>
                </a:solidFill>
              </a:rPr>
              <a:t>✓</a:t>
            </a:r>
          </a:p>
        </p:txBody>
      </p:sp>
      <p:sp>
        <p:nvSpPr>
          <p:cNvPr id="38" name="Text 36"/>
          <p:cNvSpPr txBox="1"/>
          <p:nvPr/>
        </p:nvSpPr>
        <p:spPr>
          <a:xfrm>
            <a:off x="5669280" y="2505456"/>
            <a:ext cx="2926080" cy="256032"/>
          </a:xfrm>
          <a:prstGeom prst="rect">
            <a:avLst/>
          </a:prstGeom>
          <a:noFill/>
          <a:ln/>
        </p:spPr>
        <p:txBody>
          <a:bodyPr wrap="square" lIns="0" tIns="0" rIns="0" bIns="0" rtlCol="0" anchor="t"/>
          <a:lstStyle/>
          <a:p>
            <a:pPr marL="0" indent="0">
              <a:buNone/>
            </a:pPr>
            <a:r>
              <a:rPr lang="en-US" sz="1050" dirty="0" i="0" b="1">
                <a:solidFill>
                  <a:srgbClr val="2F3A56"/>
                </a:solidFill>
                <a:latin typeface="Nirmala UI" pitchFamily="34" charset="0"/>
                <a:ea typeface="Nirmala UI" pitchFamily="34" charset="-122"/>
                <a:cs typeface="Nirmala UI" pitchFamily="34" charset="-120"/>
              </a:rPr>
              <a:t>Funding / grant support (secure deployment)</a:t>
            </a:r>
          </a:p>
        </p:txBody>
      </p:sp>
      <p:sp>
        <p:nvSpPr>
          <p:cNvPr id="39" name="Shape 37"/>
          <p:cNvSpPr/>
          <p:nvPr/>
        </p:nvSpPr>
        <p:spPr>
          <a:xfrm>
            <a:off x="5349240" y="2916936"/>
            <a:ext cx="182880" cy="182880"/>
          </a:xfrm>
          <a:prstGeom prst="rect">
            <a:avLst/>
          </a:prstGeom>
          <a:solidFill>
            <a:srgbClr val="FFFFFF"/>
          </a:solidFill>
          <a:ln w="15875">
            <a:solidFill>
              <a:srgbClr val="F28C28"/>
            </a:solidFill>
            <a:prstDash val="solid"/>
          </a:ln>
        </p:spPr>
        <p:txBody>
          <a:bodyPr/>
          <a:lstStyle/>
          <a:p>
            <a:endParaRPr lang="en-IN"/>
          </a:p>
        </p:txBody>
      </p:sp>
      <p:sp>
        <p:nvSpPr>
          <p:cNvPr id="40" name="Text 38"/>
          <p:cNvSpPr txBox="1"/>
          <p:nvPr/>
        </p:nvSpPr>
        <p:spPr>
          <a:xfrm>
            <a:off x="5669280" y="2889504"/>
            <a:ext cx="2926080" cy="256032"/>
          </a:xfrm>
          <a:prstGeom prst="rect">
            <a:avLst/>
          </a:prstGeom>
          <a:noFill/>
          <a:ln/>
        </p:spPr>
        <p:txBody>
          <a:bodyPr wrap="square" lIns="0" tIns="0" rIns="0" bIns="0" rtlCol="0" anchor="t"/>
          <a:lstStyle/>
          <a:p>
            <a:pPr marL="0" indent="0">
              <a:buNone/>
            </a:pPr>
            <a:r>
              <a:rPr lang="en-US" sz="1050" dirty="0">
                <a:solidFill>
                  <a:srgbClr val="1F2937"/>
                </a:solidFill>
                <a:latin typeface="Nirmala UI" pitchFamily="34" charset="0"/>
                <a:ea typeface="Nirmala UI" pitchFamily="34" charset="-122"/>
                <a:cs typeface="Nirmala UI" pitchFamily="34" charset="-120"/>
              </a:rPr>
              <a:t>Incubation &amp; workspace</a:t>
            </a:r>
            <a:endParaRPr lang="en-US" sz="1050" dirty="0"/>
          </a:p>
        </p:txBody>
      </p:sp>
      <p:sp>
        <p:nvSpPr>
          <p:cNvPr id="41" name="Shape 39"/>
          <p:cNvSpPr/>
          <p:nvPr/>
        </p:nvSpPr>
        <p:spPr>
          <a:xfrm>
            <a:off x="5349240" y="3300984"/>
            <a:ext cx="182880" cy="182880"/>
          </a:xfrm>
          <a:prstGeom prst="rect">
            <a:avLst/>
          </a:prstGeom>
          <a:solidFill>
            <a:srgbClr val="F28C28"/>
          </a:solidFill>
          <a:ln w="15875">
            <a:solidFill>
              <a:srgbClr val="F28C28"/>
            </a:solidFill>
            <a:prstDash val="solid"/>
          </a:ln>
        </p:spPr>
        <p:txBody>
          <a:bodyPr/>
          <a:lstStyle/>
          <a:p>
            <a:pPr algn="ctr"/>
            <a:r>
              <a:rPr sz="900" b="1">
                <a:solidFill>
                  <a:srgbClr val="FFFFFF"/>
                </a:solidFill>
              </a:rPr>
              <a:t>✓</a:t>
            </a:r>
          </a:p>
        </p:txBody>
      </p:sp>
      <p:sp>
        <p:nvSpPr>
          <p:cNvPr id="42" name="Text 40"/>
          <p:cNvSpPr txBox="1"/>
          <p:nvPr/>
        </p:nvSpPr>
        <p:spPr>
          <a:xfrm>
            <a:off x="5669280" y="3273552"/>
            <a:ext cx="2926080" cy="256032"/>
          </a:xfrm>
          <a:prstGeom prst="rect">
            <a:avLst/>
          </a:prstGeom>
          <a:noFill/>
          <a:ln/>
        </p:spPr>
        <p:txBody>
          <a:bodyPr wrap="square" lIns="0" tIns="0" rIns="0" bIns="0" rtlCol="0" anchor="t"/>
          <a:lstStyle/>
          <a:p>
            <a:pPr marL="0" indent="0">
              <a:buNone/>
            </a:pPr>
            <a:r>
              <a:rPr lang="en-US" sz="1050" dirty="0" i="0" b="1">
                <a:solidFill>
                  <a:srgbClr val="2F3A56"/>
                </a:solidFill>
                <a:latin typeface="Nirmala UI" pitchFamily="34" charset="0"/>
                <a:ea typeface="Nirmala UI" pitchFamily="34" charset="-122"/>
                <a:cs typeface="Nirmala UI" pitchFamily="34" charset="-120"/>
              </a:rPr>
              <a:t>Testing, certification or IP support</a:t>
            </a:r>
          </a:p>
        </p:txBody>
      </p:sp>
      <p:sp>
        <p:nvSpPr>
          <p:cNvPr id="43" name="Text 41"/>
          <p:cNvSpPr txBox="1"/>
          <p:nvPr/>
        </p:nvSpPr>
        <p:spPr>
          <a:xfrm>
            <a:off x="5303520" y="3703320"/>
            <a:ext cx="3200400" cy="548640"/>
          </a:xfrm>
          <a:prstGeom prst="rect">
            <a:avLst/>
          </a:prstGeom>
          <a:noFill/>
          <a:ln/>
        </p:spPr>
        <p:txBody>
          <a:bodyPr wrap="square" lIns="0" tIns="0" rIns="0" bIns="0" rtlCol="0" anchor="t"/>
          <a:lstStyle/>
          <a:p>
            <a:pPr marL="0" indent="0">
              <a:buNone/>
            </a:pPr>
            <a:r>
              <a:rPr lang="en-US" sz="950" i="0" dirty="0">
                <a:solidFill>
                  <a:srgbClr val="2F3A56"/>
                </a:solidFill>
                <a:latin typeface="Nirmala UI" pitchFamily="34" charset="0"/>
                <a:ea typeface="Nirmala UI" pitchFamily="34" charset="-122"/>
                <a:cs typeface="Nirmala UI" pitchFamily="34" charset="-120"/>
              </a:rPr>
              <a:t>With security mentorship and one supervised pilot, we can move from a tested prototype to a measured trial of whether NyaySaakshya helps investigators avoid unsupported conclusions.</a:t>
            </a:r>
          </a:p>
        </p:txBody>
      </p:sp>
      <p:sp>
        <p:nvSpPr>
          <p:cNvPr id="44" name="Text 42"/>
          <p:cNvSpPr txBox="1"/>
          <p:nvPr/>
        </p:nvSpPr>
        <p:spPr>
          <a:xfrm>
            <a:off x="457200" y="4206240"/>
            <a:ext cx="4389120" cy="274320"/>
          </a:xfrm>
          <a:prstGeom prst="rect">
            <a:avLst/>
          </a:prstGeom>
          <a:noFill/>
          <a:ln/>
        </p:spPr>
        <p:txBody>
          <a:bodyPr wrap="square" lIns="0" tIns="0" rIns="0" bIns="0" rtlCol="0" anchor="t"/>
          <a:lstStyle/>
          <a:p>
            <a:pPr marL="0" indent="0">
              <a:buNone/>
            </a:pPr>
            <a:r>
              <a:rPr lang="en-US" sz="1100" b="1" dirty="0" i="0">
                <a:solidFill>
                  <a:srgbClr val="F28C28"/>
                </a:solidFill>
                <a:latin typeface="Nirmala UI" pitchFamily="34" charset="0"/>
                <a:ea typeface="Nirmala UI" pitchFamily="34" charset="-122"/>
                <a:cs typeface="Nirmala UI" pitchFamily="34" charset="-120"/>
              </a:rPr>
              <a:t>Thank you  |  Siddhant Hiralal Patil</a:t>
            </a:r>
          </a:p>
        </p:txBody>
      </p:sp>
      <p:sp>
        <p:nvSpPr>
          <p:cNvPr id="45" name="Text 43"/>
          <p:cNvSpPr txBox="1"/>
          <p:nvPr/>
        </p:nvSpPr>
        <p:spPr>
          <a:xfrm>
            <a:off x="5486400" y="4846320"/>
            <a:ext cx="3200400" cy="182880"/>
          </a:xfrm>
          <a:prstGeom prst="rect">
            <a:avLst/>
          </a:prstGeom>
          <a:noFill/>
          <a:ln/>
        </p:spPr>
        <p:txBody>
          <a:bodyPr wrap="square" lIns="0" tIns="0" rIns="0" bIns="0" rtlCol="0" anchor="t"/>
          <a:lstStyle/>
          <a:p>
            <a:pPr marL="0" indent="0" algn="r">
              <a:buNone/>
            </a:pPr>
            <a:r>
              <a:rPr lang="en-US" sz="800" dirty="0">
                <a:solidFill>
                  <a:srgbClr val="C9D2EC"/>
                </a:solidFill>
                <a:latin typeface="Nirmala UI" pitchFamily="34" charset="0"/>
                <a:ea typeface="Nirmala UI" pitchFamily="34" charset="-122"/>
                <a:cs typeface="Nirmala UI" pitchFamily="34" charset="-120"/>
              </a:rPr>
              <a:t>Seva Innovation Challenge 2026  |  Slide 6 of 6</a:t>
            </a:r>
            <a:endParaRPr lang="en-US" sz="800" dirty="0"/>
          </a:p>
        </p:txBody>
      </p:sp>
      <p:sp>
        <p:nvSpPr>
          <p:cNvPr id="9" name="Text 7"/>
          <p:cNvSpPr txBox="1"/>
          <p:nvPr/>
        </p:nvSpPr>
        <p:spPr>
          <a:xfrm>
            <a:off x="658368" y="2807208"/>
            <a:ext cx="4023360" cy="274320"/>
          </a:xfrm>
          <a:prstGeom prst="rect">
            <a:avLst/>
          </a:prstGeom>
          <a:noFill/>
          <a:ln/>
        </p:spPr>
        <p:txBody>
          <a:bodyPr wrap="square" lIns="0" tIns="0" rIns="0" bIns="0" rtlCol="0" anchor="t"/>
          <a:lstStyle/>
          <a:p>
            <a:pPr marL="0" indent="0">
              <a:buNone/>
            </a:pPr>
            <a:r>
              <a:rPr lang="en-US" sz="1200" b="1" dirty="0" i="0">
                <a:solidFill>
                  <a:srgbClr val="FFFFFF"/>
                </a:solidFill>
                <a:latin typeface="Nirmala UI" pitchFamily="34" charset="0"/>
                <a:ea typeface="Nirmala UI" pitchFamily="34" charset="-122"/>
                <a:cs typeface="Nirmala UI" pitchFamily="34" charset="-120"/>
              </a:rPr>
              <a:t>Individual application</a:t>
            </a:r>
          </a:p>
        </p:txBody>
      </p:sp>
      <p:sp>
        <p:nvSpPr>
          <p:cNvPr id="11" name="Text 9"/>
          <p:cNvSpPr txBox="1"/>
          <p:nvPr/>
        </p:nvSpPr>
        <p:spPr>
          <a:xfrm>
            <a:off x="658368" y="3108960"/>
            <a:ext cx="4023360" cy="914400"/>
          </a:xfrm>
          <a:prstGeom prst="rect">
            <a:avLst/>
          </a:prstGeom>
          <a:noFill/>
          <a:ln/>
        </p:spPr>
        <p:txBody>
          <a:bodyPr wrap="square" lIns="0" tIns="0" rIns="0" bIns="0" rtlCol="0" anchor="t"/>
          <a:lstStyle/>
          <a:p>
            <a:pPr marL="0" indent="0">
              <a:spcAft>
                <a:spcPts val="400"/>
              </a:spcAft>
              <a:buNone/>
            </a:pPr>
            <a:r>
              <a:rPr lang="en-US" sz="900" i="0" dirty="0">
                <a:solidFill>
                  <a:srgbClr val="DCE3F5"/>
                </a:solidFill>
                <a:latin typeface="Nirmala UI" pitchFamily="34" charset="0"/>
                <a:ea typeface="Nirmala UI" pitchFamily="34" charset="-122"/>
                <a:cs typeface="Nirmala UI" pitchFamily="34" charset="-120"/>
              </a:rPr>
              <a:t>No other team member, mentor, partner or funder is named.</a:t>
            </a:r>
          </a:p>
          <a:p>
            <a:pPr marL="0" indent="0">
              <a:spcAft>
                <a:spcPts val="400"/>
              </a:spcAft>
              <a:buNone/>
            </a:pPr>
            <a:r>
              <a:rPr lang="en-US" sz="900" i="0" dirty="0">
                <a:solidFill>
                  <a:srgbClr val="DCE3F5"/>
                </a:solidFill>
                <a:latin typeface="Nirmala UI" pitchFamily="34" charset="0"/>
                <a:ea typeface="Nirmala UI" pitchFamily="34" charset="-122"/>
                <a:cs typeface="Nirmala UI" pitchFamily="34" charset="-120"/>
              </a:rPr>
              <a:t>Evidence of work to date: 1,521 automated tests and 98 controlled captures (internal validation; see slide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1008</Words>
  <Application>Microsoft Office PowerPoint</Application>
  <PresentationFormat>On-screen Show (16:9)</PresentationFormat>
  <Paragraphs>138</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Nirmala UI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Seva Innovation Challenge – Reference Pitch Deck</dc:title>
  <dc:subject>PptxGenJS Presentation</dc:subject>
  <dc:creator>PptxGenJS</dc:creator>
  <cp:lastModifiedBy>ceo_ispark@mssu.ac.in</cp:lastModifiedBy>
  <cp:revision>4</cp:revision>
  <dcterms:created xsi:type="dcterms:W3CDTF">2026-09-23T13:40:13Z</dcterms:created>
  <dcterms:modified xsi:type="dcterms:W3CDTF">2026-09-23T13:46:30Z</dcterms:modified>
</cp:coreProperties>
</file>