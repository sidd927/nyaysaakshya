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07423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and basis. Screens: the NyaySaakshya console running locally on 15 Oct 2026, uploading two synthetic lab captures (a multi-session SMTP capture with plaintext authentication, and a capture that ends inside a TLS handshake). Sector and sub-theme are as listed on the Seva Maharashtra-zone portal. The sub-theme names financial-crime intelligence; NyaySaakshya supports the evidence-handling step and does not itself provide intelligence or determine that fraud occurred.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Failure modes: RFC 3207 (SMTP STARTTLS, Feb 2002) notes that an active attacker can delete the '250 STARTTLS' response, and the same bytes arise when a server does not support STARTTLS. RFC 8446 (TLS 1.3) encrypts the server certificate, so a passive capture cannot show it. Context figure: PIB backgrounder 'Curbing Cyber Frauds in Digital India', 7 Oct 2025: through CFCFRMS financial institutions saved more than Rs 5,489 crore in over 17.82 lakh complaints; the period is not stated. The share involving email is not published, so none is claimed.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Architecture as implemented (backend pipeline module): upload, SHA-256 and validation, read-only TShark dissection, session reconstruction with STARTTLS/TLS state, evidence extraction, 16 single-session and 3 cross-session rules, posture engine (score or withheld), then JSON/HTML/PDF reports rendered from the stored assessment. An optional anomaly lane is off by default and cannot change a finding, band, score or coverage. Evidence states and abstention are shown from a real local run on a synthetic capture. NIST SP 800-52 Rev. 2 (Guidelines for the Selection, Configuration, and Use of TLS Implementations). Comparison basis, documentation read 15 Oct 2026: Wireshark user guide (Expert Information) and TLS wiki; Zeek SMTP::Info (a tls true/false field); NetworkMiner product page (extracts files, emails and credentials from PCAPs; not designed to decrypt). No benchmark was run against these tools and no speed or accuracy comparison is made.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Basis. Internal validation record: 98 controlled captures (10 sessions from real Postfix and Dovecot software run in a lab, 6 OpenSSL handshakes, 82 crafted by in-project generators; no real-world traffic); 1,521 automated tests; identical results on repeat runs for 98 of 98 captures. No real-world or third-party traffic has been evaluated and no false-positive or false-negative rates are claimed. The security gaps listed are the known blockers for any pilot. Timeline items are proposals, not commitments. No hosting or implementation cost is stated because none has been verified.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Basis. No beneficiary, saving or jobs figure is claimed: there is no measured baseline and no pilot. SDG 16 target 16.a (United Nations): strengthen relevant national institutions to prevent violence and combat terrorism and crime. The adoption path and the local-processing model are proposals. Third-party components: TShark/Wireshark (GPL-2.0-or-later, used as a separate program), FastAPI and React (MIT), ReportLab (BSD).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Individual application, team size 1; name as shown on the portal. No other team member, mentor, partner or funder is named. Support ticks are the applicant's request; incubation is not requested.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C"/>
        </a:solidFill>
        <a:effectLst/>
      </p:bgPr>
    </p:bg>
    <p:spTree>
      <p:nvGrpSpPr>
        <p:cNvPr id="1" name=""/>
        <p:cNvGrpSpPr/>
        <p:nvPr/>
      </p:nvGrpSpPr>
      <p:grpSpPr>
        <a:xfrm>
          <a:off x="0" y="0"/>
          <a:ext cx="0" cy="0"/>
          <a:chOff x="0" y="0"/>
          <a:chExt cx="0" cy="0"/>
        </a:xfrm>
      </p:grpSpPr>
      <p:sp>
        <p:nvSpPr>
          <p:cNvPr id="2" name="Text 0"/>
          <p:cNvSpPr txBox="1"/>
          <p:nvPr/>
        </p:nvSpPr>
        <p:spPr>
          <a:xfrm>
            <a:off x="457200" y="365760"/>
            <a:ext cx="8229600" cy="274320"/>
          </a:xfrm>
          <a:prstGeom prst="rect">
            <a:avLst/>
          </a:prstGeom>
          <a:noFill/>
          <a:ln/>
        </p:spPr>
        <p:txBody>
          <a:bodyPr wrap="square" lIns="0" tIns="0" rIns="0" bIns="0" rtlCol="0" anchor="t"/>
          <a:lstStyle/>
          <a:p>
            <a:pPr marL="0" indent="0">
              <a:buNone/>
            </a:pPr>
            <a:r>
              <a:rPr lang="en-US" sz="1000" b="1" kern="0" spc="200" dirty="0">
                <a:solidFill>
                  <a:srgbClr val="F28C28"/>
                </a:solidFill>
                <a:latin typeface="Nirmala UI" pitchFamily="34" charset="0"/>
                <a:ea typeface="Nirmala UI" pitchFamily="34" charset="-122"/>
                <a:cs typeface="Nirmala UI" pitchFamily="34" charset="-120"/>
              </a:rPr>
              <a:t>SEVA INNOVATION CHALLENGE 2026  •  MAHARASHTRA ZONE</a:t>
            </a:r>
            <a:endParaRPr lang="en-US" sz="1000" dirty="0"/>
          </a:p>
        </p:txBody>
      </p:sp>
      <p:sp>
        <p:nvSpPr>
          <p:cNvPr id="3" name="Text 1"/>
          <p:cNvSpPr txBox="1"/>
          <p:nvPr/>
        </p:nvSpPr>
        <p:spPr>
          <a:xfrm>
            <a:off x="457200" y="713232"/>
            <a:ext cx="4206240" cy="685800"/>
          </a:xfrm>
          <a:prstGeom prst="rect">
            <a:avLst/>
          </a:prstGeom>
          <a:noFill/>
          <a:ln/>
        </p:spPr>
        <p:txBody>
          <a:bodyPr wrap="square" lIns="0" tIns="0" rIns="0" bIns="0" rtlCol="0" anchor="t"/>
          <a:lstStyle/>
          <a:p>
            <a:pPr marL="0" indent="0">
              <a:buNone/>
            </a:pPr>
            <a:r>
              <a:rPr lang="en-US" sz="2800" b="1" dirty="0">
                <a:solidFill>
                  <a:srgbClr val="FFFFFF"/>
                </a:solidFill>
                <a:latin typeface="Nirmala UI" pitchFamily="34" charset="0"/>
                <a:ea typeface="Nirmala UI" pitchFamily="34" charset="-122"/>
                <a:cs typeface="Nirmala UI" pitchFamily="34" charset="-120"/>
              </a:rPr>
              <a:t>NyaySaakshya</a:t>
            </a:r>
            <a:endParaRPr lang="en-US" sz="2800" dirty="0"/>
          </a:p>
        </p:txBody>
      </p:sp>
      <p:sp>
        <p:nvSpPr>
          <p:cNvPr id="17" name="Shape 15"/>
          <p:cNvSpPr/>
          <p:nvPr/>
        </p:nvSpPr>
        <p:spPr>
          <a:xfrm>
            <a:off x="4846320" y="822960"/>
            <a:ext cx="3840480" cy="3931920"/>
          </a:xfrm>
          <a:prstGeom prst="roundRect">
            <a:avLst>
              <a:gd name="adj" fmla="val 3226"/>
            </a:avLst>
          </a:prstGeom>
          <a:solidFill>
            <a:srgbClr val="253870"/>
          </a:solidFill>
          <a:ln w="12700">
            <a:solidFill>
              <a:srgbClr val="253870"/>
            </a:solidFill>
            <a:prstDash val="solid"/>
          </a:ln>
        </p:spPr>
        <p:txBody>
          <a:bodyPr/>
          <a:lstStyle/>
          <a:p>
            <a:endParaRPr lang="en-IN"/>
          </a:p>
        </p:txBody>
      </p:sp>
      <p:sp>
        <p:nvSpPr>
          <p:cNvPr id="18" name="TextBox 17"/>
          <p:cNvSpPr txBox="1"/>
          <p:nvPr/>
        </p:nvSpPr>
        <p:spPr>
          <a:xfrm>
            <a:off x="457200" y="1481328"/>
            <a:ext cx="4206240" cy="640080"/>
          </a:xfrm>
          <a:prstGeom prst="rect">
            <a:avLst/>
          </a:prstGeom>
          <a:noFill/>
        </p:spPr>
        <p:txBody>
          <a:bodyPr wrap="square" lIns="0" rIns="0" tIns="0" bIns="0" anchor="t">
            <a:spAutoFit/>
          </a:bodyPr>
          <a:lstStyle/>
          <a:p>
            <a:pPr marL="0" indent="0">
              <a:spcAft>
                <a:spcPts val="0"/>
              </a:spcAft>
              <a:buNone/>
            </a:pPr>
            <a:r>
              <a:rPr sz="1700" b="1" i="0">
                <a:solidFill>
                  <a:srgbClr val="FFFFFF"/>
                </a:solidFill>
                <a:latin typeface="Nirmala UI"/>
              </a:rPr>
              <a:t>Know what an email-traffic capture proves, and what it cannot.</a:t>
            </a:r>
          </a:p>
        </p:txBody>
      </p:sp>
      <p:sp>
        <p:nvSpPr>
          <p:cNvPr id="19" name="TextBox 18"/>
          <p:cNvSpPr txBox="1"/>
          <p:nvPr/>
        </p:nvSpPr>
        <p:spPr>
          <a:xfrm>
            <a:off x="457200" y="2212848"/>
            <a:ext cx="4160520" cy="914400"/>
          </a:xfrm>
          <a:prstGeom prst="rect">
            <a:avLst/>
          </a:prstGeom>
          <a:noFill/>
        </p:spPr>
        <p:txBody>
          <a:bodyPr wrap="square" lIns="0" rIns="0" tIns="0" bIns="0" anchor="t">
            <a:spAutoFit/>
          </a:bodyPr>
          <a:lstStyle/>
          <a:p>
            <a:pPr marL="0" indent="0">
              <a:spcAft>
                <a:spcPts val="0"/>
              </a:spcAft>
              <a:buNone/>
            </a:pPr>
            <a:r>
              <a:rPr sz="1050" b="0" i="0">
                <a:solidFill>
                  <a:srgbClr val="DCE3F5"/>
                </a:solidFill>
                <a:latin typeface="Nirmala UI"/>
              </a:rPr>
              <a:t>A working prototype for forensic triage of saved email-traffic captures. Each issue it reports cites the packets behind it. When a capture cannot support a score, NyaySaakshya says so. It does not detect fraud or identify suspects.</a:t>
            </a:r>
          </a:p>
        </p:txBody>
      </p:sp>
      <p:sp>
        <p:nvSpPr>
          <p:cNvPr id="20" name="TextBox 19"/>
          <p:cNvSpPr txBox="1"/>
          <p:nvPr/>
        </p:nvSpPr>
        <p:spPr>
          <a:xfrm>
            <a:off x="457200" y="3310128"/>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Applicant</a:t>
            </a:r>
          </a:p>
        </p:txBody>
      </p:sp>
      <p:sp>
        <p:nvSpPr>
          <p:cNvPr id="21" name="TextBox 20"/>
          <p:cNvSpPr txBox="1"/>
          <p:nvPr/>
        </p:nvSpPr>
        <p:spPr>
          <a:xfrm>
            <a:off x="1325880" y="3310128"/>
            <a:ext cx="3291840" cy="246888"/>
          </a:xfrm>
          <a:prstGeom prst="rect">
            <a:avLst/>
          </a:prstGeom>
          <a:noFill/>
        </p:spPr>
        <p:txBody>
          <a:bodyPr wrap="square" lIns="0" rIns="0" tIns="0" bIns="0" anchor="t">
            <a:spAutoFit/>
          </a:bodyPr>
          <a:lstStyle/>
          <a:p>
            <a:pPr marL="0" indent="0">
              <a:spcAft>
                <a:spcPts val="0"/>
              </a:spcAft>
              <a:buNone/>
            </a:pPr>
            <a:r>
              <a:rPr sz="1000" b="1" i="0">
                <a:solidFill>
                  <a:srgbClr val="FFFFFF"/>
                </a:solidFill>
                <a:latin typeface="Nirmala UI"/>
              </a:rPr>
              <a:t>Siddhant Hiralal Patil</a:t>
            </a:r>
          </a:p>
        </p:txBody>
      </p:sp>
      <p:sp>
        <p:nvSpPr>
          <p:cNvPr id="22" name="TextBox 21"/>
          <p:cNvSpPr txBox="1"/>
          <p:nvPr/>
        </p:nvSpPr>
        <p:spPr>
          <a:xfrm>
            <a:off x="457200" y="3557016"/>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Application</a:t>
            </a:r>
          </a:p>
        </p:txBody>
      </p:sp>
      <p:sp>
        <p:nvSpPr>
          <p:cNvPr id="23" name="TextBox 22"/>
          <p:cNvSpPr txBox="1"/>
          <p:nvPr/>
        </p:nvSpPr>
        <p:spPr>
          <a:xfrm>
            <a:off x="1325880" y="3557016"/>
            <a:ext cx="3291840" cy="246888"/>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Individual (team size 1)</a:t>
            </a:r>
          </a:p>
        </p:txBody>
      </p:sp>
      <p:sp>
        <p:nvSpPr>
          <p:cNvPr id="24" name="TextBox 23"/>
          <p:cNvSpPr txBox="1"/>
          <p:nvPr/>
        </p:nvSpPr>
        <p:spPr>
          <a:xfrm>
            <a:off x="457200" y="3803904"/>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Sector</a:t>
            </a:r>
          </a:p>
        </p:txBody>
      </p:sp>
      <p:sp>
        <p:nvSpPr>
          <p:cNvPr id="25" name="TextBox 24"/>
          <p:cNvSpPr txBox="1"/>
          <p:nvPr/>
        </p:nvSpPr>
        <p:spPr>
          <a:xfrm>
            <a:off x="1325880" y="3803904"/>
            <a:ext cx="3291840" cy="246888"/>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Law and Order</a:t>
            </a:r>
          </a:p>
        </p:txBody>
      </p:sp>
      <p:sp>
        <p:nvSpPr>
          <p:cNvPr id="26" name="TextBox 25"/>
          <p:cNvSpPr txBox="1"/>
          <p:nvPr/>
        </p:nvSpPr>
        <p:spPr>
          <a:xfrm>
            <a:off x="457200" y="4050791"/>
            <a:ext cx="868680" cy="393192"/>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Sub-theme</a:t>
            </a:r>
          </a:p>
        </p:txBody>
      </p:sp>
      <p:sp>
        <p:nvSpPr>
          <p:cNvPr id="27" name="TextBox 26"/>
          <p:cNvSpPr txBox="1"/>
          <p:nvPr/>
        </p:nvSpPr>
        <p:spPr>
          <a:xfrm>
            <a:off x="1325880" y="4050791"/>
            <a:ext cx="3291840" cy="393192"/>
          </a:xfrm>
          <a:prstGeom prst="rect">
            <a:avLst/>
          </a:prstGeom>
          <a:noFill/>
        </p:spPr>
        <p:txBody>
          <a:bodyPr wrap="square" lIns="0" rIns="0" tIns="0" bIns="0" anchor="t">
            <a:spAutoFit/>
          </a:bodyPr>
          <a:lstStyle/>
          <a:p>
            <a:pPr marL="0" indent="0">
              <a:spcAft>
                <a:spcPts val="0"/>
              </a:spcAft>
              <a:buNone/>
            </a:pPr>
            <a:r>
              <a:rPr sz="1000" b="0" i="0">
                <a:solidFill>
                  <a:srgbClr val="DCE3F5"/>
                </a:solidFill>
                <a:latin typeface="Nirmala UI"/>
              </a:rPr>
              <a:t>Cyber-fraud, digital extortion and financial-crime intelligence</a:t>
            </a:r>
          </a:p>
        </p:txBody>
      </p:sp>
      <p:sp>
        <p:nvSpPr>
          <p:cNvPr id="28" name="TextBox 27"/>
          <p:cNvSpPr txBox="1"/>
          <p:nvPr/>
        </p:nvSpPr>
        <p:spPr>
          <a:xfrm>
            <a:off x="457200" y="4443983"/>
            <a:ext cx="868680" cy="246888"/>
          </a:xfrm>
          <a:prstGeom prst="rect">
            <a:avLst/>
          </a:prstGeom>
          <a:noFill/>
        </p:spPr>
        <p:txBody>
          <a:bodyPr wrap="square" lIns="0" rIns="0" tIns="0" bIns="0" anchor="t">
            <a:spAutoFit/>
          </a:bodyPr>
          <a:lstStyle/>
          <a:p>
            <a:pPr marL="0" indent="0">
              <a:spcAft>
                <a:spcPts val="0"/>
              </a:spcAft>
              <a:buNone/>
            </a:pPr>
            <a:r>
              <a:rPr sz="950" b="0" i="0">
                <a:solidFill>
                  <a:srgbClr val="C9D2EC"/>
                </a:solidFill>
                <a:latin typeface="Nirmala UI"/>
              </a:rPr>
              <a:t>Stage</a:t>
            </a:r>
          </a:p>
        </p:txBody>
      </p:sp>
      <p:sp>
        <p:nvSpPr>
          <p:cNvPr id="29" name="TextBox 28"/>
          <p:cNvSpPr txBox="1"/>
          <p:nvPr/>
        </p:nvSpPr>
        <p:spPr>
          <a:xfrm>
            <a:off x="1325880" y="4443983"/>
            <a:ext cx="3291840" cy="246888"/>
          </a:xfrm>
          <a:prstGeom prst="rect">
            <a:avLst/>
          </a:prstGeom>
          <a:noFill/>
        </p:spPr>
        <p:txBody>
          <a:bodyPr wrap="square" lIns="0" rIns="0" tIns="0" bIns="0" anchor="t">
            <a:spAutoFit/>
          </a:bodyPr>
          <a:lstStyle/>
          <a:p>
            <a:pPr marL="0" indent="0">
              <a:spcAft>
                <a:spcPts val="0"/>
              </a:spcAft>
              <a:buNone/>
            </a:pPr>
            <a:r>
              <a:rPr sz="1000" b="1" i="0">
                <a:solidFill>
                  <a:srgbClr val="FFFFFF"/>
                </a:solidFill>
                <a:latin typeface="Nirmala UI"/>
              </a:rPr>
              <a:t>Working Prototype</a:t>
            </a:r>
            <a:r>
              <a:rPr sz="1000" b="0" i="0">
                <a:solidFill>
                  <a:srgbClr val="DCE3F5"/>
                </a:solidFill>
                <a:latin typeface="Nirmala UI"/>
              </a:rPr>
              <a:t>: lab-validated, no external pilot</a:t>
            </a:r>
          </a:p>
        </p:txBody>
      </p:sp>
      <p:sp>
        <p:nvSpPr>
          <p:cNvPr id="30" name="TextBox 29"/>
          <p:cNvSpPr txBox="1"/>
          <p:nvPr/>
        </p:nvSpPr>
        <p:spPr>
          <a:xfrm>
            <a:off x="5010912" y="932688"/>
            <a:ext cx="3566160" cy="228600"/>
          </a:xfrm>
          <a:prstGeom prst="rect">
            <a:avLst/>
          </a:prstGeom>
          <a:noFill/>
        </p:spPr>
        <p:txBody>
          <a:bodyPr wrap="square" lIns="0" rIns="0" tIns="0" bIns="0" anchor="t">
            <a:spAutoFit/>
          </a:bodyPr>
          <a:lstStyle/>
          <a:p>
            <a:pPr marL="0" indent="0">
              <a:spcAft>
                <a:spcPts val="0"/>
              </a:spcAft>
              <a:buNone/>
            </a:pPr>
            <a:r>
              <a:rPr sz="950" b="1" i="0">
                <a:solidFill>
                  <a:srgbClr val="F28C28"/>
                </a:solidFill>
                <a:latin typeface="Nirmala UI"/>
              </a:rPr>
              <a:t>Real output of the current build, synthetic lab captures</a:t>
            </a:r>
          </a:p>
        </p:txBody>
      </p:sp>
      <p:pic>
        <p:nvPicPr>
          <p:cNvPr id="31" name="Picture 30" descr="screen_scored.png"/>
          <p:cNvPicPr>
            <a:picLocks noChangeAspect="1"/>
          </p:cNvPicPr>
          <p:nvPr/>
        </p:nvPicPr>
        <p:blipFill>
          <a:blip r:embed="rId3"/>
          <a:stretch>
            <a:fillRect/>
          </a:stretch>
        </p:blipFill>
        <p:spPr>
          <a:xfrm>
            <a:off x="5010912" y="1225296"/>
            <a:ext cx="3511296" cy="1165321"/>
          </a:xfrm>
          <a:prstGeom prst="rect">
            <a:avLst/>
          </a:prstGeom>
        </p:spPr>
      </p:pic>
      <p:sp>
        <p:nvSpPr>
          <p:cNvPr id="32" name="TextBox 31"/>
          <p:cNvSpPr txBox="1"/>
          <p:nvPr/>
        </p:nvSpPr>
        <p:spPr>
          <a:xfrm>
            <a:off x="5010912" y="2445480"/>
            <a:ext cx="3511296" cy="365760"/>
          </a:xfrm>
          <a:prstGeom prst="rect">
            <a:avLst/>
          </a:prstGeom>
          <a:noFill/>
        </p:spPr>
        <p:txBody>
          <a:bodyPr wrap="square" lIns="0" rIns="0" tIns="0" bIns="0" anchor="t">
            <a:spAutoFit/>
          </a:bodyPr>
          <a:lstStyle/>
          <a:p>
            <a:pPr marL="0" indent="0">
              <a:spcAft>
                <a:spcPts val="0"/>
              </a:spcAft>
              <a:buNone/>
            </a:pPr>
            <a:r>
              <a:rPr sz="950" b="0" i="0">
                <a:solidFill>
                  <a:srgbClr val="DCE3F5"/>
                </a:solidFill>
                <a:latin typeface="Nirmala UI"/>
              </a:rPr>
              <a:t>Enough evidence: a score, with the rule, standard and packet it rests on</a:t>
            </a:r>
          </a:p>
        </p:txBody>
      </p:sp>
      <p:pic>
        <p:nvPicPr>
          <p:cNvPr id="33" name="Picture 32" descr="screen_withheld.png"/>
          <p:cNvPicPr>
            <a:picLocks noChangeAspect="1"/>
          </p:cNvPicPr>
          <p:nvPr/>
        </p:nvPicPr>
        <p:blipFill>
          <a:blip r:embed="rId4"/>
          <a:stretch>
            <a:fillRect/>
          </a:stretch>
        </p:blipFill>
        <p:spPr>
          <a:xfrm>
            <a:off x="5010912" y="2847816"/>
            <a:ext cx="3511296" cy="1308431"/>
          </a:xfrm>
          <a:prstGeom prst="rect">
            <a:avLst/>
          </a:prstGeom>
        </p:spPr>
      </p:pic>
      <p:sp>
        <p:nvSpPr>
          <p:cNvPr id="34" name="TextBox 33"/>
          <p:cNvSpPr txBox="1"/>
          <p:nvPr/>
        </p:nvSpPr>
        <p:spPr>
          <a:xfrm>
            <a:off x="5010912" y="4211111"/>
            <a:ext cx="3511296" cy="365760"/>
          </a:xfrm>
          <a:prstGeom prst="rect">
            <a:avLst/>
          </a:prstGeom>
          <a:noFill/>
        </p:spPr>
        <p:txBody>
          <a:bodyPr wrap="square" lIns="0" rIns="0" tIns="0" bIns="0" anchor="t">
            <a:spAutoFit/>
          </a:bodyPr>
          <a:lstStyle/>
          <a:p>
            <a:pPr marL="0" indent="0">
              <a:spcAft>
                <a:spcPts val="0"/>
              </a:spcAft>
              <a:buNone/>
            </a:pPr>
            <a:r>
              <a:rPr sz="950" b="0" i="0">
                <a:solidFill>
                  <a:srgbClr val="DCE3F5"/>
                </a:solidFill>
                <a:latin typeface="Nirmala UI"/>
              </a:rPr>
              <a:t>Not enough evidence: no score, and the reason is stated</a:t>
            </a:r>
          </a:p>
        </p:txBody>
      </p:sp>
      <p:sp>
        <p:nvSpPr>
          <p:cNvPr id="35" name="TextBox 34"/>
          <p:cNvSpPr txBox="1"/>
          <p:nvPr/>
        </p:nvSpPr>
        <p:spPr>
          <a:xfrm>
            <a:off x="5010912" y="4443984"/>
            <a:ext cx="3511296" cy="228600"/>
          </a:xfrm>
          <a:prstGeom prst="rect">
            <a:avLst/>
          </a:prstGeom>
          <a:noFill/>
        </p:spPr>
        <p:txBody>
          <a:bodyPr wrap="square" lIns="0" rIns="0" tIns="0" bIns="0" anchor="t">
            <a:spAutoFit/>
          </a:bodyPr>
          <a:lstStyle/>
          <a:p>
            <a:pPr marL="0" indent="0">
              <a:spcAft>
                <a:spcPts val="0"/>
              </a:spcAft>
              <a:buNone/>
            </a:pPr>
            <a:r>
              <a:rPr sz="850" b="0" i="1">
                <a:solidFill>
                  <a:srgbClr val="C9D2EC"/>
                </a:solidFill>
                <a:latin typeface="Nirmala UI"/>
              </a:rPr>
              <a:t>Cropped from the working console; not edited.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2</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The Problem</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A capture can show less than it seems to. Reading too much into it can undermine the finding built on it.</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2 of 6</a:t>
            </a:r>
            <a:endParaRPr lang="en-US" sz="800" dirty="0"/>
          </a:p>
        </p:txBody>
      </p:sp>
      <p:sp>
        <p:nvSpPr>
          <p:cNvPr id="7" name="TextBox 6"/>
          <p:cNvSpPr txBox="1"/>
          <p:nvPr/>
        </p:nvSpPr>
        <p:spPr>
          <a:xfrm>
            <a:off x="457200" y="1152144"/>
            <a:ext cx="5486400" cy="256032"/>
          </a:xfrm>
          <a:prstGeom prst="rect">
            <a:avLst/>
          </a:prstGeom>
          <a:noFill/>
        </p:spPr>
        <p:txBody>
          <a:bodyPr wrap="square" lIns="0" rIns="0" tIns="0" bIns="0" anchor="t">
            <a:spAutoFit/>
          </a:bodyPr>
          <a:lstStyle/>
          <a:p>
            <a:pPr marL="0" indent="0">
              <a:spcAft>
                <a:spcPts val="0"/>
              </a:spcAft>
              <a:buNone/>
            </a:pPr>
            <a:r>
              <a:rPr sz="1250" b="1" i="0">
                <a:solidFill>
                  <a:srgbClr val="1B2A5C"/>
                </a:solidFill>
                <a:latin typeface="Nirmala UI"/>
              </a:rPr>
              <a:t>Three ways a capture can mislead an investigator</a:t>
            </a:r>
          </a:p>
        </p:txBody>
      </p:sp>
      <p:sp>
        <p:nvSpPr>
          <p:cNvPr id="8" name="TextBox 7"/>
          <p:cNvSpPr txBox="1"/>
          <p:nvPr/>
        </p:nvSpPr>
        <p:spPr>
          <a:xfrm>
            <a:off x="621792" y="1463040"/>
            <a:ext cx="160020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What the capture shows</a:t>
            </a:r>
          </a:p>
        </p:txBody>
      </p:sp>
      <p:sp>
        <p:nvSpPr>
          <p:cNvPr id="9" name="TextBox 8"/>
          <p:cNvSpPr txBox="1"/>
          <p:nvPr/>
        </p:nvSpPr>
        <p:spPr>
          <a:xfrm>
            <a:off x="2423160" y="1463040"/>
            <a:ext cx="146304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Easy to conclude</a:t>
            </a:r>
          </a:p>
        </p:txBody>
      </p:sp>
      <p:sp>
        <p:nvSpPr>
          <p:cNvPr id="10" name="TextBox 9"/>
          <p:cNvSpPr txBox="1"/>
          <p:nvPr/>
        </p:nvSpPr>
        <p:spPr>
          <a:xfrm>
            <a:off x="4069080" y="1463040"/>
            <a:ext cx="1828800" cy="201168"/>
          </a:xfrm>
          <a:prstGeom prst="rect">
            <a:avLst/>
          </a:prstGeom>
          <a:noFill/>
        </p:spPr>
        <p:txBody>
          <a:bodyPr wrap="square" lIns="0" rIns="0" tIns="0" bIns="0" anchor="t">
            <a:spAutoFit/>
          </a:bodyPr>
          <a:lstStyle/>
          <a:p>
            <a:pPr marL="0" indent="0">
              <a:spcAft>
                <a:spcPts val="0"/>
              </a:spcAft>
              <a:buNone/>
            </a:pPr>
            <a:r>
              <a:rPr sz="900" b="1" i="0">
                <a:solidFill>
                  <a:srgbClr val="6B7280"/>
                </a:solidFill>
                <a:latin typeface="Nirmala UI"/>
              </a:rPr>
              <a:t>What it actually supports</a:t>
            </a:r>
          </a:p>
        </p:txBody>
      </p:sp>
      <p:sp>
        <p:nvSpPr>
          <p:cNvPr id="11" name="Rounded Rectangle 10"/>
          <p:cNvSpPr/>
          <p:nvPr/>
        </p:nvSpPr>
        <p:spPr>
          <a:xfrm>
            <a:off x="457200" y="1700784"/>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700784"/>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700784"/>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It ends before the TLS handshake finishes</a:t>
            </a:r>
          </a:p>
        </p:txBody>
      </p:sp>
      <p:sp>
        <p:nvSpPr>
          <p:cNvPr id="14" name="TextBox 13"/>
          <p:cNvSpPr txBox="1"/>
          <p:nvPr/>
        </p:nvSpPr>
        <p:spPr>
          <a:xfrm>
            <a:off x="2423160" y="1700784"/>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No encryption was used</a:t>
            </a:r>
          </a:p>
        </p:txBody>
      </p:sp>
      <p:sp>
        <p:nvSpPr>
          <p:cNvPr id="15" name="TextBox 14"/>
          <p:cNvSpPr txBox="1"/>
          <p:nvPr/>
        </p:nvSpPr>
        <p:spPr>
          <a:xfrm>
            <a:off x="4069080" y="1700784"/>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Incomplete: the capture stops before the answer is known</a:t>
            </a:r>
          </a:p>
        </p:txBody>
      </p:sp>
      <p:sp>
        <p:nvSpPr>
          <p:cNvPr id="16" name="Rounded Rectangle 15"/>
          <p:cNvSpPr/>
          <p:nvPr/>
        </p:nvSpPr>
        <p:spPr>
          <a:xfrm>
            <a:off x="457200" y="2560320"/>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560320"/>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2560320"/>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The server never offers STARTTLS</a:t>
            </a:r>
          </a:p>
        </p:txBody>
      </p:sp>
      <p:sp>
        <p:nvSpPr>
          <p:cNvPr id="19" name="TextBox 18"/>
          <p:cNvSpPr txBox="1"/>
          <p:nvPr/>
        </p:nvSpPr>
        <p:spPr>
          <a:xfrm>
            <a:off x="2423160" y="2560320"/>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Someone stripped the encryption</a:t>
            </a:r>
          </a:p>
        </p:txBody>
      </p:sp>
      <p:sp>
        <p:nvSpPr>
          <p:cNvPr id="20" name="TextBox 19"/>
          <p:cNvSpPr txBox="1"/>
          <p:nvPr/>
        </p:nvSpPr>
        <p:spPr>
          <a:xfrm>
            <a:off x="4069080" y="2560320"/>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Ambiguous: genuine non-support and stripping look identical in the bytes</a:t>
            </a:r>
          </a:p>
        </p:txBody>
      </p:sp>
      <p:sp>
        <p:nvSpPr>
          <p:cNvPr id="21" name="Rounded Rectangle 20"/>
          <p:cNvSpPr/>
          <p:nvPr/>
        </p:nvSpPr>
        <p:spPr>
          <a:xfrm>
            <a:off x="457200" y="3419856"/>
            <a:ext cx="5532120" cy="786384"/>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419856"/>
            <a:ext cx="54864" cy="786384"/>
          </a:xfrm>
          <a:prstGeom prst="rect">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3419856"/>
            <a:ext cx="1600200" cy="786384"/>
          </a:xfrm>
          <a:prstGeom prst="rect">
            <a:avLst/>
          </a:prstGeom>
          <a:noFill/>
        </p:spPr>
        <p:txBody>
          <a:bodyPr wrap="square" lIns="0" rIns="0" tIns="0" bIns="0" anchor="ctr">
            <a:spAutoFit/>
          </a:bodyPr>
          <a:lstStyle/>
          <a:p>
            <a:pPr marL="0" indent="0">
              <a:spcAft>
                <a:spcPts val="0"/>
              </a:spcAft>
              <a:buNone/>
            </a:pPr>
            <a:r>
              <a:rPr sz="1000" b="1" i="0">
                <a:solidFill>
                  <a:srgbClr val="1B2A5C"/>
                </a:solidFill>
                <a:latin typeface="Nirmala UI"/>
              </a:rPr>
              <a:t>TLS 1.3 encrypts the server certificate</a:t>
            </a:r>
          </a:p>
        </p:txBody>
      </p:sp>
      <p:sp>
        <p:nvSpPr>
          <p:cNvPr id="24" name="TextBox 23"/>
          <p:cNvSpPr txBox="1"/>
          <p:nvPr/>
        </p:nvSpPr>
        <p:spPr>
          <a:xfrm>
            <a:off x="2423160" y="3419856"/>
            <a:ext cx="1463040" cy="786384"/>
          </a:xfrm>
          <a:prstGeom prst="rect">
            <a:avLst/>
          </a:prstGeom>
          <a:noFill/>
        </p:spPr>
        <p:txBody>
          <a:bodyPr wrap="square" lIns="0" rIns="0" tIns="0" bIns="0" anchor="ctr">
            <a:spAutoFit/>
          </a:bodyPr>
          <a:lstStyle/>
          <a:p>
            <a:pPr marL="0" indent="0">
              <a:spcAft>
                <a:spcPts val="0"/>
              </a:spcAft>
              <a:buNone/>
            </a:pPr>
            <a:r>
              <a:rPr sz="1000" b="0" i="0">
                <a:solidFill>
                  <a:srgbClr val="B4531B"/>
                </a:solidFill>
                <a:latin typeface="Nirmala UI"/>
              </a:rPr>
              <a:t>The certificate is invalid</a:t>
            </a:r>
          </a:p>
        </p:txBody>
      </p:sp>
      <p:sp>
        <p:nvSpPr>
          <p:cNvPr id="25" name="TextBox 24"/>
          <p:cNvSpPr txBox="1"/>
          <p:nvPr/>
        </p:nvSpPr>
        <p:spPr>
          <a:xfrm>
            <a:off x="4069080" y="3419856"/>
            <a:ext cx="1828800" cy="786384"/>
          </a:xfrm>
          <a:prstGeom prst="rect">
            <a:avLst/>
          </a:prstGeom>
          <a:noFill/>
        </p:spPr>
        <p:txBody>
          <a:bodyPr wrap="square" lIns="0" rIns="0" tIns="0" bIns="0" anchor="ctr">
            <a:spAutoFit/>
          </a:bodyPr>
          <a:lstStyle/>
          <a:p>
            <a:pPr marL="0" indent="0">
              <a:spcAft>
                <a:spcPts val="0"/>
              </a:spcAft>
              <a:buNone/>
            </a:pPr>
            <a:r>
              <a:rPr sz="1000" b="0" i="0">
                <a:solidFill>
                  <a:srgbClr val="2F3A56"/>
                </a:solidFill>
                <a:latin typeface="Nirmala UI"/>
              </a:rPr>
              <a:t>Not observable in a passive capture</a:t>
            </a:r>
          </a:p>
        </p:txBody>
      </p:sp>
      <p:sp>
        <p:nvSpPr>
          <p:cNvPr id="26" name="Rounded Rectangle 25"/>
          <p:cNvSpPr/>
          <p:nvPr/>
        </p:nvSpPr>
        <p:spPr>
          <a:xfrm>
            <a:off x="6217920" y="1152144"/>
            <a:ext cx="2468880" cy="3090672"/>
          </a:xfrm>
          <a:prstGeom prst="roundRect">
            <a:avLst>
              <a:gd name="adj" fmla="val 4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82512" y="1280160"/>
            <a:ext cx="2148840" cy="2880360"/>
          </a:xfrm>
          <a:prstGeom prst="rect">
            <a:avLst/>
          </a:prstGeom>
          <a:noFill/>
        </p:spPr>
        <p:txBody>
          <a:bodyPr wrap="square" lIns="0" rIns="0" tIns="0" bIns="0" anchor="t">
            <a:spAutoFit/>
          </a:bodyPr>
          <a:lstStyle/>
          <a:p>
            <a:pPr marL="0" indent="0">
              <a:spcAft>
                <a:spcPts val="300"/>
              </a:spcAft>
              <a:buNone/>
            </a:pPr>
            <a:r>
              <a:rPr sz="1150" b="1" i="0">
                <a:solidFill>
                  <a:srgbClr val="F28C28"/>
                </a:solidFill>
                <a:latin typeface="Nirmala UI"/>
              </a:rPr>
              <a:t>Why it matters</a:t>
            </a:r>
          </a:p>
          <a:p>
            <a:pPr marL="0" indent="0">
              <a:spcAft>
                <a:spcPts val="300"/>
              </a:spcAft>
              <a:buNone/>
            </a:pPr>
            <a:r>
              <a:rPr sz="1000" b="0" i="0">
                <a:solidFill>
                  <a:srgbClr val="FFFFFF"/>
                </a:solidFill>
                <a:latin typeface="Nirmala UI"/>
              </a:rPr>
              <a:t>A conclusion the evidence cannot support is a weak foundation for a case.</a:t>
            </a:r>
          </a:p>
          <a:p>
            <a:pPr marL="0" indent="0">
              <a:spcAft>
                <a:spcPts val="300"/>
              </a:spcAft>
              <a:buNone/>
            </a:pPr>
            <a:r>
              <a:rPr sz="1150" b="1" i="0">
                <a:solidFill>
                  <a:srgbClr val="F28C28"/>
                </a:solidFill>
                <a:latin typeface="Nirmala UI"/>
              </a:rPr>
              <a:t>Who is affected</a:t>
            </a:r>
          </a:p>
          <a:p>
            <a:pPr marL="0" indent="0">
              <a:spcAft>
                <a:spcPts val="300"/>
              </a:spcAft>
              <a:buNone/>
            </a:pPr>
            <a:r>
              <a:rPr sz="1000" b="0" i="0">
                <a:solidFill>
                  <a:srgbClr val="FFFFFF"/>
                </a:solidFill>
                <a:latin typeface="Nirmala UI"/>
              </a:rPr>
              <a:t>Cyber-cell and forensic investigators and their supervisors. Proposed first users: a Maharashtra cyber cell or forensic lab; no partner has agreed.</a:t>
            </a:r>
          </a:p>
          <a:p>
            <a:pPr marL="0" indent="0">
              <a:spcAft>
                <a:spcPts val="300"/>
              </a:spcAft>
              <a:buNone/>
            </a:pPr>
            <a:r>
              <a:rPr sz="1150" b="1" i="0">
                <a:solidFill>
                  <a:srgbClr val="F28C28"/>
                </a:solidFill>
                <a:latin typeface="Nirmala UI"/>
              </a:rPr>
              <a:t>The gap today</a:t>
            </a:r>
          </a:p>
          <a:p>
            <a:pPr marL="0" indent="0">
              <a:spcAft>
                <a:spcPts val="300"/>
              </a:spcAft>
              <a:buNone/>
            </a:pPr>
            <a:r>
              <a:rPr sz="1000" b="0" i="0">
                <a:solidFill>
                  <a:srgbClr val="FFFFFF"/>
                </a:solidFill>
                <a:latin typeface="Nirmala UI"/>
              </a:rPr>
              <a:t>Packet tools show packets. Deciding what is safe to conclude is manual and hard to repeat.</a:t>
            </a:r>
          </a:p>
          <a:p>
            <a:pPr marL="0" indent="0">
              <a:spcAft>
                <a:spcPts val="300"/>
              </a:spcAft>
              <a:buNone/>
            </a:pPr>
            <a:r>
              <a:rPr sz="1150" b="1" i="0">
                <a:solidFill>
                  <a:srgbClr val="F28C28"/>
                </a:solidFill>
                <a:latin typeface="Nirmala UI"/>
              </a:rPr>
              <a:t>Not yet known</a:t>
            </a:r>
          </a:p>
          <a:p>
            <a:pPr marL="0" indent="0">
              <a:spcAft>
                <a:spcPts val="300"/>
              </a:spcAft>
              <a:buNone/>
            </a:pPr>
            <a:r>
              <a:rPr sz="1000" b="0" i="0">
                <a:solidFill>
                  <a:srgbClr val="FFFFFF"/>
                </a:solidFill>
                <a:latin typeface="Nirmala UI"/>
              </a:rPr>
              <a:t>How often investigators meet such captures. None consulted yet.</a:t>
            </a:r>
          </a:p>
        </p:txBody>
      </p:sp>
      <p:sp>
        <p:nvSpPr>
          <p:cNvPr id="28" name="Rounded Rectangle 27"/>
          <p:cNvSpPr/>
          <p:nvPr/>
        </p:nvSpPr>
        <p:spPr>
          <a:xfrm>
            <a:off x="457200" y="4334256"/>
            <a:ext cx="8229600" cy="457200"/>
          </a:xfrm>
          <a:prstGeom prst="roundRect">
            <a:avLst>
              <a:gd name="adj" fmla="val 10000"/>
            </a:avLst>
          </a:prstGeom>
          <a:solidFill>
            <a:srgbClr val="E8E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4334256"/>
            <a:ext cx="7909560" cy="457200"/>
          </a:xfrm>
          <a:prstGeom prst="rect">
            <a:avLst/>
          </a:prstGeom>
          <a:noFill/>
        </p:spPr>
        <p:txBody>
          <a:bodyPr wrap="square" lIns="0" rIns="0" tIns="0" bIns="0" anchor="ctr">
            <a:spAutoFit/>
          </a:bodyPr>
          <a:lstStyle/>
          <a:p>
            <a:pPr marL="0" indent="0">
              <a:spcAft>
                <a:spcPts val="0"/>
              </a:spcAft>
              <a:buNone/>
            </a:pPr>
            <a:r>
              <a:rPr sz="900" b="1" i="0">
                <a:solidFill>
                  <a:srgbClr val="2F3A56"/>
                </a:solidFill>
                <a:latin typeface="Nirmala UI"/>
              </a:rPr>
              <a:t>Context only: </a:t>
            </a:r>
            <a:r>
              <a:rPr sz="900" b="0" i="0">
                <a:solidFill>
                  <a:srgbClr val="2F3A56"/>
                </a:solidFill>
                <a:latin typeface="Nirmala UI"/>
              </a:rPr>
              <a:t>PIB (7 Oct 2025) cites over 17.82 lakh complaints in the national CFCFRMS cyber-fraud system; period not stated. It is not email-specific, and we make no claim about how many cases involve email.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3</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Our Solution &amp; Innovation</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Every fact is labelled by how strongly the capture supports it. If it cannot support a score, none is given.</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3 of 6</a:t>
            </a:r>
            <a:endParaRPr lang="en-US" sz="800" dirty="0"/>
          </a:p>
        </p:txBody>
      </p:sp>
      <p:sp>
        <p:nvSpPr>
          <p:cNvPr id="7" name="Rounded Rectangle 6"/>
          <p:cNvSpPr/>
          <p:nvPr/>
        </p:nvSpPr>
        <p:spPr>
          <a:xfrm>
            <a:off x="457200"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Capture</a:t>
            </a:r>
          </a:p>
        </p:txBody>
      </p:sp>
      <p:sp>
        <p:nvSpPr>
          <p:cNvPr id="9" name="TextBox 8"/>
          <p:cNvSpPr txBox="1"/>
          <p:nvPr/>
        </p:nvSpPr>
        <p:spPr>
          <a:xfrm>
            <a:off x="530352"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Web upload of a PCAP or PCAPNG; SHA-256 recorded</a:t>
            </a:r>
          </a:p>
        </p:txBody>
      </p:sp>
      <p:sp>
        <p:nvSpPr>
          <p:cNvPr id="10" name="TextBox 9"/>
          <p:cNvSpPr txBox="1"/>
          <p:nvPr/>
        </p:nvSpPr>
        <p:spPr>
          <a:xfrm>
            <a:off x="1709928"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1" name="Rounded Rectangle 10"/>
          <p:cNvSpPr/>
          <p:nvPr/>
        </p:nvSpPr>
        <p:spPr>
          <a:xfrm>
            <a:off x="1852574"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25726"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TShark parse</a:t>
            </a:r>
          </a:p>
        </p:txBody>
      </p:sp>
      <p:sp>
        <p:nvSpPr>
          <p:cNvPr id="13" name="TextBox 12"/>
          <p:cNvSpPr txBox="1"/>
          <p:nvPr/>
        </p:nvSpPr>
        <p:spPr>
          <a:xfrm>
            <a:off x="1925726"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Read-only. No live capture, no decryption</a:t>
            </a:r>
          </a:p>
        </p:txBody>
      </p:sp>
      <p:sp>
        <p:nvSpPr>
          <p:cNvPr id="14" name="TextBox 13"/>
          <p:cNvSpPr txBox="1"/>
          <p:nvPr/>
        </p:nvSpPr>
        <p:spPr>
          <a:xfrm>
            <a:off x="3105302"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5" name="Rounded Rectangle 14"/>
          <p:cNvSpPr/>
          <p:nvPr/>
        </p:nvSpPr>
        <p:spPr>
          <a:xfrm>
            <a:off x="3247948"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21100"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Sessions</a:t>
            </a:r>
          </a:p>
        </p:txBody>
      </p:sp>
      <p:sp>
        <p:nvSpPr>
          <p:cNvPr id="17" name="TextBox 16"/>
          <p:cNvSpPr txBox="1"/>
          <p:nvPr/>
        </p:nvSpPr>
        <p:spPr>
          <a:xfrm>
            <a:off x="3321100"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Sessions rebuilt; every fact gets an evidence state</a:t>
            </a:r>
          </a:p>
        </p:txBody>
      </p:sp>
      <p:sp>
        <p:nvSpPr>
          <p:cNvPr id="18" name="TextBox 17"/>
          <p:cNvSpPr txBox="1"/>
          <p:nvPr/>
        </p:nvSpPr>
        <p:spPr>
          <a:xfrm>
            <a:off x="4500676"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19" name="Rounded Rectangle 18"/>
          <p:cNvSpPr/>
          <p:nvPr/>
        </p:nvSpPr>
        <p:spPr>
          <a:xfrm>
            <a:off x="4643323"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16475"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Rules</a:t>
            </a:r>
          </a:p>
        </p:txBody>
      </p:sp>
      <p:sp>
        <p:nvSpPr>
          <p:cNvPr id="21" name="TextBox 20"/>
          <p:cNvSpPr txBox="1"/>
          <p:nvPr/>
        </p:nvSpPr>
        <p:spPr>
          <a:xfrm>
            <a:off x="4716475"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19 versioned rules cited to RFC or NIST. No AI in verdicts</a:t>
            </a:r>
          </a:p>
        </p:txBody>
      </p:sp>
      <p:sp>
        <p:nvSpPr>
          <p:cNvPr id="22" name="TextBox 21"/>
          <p:cNvSpPr txBox="1"/>
          <p:nvPr/>
        </p:nvSpPr>
        <p:spPr>
          <a:xfrm>
            <a:off x="5896051"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23" name="Rounded Rectangle 22"/>
          <p:cNvSpPr/>
          <p:nvPr/>
        </p:nvSpPr>
        <p:spPr>
          <a:xfrm>
            <a:off x="6038697"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11849"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Posture</a:t>
            </a:r>
          </a:p>
        </p:txBody>
      </p:sp>
      <p:sp>
        <p:nvSpPr>
          <p:cNvPr id="25" name="TextBox 24"/>
          <p:cNvSpPr txBox="1"/>
          <p:nvPr/>
        </p:nvSpPr>
        <p:spPr>
          <a:xfrm>
            <a:off x="6111849"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A score, or Not scored when evidence is thin</a:t>
            </a:r>
          </a:p>
        </p:txBody>
      </p:sp>
      <p:sp>
        <p:nvSpPr>
          <p:cNvPr id="26" name="TextBox 25"/>
          <p:cNvSpPr txBox="1"/>
          <p:nvPr/>
        </p:nvSpPr>
        <p:spPr>
          <a:xfrm>
            <a:off x="7291425" y="1371600"/>
            <a:ext cx="142646" cy="274320"/>
          </a:xfrm>
          <a:prstGeom prst="rect">
            <a:avLst/>
          </a:prstGeom>
          <a:noFill/>
        </p:spPr>
        <p:txBody>
          <a:bodyPr wrap="square" lIns="0" rIns="0" tIns="0" bIns="0" anchor="t">
            <a:spAutoFit/>
          </a:bodyPr>
          <a:lstStyle/>
          <a:p>
            <a:pPr algn="ctr" marL="0" indent="0">
              <a:spcAft>
                <a:spcPts val="0"/>
              </a:spcAft>
              <a:buNone/>
            </a:pPr>
            <a:r>
              <a:rPr sz="1400" b="1" i="0">
                <a:solidFill>
                  <a:srgbClr val="F28C28"/>
                </a:solidFill>
                <a:latin typeface="Nirmala UI"/>
              </a:rPr>
              <a:t>›</a:t>
            </a:r>
          </a:p>
        </p:txBody>
      </p:sp>
      <p:sp>
        <p:nvSpPr>
          <p:cNvPr id="27" name="Rounded Rectangle 26"/>
          <p:cNvSpPr/>
          <p:nvPr/>
        </p:nvSpPr>
        <p:spPr>
          <a:xfrm>
            <a:off x="7434071" y="1152144"/>
            <a:ext cx="1252728" cy="768096"/>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7223" y="1188720"/>
            <a:ext cx="1106424" cy="201168"/>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Reports</a:t>
            </a:r>
          </a:p>
        </p:txBody>
      </p:sp>
      <p:sp>
        <p:nvSpPr>
          <p:cNvPr id="29" name="TextBox 28"/>
          <p:cNvSpPr txBox="1"/>
          <p:nvPr/>
        </p:nvSpPr>
        <p:spPr>
          <a:xfrm>
            <a:off x="7507223" y="1408176"/>
            <a:ext cx="1106424" cy="502920"/>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JSON, HTML, PDF with packet citations</a:t>
            </a:r>
          </a:p>
        </p:txBody>
      </p:sp>
      <p:sp>
        <p:nvSpPr>
          <p:cNvPr id="30" name="TextBox 29"/>
          <p:cNvSpPr txBox="1"/>
          <p:nvPr/>
        </p:nvSpPr>
        <p:spPr>
          <a:xfrm>
            <a:off x="457200" y="2011680"/>
            <a:ext cx="3931920" cy="237744"/>
          </a:xfrm>
          <a:prstGeom prst="rect">
            <a:avLst/>
          </a:prstGeom>
          <a:noFill/>
        </p:spPr>
        <p:txBody>
          <a:bodyPr wrap="square" lIns="0" rIns="0" tIns="0" bIns="0" anchor="t">
            <a:spAutoFit/>
          </a:bodyPr>
          <a:lstStyle/>
          <a:p>
            <a:pPr marL="0" indent="0">
              <a:spcAft>
                <a:spcPts val="0"/>
              </a:spcAft>
              <a:buNone/>
            </a:pPr>
            <a:r>
              <a:rPr sz="1200" b="1" i="0">
                <a:solidFill>
                  <a:srgbClr val="1B2A5C"/>
                </a:solidFill>
                <a:latin typeface="Nirmala UI"/>
              </a:rPr>
              <a:t>Six evidence states</a:t>
            </a:r>
          </a:p>
        </p:txBody>
      </p:sp>
      <p:sp>
        <p:nvSpPr>
          <p:cNvPr id="31" name="Rounded Rectangle 30"/>
          <p:cNvSpPr/>
          <p:nvPr/>
        </p:nvSpPr>
        <p:spPr>
          <a:xfrm>
            <a:off x="457200" y="2286000"/>
            <a:ext cx="1920240" cy="475488"/>
          </a:xfrm>
          <a:prstGeom prst="roundRect">
            <a:avLst>
              <a:gd name="adj" fmla="val 8000"/>
            </a:avLst>
          </a:prstGeom>
          <a:solidFill>
            <a:srgbClr val="1B2A5C"/>
          </a:solidFill>
          <a:ln w="1587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2322576"/>
            <a:ext cx="1783080" cy="182880"/>
          </a:xfrm>
          <a:prstGeom prst="rect">
            <a:avLst/>
          </a:prstGeom>
          <a:noFill/>
        </p:spPr>
        <p:txBody>
          <a:bodyPr wrap="square" lIns="0" rIns="0" tIns="0" bIns="0" anchor="t">
            <a:spAutoFit/>
          </a:bodyPr>
          <a:lstStyle/>
          <a:p>
            <a:pPr marL="0" indent="0">
              <a:spcAft>
                <a:spcPts val="0"/>
              </a:spcAft>
              <a:buNone/>
            </a:pPr>
            <a:r>
              <a:rPr sz="950" b="1" i="0">
                <a:solidFill>
                  <a:srgbClr val="FFFFFF"/>
                </a:solidFill>
                <a:latin typeface="Nirmala UI"/>
              </a:rPr>
              <a:t>OBSERVED</a:t>
            </a:r>
          </a:p>
        </p:txBody>
      </p:sp>
      <p:sp>
        <p:nvSpPr>
          <p:cNvPr id="33" name="TextBox 32"/>
          <p:cNvSpPr txBox="1"/>
          <p:nvPr/>
        </p:nvSpPr>
        <p:spPr>
          <a:xfrm>
            <a:off x="548640" y="2514600"/>
            <a:ext cx="1783080" cy="256032"/>
          </a:xfrm>
          <a:prstGeom prst="rect">
            <a:avLst/>
          </a:prstGeom>
          <a:noFill/>
        </p:spPr>
        <p:txBody>
          <a:bodyPr wrap="square" lIns="0" rIns="0" tIns="0" bIns="0" anchor="t">
            <a:spAutoFit/>
          </a:bodyPr>
          <a:lstStyle/>
          <a:p>
            <a:pPr marL="0" indent="0">
              <a:spcAft>
                <a:spcPts val="0"/>
              </a:spcAft>
              <a:buNone/>
            </a:pPr>
            <a:r>
              <a:rPr sz="850" b="0" i="0">
                <a:solidFill>
                  <a:srgbClr val="DCE3F5"/>
                </a:solidFill>
                <a:latin typeface="Nirmala UI"/>
              </a:rPr>
              <a:t>Seen directly in the captured bytes</a:t>
            </a:r>
          </a:p>
        </p:txBody>
      </p:sp>
      <p:sp>
        <p:nvSpPr>
          <p:cNvPr id="34" name="Rounded Rectangle 33"/>
          <p:cNvSpPr/>
          <p:nvPr/>
        </p:nvSpPr>
        <p:spPr>
          <a:xfrm>
            <a:off x="2468880" y="2286000"/>
            <a:ext cx="1920240" cy="475488"/>
          </a:xfrm>
          <a:prstGeom prst="roundRect">
            <a:avLst>
              <a:gd name="adj" fmla="val 8000"/>
            </a:avLst>
          </a:prstGeom>
          <a:solidFill>
            <a:srgbClr val="1B2A5C"/>
          </a:solidFill>
          <a:ln w="1587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60320" y="2322576"/>
            <a:ext cx="1783080" cy="182880"/>
          </a:xfrm>
          <a:prstGeom prst="rect">
            <a:avLst/>
          </a:prstGeom>
          <a:noFill/>
        </p:spPr>
        <p:txBody>
          <a:bodyPr wrap="square" lIns="0" rIns="0" tIns="0" bIns="0" anchor="t">
            <a:spAutoFit/>
          </a:bodyPr>
          <a:lstStyle/>
          <a:p>
            <a:pPr marL="0" indent="0">
              <a:spcAft>
                <a:spcPts val="0"/>
              </a:spcAft>
              <a:buNone/>
            </a:pPr>
            <a:r>
              <a:rPr sz="950" b="1" i="0">
                <a:solidFill>
                  <a:srgbClr val="FFFFFF"/>
                </a:solidFill>
                <a:latin typeface="Nirmala UI"/>
              </a:rPr>
              <a:t>INFERRED</a:t>
            </a:r>
          </a:p>
        </p:txBody>
      </p:sp>
      <p:sp>
        <p:nvSpPr>
          <p:cNvPr id="36" name="TextBox 35"/>
          <p:cNvSpPr txBox="1"/>
          <p:nvPr/>
        </p:nvSpPr>
        <p:spPr>
          <a:xfrm>
            <a:off x="2560320" y="2514600"/>
            <a:ext cx="1783080" cy="256032"/>
          </a:xfrm>
          <a:prstGeom prst="rect">
            <a:avLst/>
          </a:prstGeom>
          <a:noFill/>
        </p:spPr>
        <p:txBody>
          <a:bodyPr wrap="square" lIns="0" rIns="0" tIns="0" bIns="0" anchor="t">
            <a:spAutoFit/>
          </a:bodyPr>
          <a:lstStyle/>
          <a:p>
            <a:pPr marL="0" indent="0">
              <a:spcAft>
                <a:spcPts val="0"/>
              </a:spcAft>
              <a:buNone/>
            </a:pPr>
            <a:r>
              <a:rPr sz="850" b="0" i="0">
                <a:solidFill>
                  <a:srgbClr val="DCE3F5"/>
                </a:solidFill>
                <a:latin typeface="Nirmala UI"/>
              </a:rPr>
              <a:t>Deduced; the basis is stated</a:t>
            </a:r>
          </a:p>
        </p:txBody>
      </p:sp>
      <p:sp>
        <p:nvSpPr>
          <p:cNvPr id="37" name="Rounded Rectangle 36"/>
          <p:cNvSpPr/>
          <p:nvPr/>
        </p:nvSpPr>
        <p:spPr>
          <a:xfrm>
            <a:off x="457200" y="283464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287121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UNKNOWN</a:t>
            </a:r>
          </a:p>
        </p:txBody>
      </p:sp>
      <p:sp>
        <p:nvSpPr>
          <p:cNvPr id="39" name="TextBox 38"/>
          <p:cNvSpPr txBox="1"/>
          <p:nvPr/>
        </p:nvSpPr>
        <p:spPr>
          <a:xfrm>
            <a:off x="548640" y="306324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Too little evidence to decide</a:t>
            </a:r>
          </a:p>
        </p:txBody>
      </p:sp>
      <p:sp>
        <p:nvSpPr>
          <p:cNvPr id="40" name="Rounded Rectangle 39"/>
          <p:cNvSpPr/>
          <p:nvPr/>
        </p:nvSpPr>
        <p:spPr>
          <a:xfrm>
            <a:off x="2468880" y="283464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60320" y="287121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AMBIGUOUS</a:t>
            </a:r>
          </a:p>
        </p:txBody>
      </p:sp>
      <p:sp>
        <p:nvSpPr>
          <p:cNvPr id="42" name="TextBox 41"/>
          <p:cNvSpPr txBox="1"/>
          <p:nvPr/>
        </p:nvSpPr>
        <p:spPr>
          <a:xfrm>
            <a:off x="2560320" y="306324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More than one reading fits</a:t>
            </a:r>
          </a:p>
        </p:txBody>
      </p:sp>
      <p:sp>
        <p:nvSpPr>
          <p:cNvPr id="43" name="Rounded Rectangle 42"/>
          <p:cNvSpPr/>
          <p:nvPr/>
        </p:nvSpPr>
        <p:spPr>
          <a:xfrm>
            <a:off x="457200" y="338328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341985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INCOMPLETE</a:t>
            </a:r>
          </a:p>
        </p:txBody>
      </p:sp>
      <p:sp>
        <p:nvSpPr>
          <p:cNvPr id="45" name="TextBox 44"/>
          <p:cNvSpPr txBox="1"/>
          <p:nvPr/>
        </p:nvSpPr>
        <p:spPr>
          <a:xfrm>
            <a:off x="548640" y="361188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Capture is cut off at that point</a:t>
            </a:r>
          </a:p>
        </p:txBody>
      </p:sp>
      <p:sp>
        <p:nvSpPr>
          <p:cNvPr id="46" name="Rounded Rectangle 45"/>
          <p:cNvSpPr/>
          <p:nvPr/>
        </p:nvSpPr>
        <p:spPr>
          <a:xfrm>
            <a:off x="2468880" y="3383280"/>
            <a:ext cx="1920240" cy="475488"/>
          </a:xfrm>
          <a:prstGeom prst="roundRect">
            <a:avLst>
              <a:gd name="adj" fmla="val 8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560320" y="3419856"/>
            <a:ext cx="1783080" cy="182880"/>
          </a:xfrm>
          <a:prstGeom prst="rect">
            <a:avLst/>
          </a:prstGeom>
          <a:noFill/>
        </p:spPr>
        <p:txBody>
          <a:bodyPr wrap="square" lIns="0" rIns="0" tIns="0" bIns="0" anchor="t">
            <a:spAutoFit/>
          </a:bodyPr>
          <a:lstStyle/>
          <a:p>
            <a:pPr marL="0" indent="0">
              <a:spcAft>
                <a:spcPts val="0"/>
              </a:spcAft>
              <a:buNone/>
            </a:pPr>
            <a:r>
              <a:rPr sz="950" b="1" i="0">
                <a:solidFill>
                  <a:srgbClr val="B4531B"/>
                </a:solidFill>
                <a:latin typeface="Nirmala UI"/>
              </a:rPr>
              <a:t>NOT OBSERVABLE</a:t>
            </a:r>
          </a:p>
        </p:txBody>
      </p:sp>
      <p:sp>
        <p:nvSpPr>
          <p:cNvPr id="48" name="TextBox 47"/>
          <p:cNvSpPr txBox="1"/>
          <p:nvPr/>
        </p:nvSpPr>
        <p:spPr>
          <a:xfrm>
            <a:off x="2560320" y="3611880"/>
            <a:ext cx="1783080" cy="256032"/>
          </a:xfrm>
          <a:prstGeom prst="rect">
            <a:avLst/>
          </a:prstGeom>
          <a:noFill/>
        </p:spPr>
        <p:txBody>
          <a:bodyPr wrap="square" lIns="0" rIns="0" tIns="0" bIns="0" anchor="t">
            <a:spAutoFit/>
          </a:bodyPr>
          <a:lstStyle/>
          <a:p>
            <a:pPr marL="0" indent="0">
              <a:spcAft>
                <a:spcPts val="0"/>
              </a:spcAft>
              <a:buNone/>
            </a:pPr>
            <a:r>
              <a:rPr sz="850" b="0" i="0">
                <a:solidFill>
                  <a:srgbClr val="2F3A56"/>
                </a:solidFill>
                <a:latin typeface="Nirmala UI"/>
              </a:rPr>
              <a:t>Cannot be seen passively</a:t>
            </a:r>
          </a:p>
        </p:txBody>
      </p:sp>
      <p:sp>
        <p:nvSpPr>
          <p:cNvPr id="49" name="TextBox 48"/>
          <p:cNvSpPr txBox="1"/>
          <p:nvPr/>
        </p:nvSpPr>
        <p:spPr>
          <a:xfrm>
            <a:off x="457200" y="3904487"/>
            <a:ext cx="3931920" cy="182880"/>
          </a:xfrm>
          <a:prstGeom prst="rect">
            <a:avLst/>
          </a:prstGeom>
          <a:noFill/>
        </p:spPr>
        <p:txBody>
          <a:bodyPr wrap="square" lIns="0" rIns="0" tIns="0" bIns="0" anchor="t">
            <a:spAutoFit/>
          </a:bodyPr>
          <a:lstStyle/>
          <a:p>
            <a:pPr marL="0" indent="0">
              <a:spcAft>
                <a:spcPts val="0"/>
              </a:spcAft>
              <a:buNone/>
            </a:pPr>
            <a:r>
              <a:rPr sz="900" b="1" i="0">
                <a:solidFill>
                  <a:srgbClr val="1B2A5C"/>
                </a:solidFill>
                <a:latin typeface="Nirmala UI"/>
              </a:rPr>
              <a:t>Navy</a:t>
            </a:r>
            <a:r>
              <a:rPr sz="900" b="0" i="0">
                <a:solidFill>
                  <a:srgbClr val="2F3A56"/>
                </a:solidFill>
                <a:latin typeface="Nirmala UI"/>
              </a:rPr>
              <a:t>: can support a conclusion.  </a:t>
            </a:r>
            <a:r>
              <a:rPr sz="900" b="1" i="0">
                <a:solidFill>
                  <a:srgbClr val="B4531B"/>
                </a:solidFill>
                <a:latin typeface="Nirmala UI"/>
              </a:rPr>
              <a:t>Orange</a:t>
            </a:r>
            <a:r>
              <a:rPr sz="900" b="0" i="0">
                <a:solidFill>
                  <a:srgbClr val="2F3A56"/>
                </a:solidFill>
                <a:latin typeface="Nirmala UI"/>
              </a:rPr>
              <a:t>: cannot.</a:t>
            </a:r>
          </a:p>
        </p:txBody>
      </p:sp>
      <p:sp>
        <p:nvSpPr>
          <p:cNvPr id="50" name="TextBox 49"/>
          <p:cNvSpPr txBox="1"/>
          <p:nvPr/>
        </p:nvSpPr>
        <p:spPr>
          <a:xfrm>
            <a:off x="4709160" y="2011680"/>
            <a:ext cx="3977639" cy="237744"/>
          </a:xfrm>
          <a:prstGeom prst="rect">
            <a:avLst/>
          </a:prstGeom>
          <a:noFill/>
        </p:spPr>
        <p:txBody>
          <a:bodyPr wrap="square" lIns="0" rIns="0" tIns="0" bIns="0" anchor="t">
            <a:spAutoFit/>
          </a:bodyPr>
          <a:lstStyle/>
          <a:p>
            <a:pPr marL="0" indent="0">
              <a:spcAft>
                <a:spcPts val="0"/>
              </a:spcAft>
              <a:buNone/>
            </a:pPr>
            <a:r>
              <a:rPr sz="1200" b="1" i="0">
                <a:solidFill>
                  <a:srgbClr val="1B2A5C"/>
                </a:solidFill>
                <a:latin typeface="Nirmala UI"/>
              </a:rPr>
              <a:t>One finding, traced to its packets</a:t>
            </a:r>
          </a:p>
        </p:txBody>
      </p:sp>
      <p:sp>
        <p:nvSpPr>
          <p:cNvPr id="51" name="Rounded Rectangle 50"/>
          <p:cNvSpPr/>
          <p:nvPr/>
        </p:nvSpPr>
        <p:spPr>
          <a:xfrm>
            <a:off x="4709160" y="2286000"/>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18888" y="2286000"/>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Source</a:t>
            </a:r>
          </a:p>
        </p:txBody>
      </p:sp>
      <p:sp>
        <p:nvSpPr>
          <p:cNvPr id="53" name="TextBox 52"/>
          <p:cNvSpPr txBox="1"/>
          <p:nvPr/>
        </p:nvSpPr>
        <p:spPr>
          <a:xfrm>
            <a:off x="5440680" y="2286000"/>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Capture SHA-256 97b2b61a…; stream #0, 10.0.0.6 to 10.0.0.80:587</a:t>
            </a:r>
          </a:p>
        </p:txBody>
      </p:sp>
      <p:sp>
        <p:nvSpPr>
          <p:cNvPr id="54" name="Rounded Rectangle 53"/>
          <p:cNvSpPr/>
          <p:nvPr/>
        </p:nvSpPr>
        <p:spPr>
          <a:xfrm>
            <a:off x="4709160" y="2706624"/>
            <a:ext cx="3977639" cy="45720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18888" y="2706624"/>
            <a:ext cx="640080" cy="45720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Evidence</a:t>
            </a:r>
          </a:p>
        </p:txBody>
      </p:sp>
      <p:sp>
        <p:nvSpPr>
          <p:cNvPr id="56" name="TextBox 55"/>
          <p:cNvSpPr txBox="1"/>
          <p:nvPr/>
        </p:nvSpPr>
        <p:spPr>
          <a:xfrm>
            <a:off x="5440680" y="2706624"/>
            <a:ext cx="3154680" cy="45720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Frame #7: authentication activity = True (OBSERVED); TLS transition = False (OBSERVED)</a:t>
            </a:r>
          </a:p>
        </p:txBody>
      </p:sp>
      <p:sp>
        <p:nvSpPr>
          <p:cNvPr id="57" name="Rounded Rectangle 56"/>
          <p:cNvSpPr/>
          <p:nvPr/>
        </p:nvSpPr>
        <p:spPr>
          <a:xfrm>
            <a:off x="4709160" y="3218688"/>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818888" y="3218688"/>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Rule</a:t>
            </a:r>
          </a:p>
        </p:txBody>
      </p:sp>
      <p:sp>
        <p:nvSpPr>
          <p:cNvPr id="59" name="TextBox 58"/>
          <p:cNvSpPr txBox="1"/>
          <p:nvPr/>
        </p:nvSpPr>
        <p:spPr>
          <a:xfrm>
            <a:off x="5440680" y="3218688"/>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SEC-PLAIN-001, citing NIST SP 800-52 Rev. 2 section 3.1</a:t>
            </a:r>
          </a:p>
        </p:txBody>
      </p:sp>
      <p:sp>
        <p:nvSpPr>
          <p:cNvPr id="60" name="Rounded Rectangle 59"/>
          <p:cNvSpPr/>
          <p:nvPr/>
        </p:nvSpPr>
        <p:spPr>
          <a:xfrm>
            <a:off x="4709160" y="3639312"/>
            <a:ext cx="3977639" cy="365760"/>
          </a:xfrm>
          <a:prstGeom prst="roundRect">
            <a:avLst>
              <a:gd name="adj" fmla="val 8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818888" y="3639312"/>
            <a:ext cx="640080" cy="365760"/>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Finding</a:t>
            </a:r>
          </a:p>
        </p:txBody>
      </p:sp>
      <p:sp>
        <p:nvSpPr>
          <p:cNvPr id="62" name="TextBox 61"/>
          <p:cNvSpPr txBox="1"/>
          <p:nvPr/>
        </p:nvSpPr>
        <p:spPr>
          <a:xfrm>
            <a:off x="5440680" y="3639312"/>
            <a:ext cx="315468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Authentication activity without TLS protection: CONFIRMED</a:t>
            </a:r>
          </a:p>
        </p:txBody>
      </p:sp>
      <p:sp>
        <p:nvSpPr>
          <p:cNvPr id="63" name="TextBox 62"/>
          <p:cNvSpPr txBox="1"/>
          <p:nvPr/>
        </p:nvSpPr>
        <p:spPr>
          <a:xfrm>
            <a:off x="4709160" y="4059936"/>
            <a:ext cx="3977639" cy="18288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From a real run on a synthetic lab capture.</a:t>
            </a:r>
          </a:p>
        </p:txBody>
      </p:sp>
      <p:sp>
        <p:nvSpPr>
          <p:cNvPr id="64" name="Rounded Rectangle 63"/>
          <p:cNvSpPr/>
          <p:nvPr/>
        </p:nvSpPr>
        <p:spPr>
          <a:xfrm>
            <a:off x="457200" y="4224528"/>
            <a:ext cx="4572000" cy="566928"/>
          </a:xfrm>
          <a:prstGeom prst="roundRect">
            <a:avLst>
              <a:gd name="adj" fmla="val 10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94360" y="4224528"/>
            <a:ext cx="4343400" cy="566928"/>
          </a:xfrm>
          <a:prstGeom prst="rect">
            <a:avLst/>
          </a:prstGeom>
          <a:noFill/>
        </p:spPr>
        <p:txBody>
          <a:bodyPr wrap="square" lIns="0" rIns="0" tIns="0" bIns="0" anchor="ctr">
            <a:spAutoFit/>
          </a:bodyPr>
          <a:lstStyle/>
          <a:p>
            <a:pPr marL="0" indent="0">
              <a:spcAft>
                <a:spcPts val="0"/>
              </a:spcAft>
              <a:buNone/>
            </a:pPr>
            <a:r>
              <a:rPr sz="900" b="1" i="0">
                <a:solidFill>
                  <a:srgbClr val="F28C28"/>
                </a:solidFill>
                <a:latin typeface="Nirmala UI"/>
              </a:rPr>
              <a:t>Withholding a score is deliberate. </a:t>
            </a:r>
            <a:r>
              <a:rPr sz="900" b="0" i="0">
                <a:solidFill>
                  <a:srgbClr val="FFFFFF"/>
                </a:solidFill>
                <a:latin typeface="Nirmala UI"/>
              </a:rPr>
              <a:t>If no session can be assessed, or fewer than half yield a conclusion, the result is Not scored, with the reason. Blindness is never reported as safety.</a:t>
            </a:r>
          </a:p>
        </p:txBody>
      </p:sp>
      <p:sp>
        <p:nvSpPr>
          <p:cNvPr id="66" name="Rounded Rectangle 65"/>
          <p:cNvSpPr/>
          <p:nvPr/>
        </p:nvSpPr>
        <p:spPr>
          <a:xfrm>
            <a:off x="5138928" y="4224528"/>
            <a:ext cx="3547872" cy="566928"/>
          </a:xfrm>
          <a:prstGeom prst="roundRect">
            <a:avLst>
              <a:gd name="adj" fmla="val 10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257800" y="4224528"/>
            <a:ext cx="3337560" cy="566928"/>
          </a:xfrm>
          <a:prstGeom prst="rect">
            <a:avLst/>
          </a:prstGeom>
          <a:noFill/>
        </p:spPr>
        <p:txBody>
          <a:bodyPr wrap="square" lIns="0" rIns="0" tIns="0" bIns="0" anchor="ctr">
            <a:spAutoFit/>
          </a:bodyPr>
          <a:lstStyle/>
          <a:p>
            <a:pPr marL="0" indent="0">
              <a:spcAft>
                <a:spcPts val="0"/>
              </a:spcAft>
              <a:buNone/>
            </a:pPr>
            <a:r>
              <a:rPr sz="850" b="1" i="0">
                <a:solidFill>
                  <a:srgbClr val="1B2A5C"/>
                </a:solidFill>
                <a:latin typeface="Nirmala UI"/>
              </a:rPr>
              <a:t>How it differs: </a:t>
            </a:r>
            <a:r>
              <a:rPr sz="850" b="0" i="0">
                <a:solidFill>
                  <a:srgbClr val="2F3A56"/>
                </a:solidFill>
                <a:latin typeface="Nirmala UI"/>
              </a:rPr>
              <a:t>Wireshark, Zeek and NetworkMiner expose packets and fields. The documentation we reviewed does not describe per-fact evidence states (not proof they lack them). A design strength, not uniqueness.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4</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Feasibility &amp; Implementation</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A working prototype, tested internally, and an honest list of what a pilot would still need.</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4 of 6</a:t>
            </a:r>
            <a:endParaRPr lang="en-US" sz="800" dirty="0"/>
          </a:p>
        </p:txBody>
      </p:sp>
      <p:sp>
        <p:nvSpPr>
          <p:cNvPr id="7" name="Text 5"/>
          <p:cNvSpPr txBox="1"/>
          <p:nvPr/>
        </p:nvSpPr>
        <p:spPr>
          <a:xfrm>
            <a:off x="457200" y="1170432"/>
            <a:ext cx="8229600" cy="256032"/>
          </a:xfrm>
          <a:prstGeom prst="rect">
            <a:avLst/>
          </a:prstGeom>
          <a:noFill/>
          <a:ln/>
        </p:spPr>
        <p:txBody>
          <a:bodyPr wrap="square" lIns="0" tIns="0" rIns="0" bIns="0" rtlCol="0" anchor="t"/>
          <a:lstStyle/>
          <a:p>
            <a:pPr marL="0" indent="0">
              <a:buNone/>
            </a:pPr>
            <a:r>
              <a:rPr lang="en-US" sz="1150" b="1" dirty="0" i="0">
                <a:solidFill>
                  <a:srgbClr val="1B2A5C"/>
                </a:solidFill>
                <a:latin typeface="Nirmala UI" pitchFamily="34" charset="0"/>
                <a:ea typeface="Nirmala UI" pitchFamily="34" charset="-122"/>
                <a:cs typeface="Nirmala UI" pitchFamily="34" charset="-120"/>
              </a:rPr>
              <a:t>Current stage: Working Prototype (lab-validated; no external pilot)</a:t>
            </a:r>
            <a:endParaRPr lang="en-US" sz="1200" dirty="0"/>
          </a:p>
        </p:txBody>
      </p:sp>
      <p:sp>
        <p:nvSpPr>
          <p:cNvPr id="8" name="Shape 6"/>
          <p:cNvSpPr/>
          <p:nvPr/>
        </p:nvSpPr>
        <p:spPr>
          <a:xfrm>
            <a:off x="914400" y="1783080"/>
            <a:ext cx="7315200" cy="0"/>
          </a:xfrm>
          <a:prstGeom prst="line">
            <a:avLst/>
          </a:prstGeom>
          <a:noFill/>
          <a:ln w="25400">
            <a:solidFill>
              <a:srgbClr val="C3CAE0"/>
            </a:solidFill>
            <a:prstDash val="solid"/>
          </a:ln>
        </p:spPr>
        <p:txBody>
          <a:bodyPr/>
          <a:lstStyle/>
          <a:p>
            <a:endParaRPr lang="en-IN"/>
          </a:p>
        </p:txBody>
      </p:sp>
      <p:sp>
        <p:nvSpPr>
          <p:cNvPr id="9" name="Shape 7"/>
          <p:cNvSpPr/>
          <p:nvPr/>
        </p:nvSpPr>
        <p:spPr>
          <a:xfrm>
            <a:off x="7589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0" name="Text 8"/>
          <p:cNvSpPr txBox="1"/>
          <p:nvPr/>
        </p:nvSpPr>
        <p:spPr>
          <a:xfrm>
            <a:off x="1828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Idea</a:t>
            </a:r>
            <a:endParaRPr lang="en-US" sz="1000" dirty="0"/>
          </a:p>
        </p:txBody>
      </p:sp>
      <p:sp>
        <p:nvSpPr>
          <p:cNvPr id="11" name="Shape 9"/>
          <p:cNvSpPr/>
          <p:nvPr/>
        </p:nvSpPr>
        <p:spPr>
          <a:xfrm>
            <a:off x="25877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2" name="Text 10"/>
          <p:cNvSpPr txBox="1"/>
          <p:nvPr/>
        </p:nvSpPr>
        <p:spPr>
          <a:xfrm>
            <a:off x="20116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Proof of Concept</a:t>
            </a:r>
            <a:endParaRPr lang="en-US" sz="1000" dirty="0"/>
          </a:p>
        </p:txBody>
      </p:sp>
      <p:sp>
        <p:nvSpPr>
          <p:cNvPr id="13" name="Shape 11"/>
          <p:cNvSpPr/>
          <p:nvPr/>
        </p:nvSpPr>
        <p:spPr>
          <a:xfrm>
            <a:off x="4416552" y="1627632"/>
            <a:ext cx="310896" cy="310896"/>
          </a:xfrm>
          <a:prstGeom prst="ellipse">
            <a:avLst/>
          </a:prstGeom>
          <a:solidFill>
            <a:srgbClr val="F28C28"/>
          </a:solidFill>
          <a:ln w="25400">
            <a:solidFill>
              <a:srgbClr val="F28C28"/>
            </a:solidFill>
            <a:prstDash val="solid"/>
          </a:ln>
        </p:spPr>
        <p:txBody>
          <a:bodyPr/>
          <a:lstStyle/>
          <a:p>
            <a:pPr algn="ctr"/>
            <a:r>
              <a:rPr sz="1200" b="1">
                <a:solidFill>
                  <a:srgbClr val="FFFFFF"/>
                </a:solidFill>
                <a:latin typeface="Nirmala UI"/>
              </a:rPr>
              <a:t>✓</a:t>
            </a:r>
          </a:p>
        </p:txBody>
      </p:sp>
      <p:sp>
        <p:nvSpPr>
          <p:cNvPr id="14" name="Text 12"/>
          <p:cNvSpPr txBox="1"/>
          <p:nvPr/>
        </p:nvSpPr>
        <p:spPr>
          <a:xfrm>
            <a:off x="3840480" y="2011680"/>
            <a:ext cx="1463040" cy="228600"/>
          </a:xfrm>
          <a:prstGeom prst="rect">
            <a:avLst/>
          </a:prstGeom>
          <a:noFill/>
          <a:ln/>
        </p:spPr>
        <p:txBody>
          <a:bodyPr wrap="square" lIns="0" tIns="0" rIns="0" bIns="0" rtlCol="0" anchor="t"/>
          <a:lstStyle/>
          <a:p>
            <a:pPr marL="0" indent="0" algn="ctr">
              <a:buNone/>
            </a:pPr>
            <a:r>
              <a:rPr lang="en-US" sz="1000" b="1" dirty="0">
                <a:solidFill>
                  <a:srgbClr val="F28C28"/>
                </a:solidFill>
                <a:latin typeface="Nirmala UI" pitchFamily="34" charset="0"/>
                <a:ea typeface="Nirmala UI" pitchFamily="34" charset="-122"/>
                <a:cs typeface="Nirmala UI" pitchFamily="34" charset="-120"/>
              </a:rPr>
              <a:t>Working Prototype</a:t>
            </a:r>
            <a:endParaRPr lang="en-US" sz="1000" dirty="0"/>
          </a:p>
        </p:txBody>
      </p:sp>
      <p:sp>
        <p:nvSpPr>
          <p:cNvPr id="15" name="Shape 13"/>
          <p:cNvSpPr/>
          <p:nvPr/>
        </p:nvSpPr>
        <p:spPr>
          <a:xfrm>
            <a:off x="62453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6" name="Text 14"/>
          <p:cNvSpPr txBox="1"/>
          <p:nvPr/>
        </p:nvSpPr>
        <p:spPr>
          <a:xfrm>
            <a:off x="56692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Field Pilot</a:t>
            </a:r>
            <a:endParaRPr lang="en-US" sz="1000" dirty="0"/>
          </a:p>
        </p:txBody>
      </p:sp>
      <p:sp>
        <p:nvSpPr>
          <p:cNvPr id="17" name="Shape 15"/>
          <p:cNvSpPr/>
          <p:nvPr/>
        </p:nvSpPr>
        <p:spPr>
          <a:xfrm>
            <a:off x="8074152" y="1627632"/>
            <a:ext cx="310896" cy="310896"/>
          </a:xfrm>
          <a:prstGeom prst="ellipse">
            <a:avLst/>
          </a:prstGeom>
          <a:solidFill>
            <a:srgbClr val="FFFFFF"/>
          </a:solidFill>
          <a:ln w="25400">
            <a:solidFill>
              <a:srgbClr val="F28C28"/>
            </a:solidFill>
            <a:prstDash val="solid"/>
          </a:ln>
        </p:spPr>
        <p:txBody>
          <a:bodyPr/>
          <a:lstStyle/>
          <a:p>
            <a:endParaRPr lang="en-IN"/>
          </a:p>
        </p:txBody>
      </p:sp>
      <p:sp>
        <p:nvSpPr>
          <p:cNvPr id="18" name="Text 16"/>
          <p:cNvSpPr txBox="1"/>
          <p:nvPr/>
        </p:nvSpPr>
        <p:spPr>
          <a:xfrm>
            <a:off x="7498080" y="2011680"/>
            <a:ext cx="1463040" cy="228600"/>
          </a:xfrm>
          <a:prstGeom prst="rect">
            <a:avLst/>
          </a:prstGeom>
          <a:noFill/>
          <a:ln/>
        </p:spPr>
        <p:txBody>
          <a:bodyPr wrap="square" lIns="0" tIns="0" rIns="0" bIns="0" rtlCol="0" anchor="t"/>
          <a:lstStyle/>
          <a:p>
            <a:pPr marL="0" indent="0" algn="ctr">
              <a:buNone/>
            </a:pPr>
            <a:r>
              <a:rPr lang="en-US" sz="1000" b="1" dirty="0">
                <a:solidFill>
                  <a:srgbClr val="1F2937"/>
                </a:solidFill>
                <a:latin typeface="Nirmala UI" pitchFamily="34" charset="0"/>
                <a:ea typeface="Nirmala UI" pitchFamily="34" charset="-122"/>
                <a:cs typeface="Nirmala UI" pitchFamily="34" charset="-120"/>
              </a:rPr>
              <a:t>Ready to Deploy</a:t>
            </a:r>
            <a:endParaRPr lang="en-US" sz="1000" dirty="0"/>
          </a:p>
        </p:txBody>
      </p:sp>
      <p:sp>
        <p:nvSpPr>
          <p:cNvPr id="19" name="Rounded Rectangle 18"/>
          <p:cNvSpPr/>
          <p:nvPr/>
        </p:nvSpPr>
        <p:spPr>
          <a:xfrm>
            <a:off x="457200" y="2377440"/>
            <a:ext cx="269748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 y="2468880"/>
            <a:ext cx="244144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Built and tested (internal)</a:t>
            </a:r>
          </a:p>
        </p:txBody>
      </p:sp>
      <p:sp>
        <p:nvSpPr>
          <p:cNvPr id="21" name="TextBox 20"/>
          <p:cNvSpPr txBox="1"/>
          <p:nvPr/>
        </p:nvSpPr>
        <p:spPr>
          <a:xfrm>
            <a:off x="585216" y="2743200"/>
            <a:ext cx="2441448" cy="1280160"/>
          </a:xfrm>
          <a:prstGeom prst="rect">
            <a:avLst/>
          </a:prstGeom>
          <a:noFill/>
        </p:spPr>
        <p:txBody>
          <a:bodyPr wrap="square" lIns="0" rIns="0" tIns="0" bIns="0" anchor="t">
            <a:spAutoFit/>
          </a:bodyPr>
          <a:lstStyle/>
          <a:p>
            <a:pPr marL="128016" indent="-128016">
              <a:spcAft>
                <a:spcPts val="200"/>
              </a:spcAft>
              <a:buChar char="•"/>
            </a:pPr>
            <a:r>
              <a:rPr sz="900" b="0" i="0">
                <a:solidFill>
                  <a:srgbClr val="2F3A56"/>
                </a:solidFill>
                <a:latin typeface="Nirmala UI"/>
              </a:rPr>
              <a:t>Python and TShark analysis, React console, FastAPI service, SQLite</a:t>
            </a:r>
          </a:p>
          <a:p>
            <a:pPr marL="128016" indent="-128016">
              <a:spcAft>
                <a:spcPts val="200"/>
              </a:spcAft>
              <a:buChar char="•"/>
            </a:pPr>
            <a:r>
              <a:rPr sz="900" b="0" i="0">
                <a:solidFill>
                  <a:srgbClr val="2F3A56"/>
                </a:solidFill>
                <a:latin typeface="Nirmala UI"/>
              </a:rPr>
              <a:t>1,521 automated tests</a:t>
            </a:r>
          </a:p>
          <a:p>
            <a:pPr marL="128016" indent="-128016">
              <a:spcAft>
                <a:spcPts val="200"/>
              </a:spcAft>
              <a:buChar char="•"/>
            </a:pPr>
            <a:r>
              <a:rPr sz="900" b="0" i="0">
                <a:solidFill>
                  <a:srgbClr val="2F3A56"/>
                </a:solidFill>
                <a:latin typeface="Nirmala UI"/>
              </a:rPr>
              <a:t>98 controlled lab captures: 10 from Postfix and Dovecot software in a lab, 6 OpenSSL handshakes, 82 crafted in-project</a:t>
            </a:r>
          </a:p>
          <a:p>
            <a:pPr marL="128016" indent="-128016">
              <a:spcAft>
                <a:spcPts val="200"/>
              </a:spcAft>
              <a:buChar char="•"/>
            </a:pPr>
            <a:r>
              <a:rPr sz="900" b="0" i="0">
                <a:solidFill>
                  <a:srgbClr val="2F3A56"/>
                </a:solidFill>
                <a:latin typeface="Nirmala UI"/>
              </a:rPr>
              <a:t>Repeat runs gave the same result (98 of 98 captures)</a:t>
            </a:r>
          </a:p>
          <a:p>
            <a:pPr marL="128016" indent="-128016">
              <a:spcAft>
                <a:spcPts val="200"/>
              </a:spcAft>
              <a:buChar char="•"/>
            </a:pPr>
            <a:r>
              <a:rPr sz="900" b="0" i="0">
                <a:solidFill>
                  <a:srgbClr val="2F3A56"/>
                </a:solidFill>
                <a:latin typeface="Nirmala UI"/>
              </a:rPr>
              <a:t>Failure found and fixed: on 44 cut-off streams the engine said "no TLS" 41 times; now once (an arguable case)</a:t>
            </a:r>
          </a:p>
        </p:txBody>
      </p:sp>
      <p:sp>
        <p:nvSpPr>
          <p:cNvPr id="22" name="TextBox 21"/>
          <p:cNvSpPr txBox="1"/>
          <p:nvPr/>
        </p:nvSpPr>
        <p:spPr>
          <a:xfrm>
            <a:off x="585216" y="4160520"/>
            <a:ext cx="244144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Lab validation only: no real-world traffic and no accuracy benchmark.</a:t>
            </a:r>
          </a:p>
        </p:txBody>
      </p:sp>
      <p:sp>
        <p:nvSpPr>
          <p:cNvPr id="23" name="Rounded Rectangle 22"/>
          <p:cNvSpPr/>
          <p:nvPr/>
        </p:nvSpPr>
        <p:spPr>
          <a:xfrm>
            <a:off x="3246120" y="2377440"/>
            <a:ext cx="269748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74136" y="2468880"/>
            <a:ext cx="244144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Not built yet</a:t>
            </a:r>
          </a:p>
        </p:txBody>
      </p:sp>
      <p:sp>
        <p:nvSpPr>
          <p:cNvPr id="25" name="TextBox 24"/>
          <p:cNvSpPr txBox="1"/>
          <p:nvPr/>
        </p:nvSpPr>
        <p:spPr>
          <a:xfrm>
            <a:off x="3374136" y="2743200"/>
            <a:ext cx="2441448" cy="1280160"/>
          </a:xfrm>
          <a:prstGeom prst="rect">
            <a:avLst/>
          </a:prstGeom>
          <a:noFill/>
        </p:spPr>
        <p:txBody>
          <a:bodyPr wrap="square" lIns="0" rIns="0" tIns="0" bIns="0" anchor="t">
            <a:spAutoFit/>
          </a:bodyPr>
          <a:lstStyle/>
          <a:p>
            <a:pPr marL="128016" indent="-128016">
              <a:spcAft>
                <a:spcPts val="200"/>
              </a:spcAft>
              <a:buChar char="•"/>
            </a:pPr>
            <a:r>
              <a:rPr sz="900" b="0" i="0">
                <a:solidFill>
                  <a:srgbClr val="2F3A56"/>
                </a:solidFill>
                <a:latin typeface="Nirmala UI"/>
              </a:rPr>
              <a:t>Login and roles</a:t>
            </a:r>
          </a:p>
          <a:p>
            <a:pPr marL="128016" indent="-128016">
              <a:spcAft>
                <a:spcPts val="200"/>
              </a:spcAft>
              <a:buChar char="•"/>
            </a:pPr>
            <a:r>
              <a:rPr sz="900" b="0" i="0">
                <a:solidFill>
                  <a:srgbClr val="2F3A56"/>
                </a:solidFill>
                <a:latin typeface="Nirmala UI"/>
              </a:rPr>
              <a:t>Audit log</a:t>
            </a:r>
          </a:p>
          <a:p>
            <a:pPr marL="128016" indent="-128016">
              <a:spcAft>
                <a:spcPts val="200"/>
              </a:spcAft>
              <a:buChar char="•"/>
            </a:pPr>
            <a:r>
              <a:rPr sz="900" b="0" i="0">
                <a:solidFill>
                  <a:srgbClr val="2F3A56"/>
                </a:solidFill>
                <a:latin typeface="Nirmala UI"/>
              </a:rPr>
              <a:t>Encrypted storage, backups, retention</a:t>
            </a:r>
          </a:p>
          <a:p>
            <a:pPr marL="128016" indent="-128016">
              <a:spcAft>
                <a:spcPts val="200"/>
              </a:spcAft>
              <a:buChar char="•"/>
            </a:pPr>
            <a:r>
              <a:rPr sz="900" b="0" i="0">
                <a:solidFill>
                  <a:srgbClr val="2F3A56"/>
                </a:solidFill>
                <a:latin typeface="Nirmala UI"/>
              </a:rPr>
              <a:t>Fix for a database-concurrency defect</a:t>
            </a:r>
          </a:p>
          <a:p>
            <a:pPr marL="128016" indent="-128016">
              <a:spcAft>
                <a:spcPts val="200"/>
              </a:spcAft>
              <a:buChar char="•"/>
            </a:pPr>
            <a:r>
              <a:rPr sz="900" b="0" i="0">
                <a:solidFill>
                  <a:srgbClr val="2F3A56"/>
                </a:solidFill>
                <a:latin typeface="Nirmala UI"/>
              </a:rPr>
              <a:t>Enforced analysis time limit</a:t>
            </a:r>
          </a:p>
          <a:p>
            <a:pPr marL="128016" indent="-128016">
              <a:spcAft>
                <a:spcPts val="200"/>
              </a:spcAft>
              <a:buChar char="•"/>
            </a:pPr>
            <a:r>
              <a:rPr sz="900" b="0" i="0">
                <a:solidFill>
                  <a:srgbClr val="2F3A56"/>
                </a:solidFill>
                <a:latin typeface="Nirmala UI"/>
              </a:rPr>
              <a:t>Sandboxed parsing of untrusted files</a:t>
            </a:r>
          </a:p>
        </p:txBody>
      </p:sp>
      <p:sp>
        <p:nvSpPr>
          <p:cNvPr id="26" name="TextBox 25"/>
          <p:cNvSpPr txBox="1"/>
          <p:nvPr/>
        </p:nvSpPr>
        <p:spPr>
          <a:xfrm>
            <a:off x="3374136" y="4160520"/>
            <a:ext cx="244144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Not production-ready. The demo is local, with synthetic captures only.</a:t>
            </a:r>
          </a:p>
        </p:txBody>
      </p:sp>
      <p:sp>
        <p:nvSpPr>
          <p:cNvPr id="27" name="Rounded Rectangle 26"/>
          <p:cNvSpPr/>
          <p:nvPr/>
        </p:nvSpPr>
        <p:spPr>
          <a:xfrm>
            <a:off x="6035040" y="2377440"/>
            <a:ext cx="2651760" cy="2331720"/>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63055" y="2468880"/>
            <a:ext cx="2395728" cy="237744"/>
          </a:xfrm>
          <a:prstGeom prst="rect">
            <a:avLst/>
          </a:prstGeom>
          <a:noFill/>
        </p:spPr>
        <p:txBody>
          <a:bodyPr wrap="square" lIns="0" rIns="0" tIns="0" bIns="0" anchor="t">
            <a:spAutoFit/>
          </a:bodyPr>
          <a:lstStyle/>
          <a:p>
            <a:pPr marL="0" indent="0">
              <a:spcAft>
                <a:spcPts val="0"/>
              </a:spcAft>
              <a:buNone/>
            </a:pPr>
            <a:r>
              <a:rPr sz="1150" b="1" i="0">
                <a:solidFill>
                  <a:srgbClr val="1B2A5C"/>
                </a:solidFill>
                <a:latin typeface="Nirmala UI"/>
              </a:rPr>
              <a:t>Proposed path (not committed)</a:t>
            </a:r>
          </a:p>
        </p:txBody>
      </p:sp>
      <p:sp>
        <p:nvSpPr>
          <p:cNvPr id="29" name="TextBox 28"/>
          <p:cNvSpPr txBox="1"/>
          <p:nvPr/>
        </p:nvSpPr>
        <p:spPr>
          <a:xfrm>
            <a:off x="6163055" y="2743200"/>
            <a:ext cx="2395728" cy="1280160"/>
          </a:xfrm>
          <a:prstGeom prst="rect">
            <a:avLst/>
          </a:prstGeom>
          <a:noFill/>
        </p:spPr>
        <p:txBody>
          <a:bodyPr wrap="square" lIns="0" rIns="0" tIns="0" bIns="0" anchor="t">
            <a:spAutoFit/>
          </a:bodyPr>
          <a:lstStyle/>
          <a:p>
            <a:pPr marL="128016" indent="-128016">
              <a:spcAft>
                <a:spcPts val="200"/>
              </a:spcAft>
              <a:buChar char="•"/>
            </a:pPr>
            <a:r>
              <a:rPr sz="900" b="1" i="0">
                <a:solidFill>
                  <a:srgbClr val="2F3A56"/>
                </a:solidFill>
                <a:latin typeface="Nirmala UI"/>
              </a:rPr>
              <a:t>0 to 3 months: </a:t>
            </a:r>
            <a:r>
              <a:rPr sz="900" b="0" i="0">
                <a:solidFill>
                  <a:srgbClr val="2F3A56"/>
                </a:solidFill>
                <a:latin typeface="Nirmala UI"/>
              </a:rPr>
              <a:t>close the gaps; write a threat model</a:t>
            </a:r>
          </a:p>
          <a:p>
            <a:pPr marL="128016" indent="-128016">
              <a:spcAft>
                <a:spcPts val="200"/>
              </a:spcAft>
              <a:buChar char="•"/>
            </a:pPr>
            <a:r>
              <a:rPr sz="900" b="1" i="0">
                <a:solidFill>
                  <a:srgbClr val="2F3A56"/>
                </a:solidFill>
                <a:latin typeface="Nirmala UI"/>
              </a:rPr>
              <a:t>3 to 6 months: </a:t>
            </a:r>
            <a:r>
              <a:rPr sz="900" b="0" i="0">
                <a:solidFill>
                  <a:srgbClr val="2F3A56"/>
                </a:solidFill>
                <a:latin typeface="Nirmala UI"/>
              </a:rPr>
              <a:t>technical pilot on synthetic captures</a:t>
            </a:r>
          </a:p>
          <a:p>
            <a:pPr marL="128016" indent="-128016">
              <a:spcAft>
                <a:spcPts val="200"/>
              </a:spcAft>
              <a:buChar char="•"/>
            </a:pPr>
            <a:r>
              <a:rPr sz="900" b="1" i="0">
                <a:solidFill>
                  <a:srgbClr val="2F3A56"/>
                </a:solidFill>
                <a:latin typeface="Nirmala UI"/>
              </a:rPr>
              <a:t>6 to 12 months: </a:t>
            </a:r>
            <a:r>
              <a:rPr sz="900" b="0" i="0">
                <a:solidFill>
                  <a:srgbClr val="2F3A56"/>
                </a:solidFill>
                <a:latin typeface="Nirmala UI"/>
              </a:rPr>
              <a:t>supervised single-unit pilot, only if a department agrees; real case data only once authorised and prerequisites are met</a:t>
            </a:r>
          </a:p>
        </p:txBody>
      </p:sp>
      <p:sp>
        <p:nvSpPr>
          <p:cNvPr id="30" name="TextBox 29"/>
          <p:cNvSpPr txBox="1"/>
          <p:nvPr/>
        </p:nvSpPr>
        <p:spPr>
          <a:xfrm>
            <a:off x="6163055" y="4160520"/>
            <a:ext cx="2395728" cy="502920"/>
          </a:xfrm>
          <a:prstGeom prst="rect">
            <a:avLst/>
          </a:prstGeom>
          <a:noFill/>
        </p:spPr>
        <p:txBody>
          <a:bodyPr wrap="square" lIns="0" rIns="0" tIns="0" bIns="0" anchor="b">
            <a:spAutoFit/>
          </a:bodyPr>
          <a:lstStyle/>
          <a:p>
            <a:pPr marL="0" indent="0">
              <a:spcAft>
                <a:spcPts val="0"/>
              </a:spcAft>
              <a:buNone/>
            </a:pPr>
            <a:r>
              <a:rPr sz="850" b="0" i="1">
                <a:solidFill>
                  <a:srgbClr val="B4531B"/>
                </a:solidFill>
                <a:latin typeface="Nirmala UI"/>
              </a:rPr>
              <a:t>Depends on security mentorship, a willing unit and its legal approval for real captures. Cost not priced; a technical pilot needs no cloud service or GPU.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5</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1B2A5C"/>
                </a:solidFill>
                <a:latin typeface="Nirmala UI" pitchFamily="34" charset="0"/>
                <a:ea typeface="Nirmala UI" pitchFamily="34" charset="-122"/>
                <a:cs typeface="Nirmala UI" pitchFamily="34" charset="-120"/>
              </a:rPr>
              <a:t>Impact &amp; Scalability</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2F3A56"/>
                </a:solidFill>
                <a:latin typeface="Nirmala UI" pitchFamily="34" charset="0"/>
                <a:ea typeface="Nirmala UI" pitchFamily="34" charset="-122"/>
                <a:cs typeface="Nirmala UI" pitchFamily="34" charset="-120"/>
              </a:rPr>
              <a:t>Fewer unsupported conclusions in cyber-fraud cases: the expected benefit, to be measured in a supervised pilot.</a:t>
            </a:r>
            <a:endParaRPr lang="en-US" sz="1100" dirty="0"/>
          </a:p>
        </p:txBody>
      </p:sp>
      <p:sp>
        <p:nvSpPr>
          <p:cNvPr id="6" name="Text 4"/>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6B7280"/>
                </a:solidFill>
                <a:latin typeface="Nirmala UI" pitchFamily="34" charset="0"/>
                <a:ea typeface="Nirmala UI" pitchFamily="34" charset="-122"/>
                <a:cs typeface="Nirmala UI" pitchFamily="34" charset="-120"/>
              </a:rPr>
              <a:t>Seva Innovation Challenge 2026  |  Slide 5 of 6</a:t>
            </a:r>
            <a:endParaRPr lang="en-US" sz="800" dirty="0"/>
          </a:p>
        </p:txBody>
      </p:sp>
      <p:sp>
        <p:nvSpPr>
          <p:cNvPr id="7" name="Rounded Rectangle 6"/>
          <p:cNvSpPr/>
          <p:nvPr/>
        </p:nvSpPr>
        <p:spPr>
          <a:xfrm>
            <a:off x="45720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Public value (expected, not yet measured)</a:t>
            </a:r>
          </a:p>
        </p:txBody>
      </p:sp>
      <p:sp>
        <p:nvSpPr>
          <p:cNvPr id="9" name="TextBox 8"/>
          <p:cNvSpPr txBox="1"/>
          <p:nvPr/>
        </p:nvSpPr>
        <p:spPr>
          <a:xfrm>
            <a:off x="585216" y="1664208"/>
            <a:ext cx="2395728" cy="1371600"/>
          </a:xfrm>
          <a:prstGeom prst="rect">
            <a:avLst/>
          </a:prstGeom>
          <a:noFill/>
        </p:spPr>
        <p:txBody>
          <a:bodyPr wrap="square" lIns="0" rIns="0" tIns="0" bIns="0" anchor="t">
            <a:spAutoFit/>
          </a:bodyPr>
          <a:lstStyle/>
          <a:p>
            <a:pPr marL="128016" indent="-128016">
              <a:spcAft>
                <a:spcPts val="300"/>
              </a:spcAft>
              <a:buChar char="•"/>
            </a:pPr>
            <a:r>
              <a:rPr sz="950" b="0" i="0">
                <a:solidFill>
                  <a:srgbClr val="2F3A56"/>
                </a:solidFill>
                <a:latin typeface="Nirmala UI"/>
              </a:rPr>
              <a:t>Investigators and supervisors can see what a capture supports and which packets show it</a:t>
            </a:r>
          </a:p>
          <a:p>
            <a:pPr marL="128016" indent="-128016">
              <a:spcAft>
                <a:spcPts val="300"/>
              </a:spcAft>
              <a:buChar char="•"/>
            </a:pPr>
            <a:r>
              <a:rPr sz="950" b="0" i="0">
                <a:solidFill>
                  <a:srgbClr val="2F3A56"/>
                </a:solidFill>
                <a:latin typeface="Nirmala UI"/>
              </a:rPr>
              <a:t>Findings can be re-checked: repeat runs gave the same result</a:t>
            </a:r>
          </a:p>
          <a:p>
            <a:pPr marL="128016" indent="-128016">
              <a:spcAft>
                <a:spcPts val="300"/>
              </a:spcAft>
              <a:buChar char="•"/>
            </a:pPr>
            <a:r>
              <a:rPr sz="950" b="0" i="0">
                <a:solidFill>
                  <a:srgbClr val="2F3A56"/>
                </a:solidFill>
                <a:latin typeface="Nirmala UI"/>
              </a:rPr>
              <a:t>Fewer conclusions that the evidence cannot bear</a:t>
            </a:r>
          </a:p>
          <a:p>
            <a:pPr marL="128016" indent="-128016">
              <a:spcAft>
                <a:spcPts val="300"/>
              </a:spcAft>
              <a:buChar char="•"/>
            </a:pPr>
            <a:r>
              <a:rPr sz="950" b="0" i="0">
                <a:solidFill>
                  <a:srgbClr val="2F3A56"/>
                </a:solidFill>
                <a:latin typeface="Nirmala UI"/>
              </a:rPr>
              <a:t>Fits SDG 16, target 16.a: strengthening institutions that combat crime</a:t>
            </a:r>
          </a:p>
        </p:txBody>
      </p:sp>
      <p:sp>
        <p:nvSpPr>
          <p:cNvPr id="10" name="Rounded Rectangle 9"/>
          <p:cNvSpPr/>
          <p:nvPr/>
        </p:nvSpPr>
        <p:spPr>
          <a:xfrm>
            <a:off x="324612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74136"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Adoption path (proposed)</a:t>
            </a:r>
          </a:p>
        </p:txBody>
      </p:sp>
      <p:sp>
        <p:nvSpPr>
          <p:cNvPr id="12" name="Rounded Rectangle 11"/>
          <p:cNvSpPr/>
          <p:nvPr/>
        </p:nvSpPr>
        <p:spPr>
          <a:xfrm>
            <a:off x="3374136" y="1691640"/>
            <a:ext cx="2395728" cy="365760"/>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29000" y="1746504"/>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29000" y="1746504"/>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1</a:t>
            </a:r>
          </a:p>
        </p:txBody>
      </p:sp>
      <p:sp>
        <p:nvSpPr>
          <p:cNvPr id="15" name="TextBox 14"/>
          <p:cNvSpPr txBox="1"/>
          <p:nvPr/>
        </p:nvSpPr>
        <p:spPr>
          <a:xfrm>
            <a:off x="3758183" y="1691640"/>
            <a:ext cx="196596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Hardened local build</a:t>
            </a:r>
          </a:p>
        </p:txBody>
      </p:sp>
      <p:sp>
        <p:nvSpPr>
          <p:cNvPr id="16" name="Rounded Rectangle 15"/>
          <p:cNvSpPr/>
          <p:nvPr/>
        </p:nvSpPr>
        <p:spPr>
          <a:xfrm>
            <a:off x="3374136" y="2112264"/>
            <a:ext cx="2395728" cy="365760"/>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429000" y="2167128"/>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2167128"/>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2</a:t>
            </a:r>
          </a:p>
        </p:txBody>
      </p:sp>
      <p:sp>
        <p:nvSpPr>
          <p:cNvPr id="19" name="TextBox 18"/>
          <p:cNvSpPr txBox="1"/>
          <p:nvPr/>
        </p:nvSpPr>
        <p:spPr>
          <a:xfrm>
            <a:off x="3758183" y="2112264"/>
            <a:ext cx="196596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One supervised unit: a cyber cell or forensic lab</a:t>
            </a:r>
          </a:p>
        </p:txBody>
      </p:sp>
      <p:sp>
        <p:nvSpPr>
          <p:cNvPr id="20" name="Rounded Rectangle 19"/>
          <p:cNvSpPr/>
          <p:nvPr/>
        </p:nvSpPr>
        <p:spPr>
          <a:xfrm>
            <a:off x="3374136" y="2532888"/>
            <a:ext cx="2395728" cy="365760"/>
          </a:xfrm>
          <a:prstGeom prst="roundRect">
            <a:avLst>
              <a:gd name="adj" fmla="val 15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429000" y="2587752"/>
            <a:ext cx="256032" cy="256032"/>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29000" y="2587752"/>
            <a:ext cx="256032" cy="256032"/>
          </a:xfrm>
          <a:prstGeom prst="rect">
            <a:avLst/>
          </a:prstGeom>
          <a:noFill/>
        </p:spPr>
        <p:txBody>
          <a:bodyPr wrap="square" lIns="0" rIns="0" tIns="0" bIns="0" anchor="ctr">
            <a:spAutoFit/>
          </a:bodyPr>
          <a:lstStyle/>
          <a:p>
            <a:pPr algn="ctr" marL="0" indent="0">
              <a:spcAft>
                <a:spcPts val="0"/>
              </a:spcAft>
              <a:buNone/>
            </a:pPr>
            <a:r>
              <a:rPr sz="950" b="1" i="0">
                <a:solidFill>
                  <a:srgbClr val="FFFFFF"/>
                </a:solidFill>
                <a:latin typeface="Nirmala UI"/>
              </a:rPr>
              <a:t>3</a:t>
            </a:r>
          </a:p>
        </p:txBody>
      </p:sp>
      <p:sp>
        <p:nvSpPr>
          <p:cNvPr id="23" name="TextBox 22"/>
          <p:cNvSpPr txBox="1"/>
          <p:nvPr/>
        </p:nvSpPr>
        <p:spPr>
          <a:xfrm>
            <a:off x="3758183" y="2532888"/>
            <a:ext cx="1965960" cy="365760"/>
          </a:xfrm>
          <a:prstGeom prst="rect">
            <a:avLst/>
          </a:prstGeom>
          <a:noFill/>
        </p:spPr>
        <p:txBody>
          <a:bodyPr wrap="square" lIns="0" rIns="0" tIns="0" bIns="0" anchor="ctr">
            <a:spAutoFit/>
          </a:bodyPr>
          <a:lstStyle/>
          <a:p>
            <a:pPr marL="0" indent="0">
              <a:spcAft>
                <a:spcPts val="0"/>
              </a:spcAft>
              <a:buNone/>
            </a:pPr>
            <a:r>
              <a:rPr sz="900" b="0" i="0">
                <a:solidFill>
                  <a:srgbClr val="2F3A56"/>
                </a:solidFill>
                <a:latin typeface="Nirmala UI"/>
              </a:rPr>
              <a:t>Measured results, then decide on more units</a:t>
            </a:r>
          </a:p>
        </p:txBody>
      </p:sp>
      <p:sp>
        <p:nvSpPr>
          <p:cNvPr id="24" name="TextBox 23"/>
          <p:cNvSpPr txBox="1"/>
          <p:nvPr/>
        </p:nvSpPr>
        <p:spPr>
          <a:xfrm>
            <a:off x="3374136" y="2971800"/>
            <a:ext cx="2395728" cy="566928"/>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Likely owner: Home Department (police cyber cells); no office approached yet. Each unit would run it locally: a design intention, not built or validated.</a:t>
            </a:r>
          </a:p>
        </p:txBody>
      </p:sp>
      <p:sp>
        <p:nvSpPr>
          <p:cNvPr id="25" name="Rounded Rectangle 24"/>
          <p:cNvSpPr/>
          <p:nvPr/>
        </p:nvSpPr>
        <p:spPr>
          <a:xfrm>
            <a:off x="6035040" y="1170432"/>
            <a:ext cx="2651760" cy="2395728"/>
          </a:xfrm>
          <a:prstGeom prst="roundRect">
            <a:avLst>
              <a:gd name="adj" fmla="val 45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63055" y="1261872"/>
            <a:ext cx="2395728" cy="365760"/>
          </a:xfrm>
          <a:prstGeom prst="rect">
            <a:avLst/>
          </a:prstGeom>
          <a:noFill/>
        </p:spPr>
        <p:txBody>
          <a:bodyPr wrap="square" lIns="0" rIns="0" tIns="0" bIns="0" anchor="t">
            <a:spAutoFit/>
          </a:bodyPr>
          <a:lstStyle/>
          <a:p>
            <a:pPr marL="0" indent="0">
              <a:spcAft>
                <a:spcPts val="0"/>
              </a:spcAft>
              <a:buNone/>
            </a:pPr>
            <a:r>
              <a:rPr sz="1100" b="1" i="0">
                <a:solidFill>
                  <a:srgbClr val="1B2A5C"/>
                </a:solidFill>
                <a:latin typeface="Nirmala UI"/>
              </a:rPr>
              <a:t>How success would be measured</a:t>
            </a:r>
          </a:p>
        </p:txBody>
      </p:sp>
      <p:sp>
        <p:nvSpPr>
          <p:cNvPr id="27" name="TextBox 26"/>
          <p:cNvSpPr txBox="1"/>
          <p:nvPr/>
        </p:nvSpPr>
        <p:spPr>
          <a:xfrm>
            <a:off x="6163055" y="1664208"/>
            <a:ext cx="2395728" cy="1371600"/>
          </a:xfrm>
          <a:prstGeom prst="rect">
            <a:avLst/>
          </a:prstGeom>
          <a:noFill/>
        </p:spPr>
        <p:txBody>
          <a:bodyPr wrap="square" lIns="0" rIns="0" tIns="0" bIns="0" anchor="t">
            <a:spAutoFit/>
          </a:bodyPr>
          <a:lstStyle/>
          <a:p>
            <a:pPr marL="128016" indent="-128016">
              <a:spcAft>
                <a:spcPts val="300"/>
              </a:spcAft>
              <a:buChar char="•"/>
            </a:pPr>
            <a:r>
              <a:rPr sz="950" b="0" i="0">
                <a:solidFill>
                  <a:srgbClr val="2F3A56"/>
                </a:solidFill>
                <a:latin typeface="Nirmala UI"/>
              </a:rPr>
              <a:t>Time to a first assessment</a:t>
            </a:r>
          </a:p>
          <a:p>
            <a:pPr marL="128016" indent="-128016">
              <a:spcAft>
                <a:spcPts val="300"/>
              </a:spcAft>
              <a:buChar char="•"/>
            </a:pPr>
            <a:r>
              <a:rPr sz="950" b="0" i="0">
                <a:solidFill>
                  <a:srgbClr val="2F3A56"/>
                </a:solidFill>
                <a:latin typeface="Nirmala UI"/>
              </a:rPr>
              <a:t>Time to a finished report</a:t>
            </a:r>
          </a:p>
          <a:p>
            <a:pPr marL="128016" indent="-128016">
              <a:spcAft>
                <a:spcPts val="300"/>
              </a:spcAft>
              <a:buChar char="•"/>
            </a:pPr>
            <a:r>
              <a:rPr sz="950" b="0" i="0">
                <a:solidFill>
                  <a:srgbClr val="2F3A56"/>
                </a:solidFill>
                <a:latin typeface="Nirmala UI"/>
              </a:rPr>
              <a:t>Findings with usable packet citations</a:t>
            </a:r>
          </a:p>
          <a:p>
            <a:pPr marL="128016" indent="-128016">
              <a:spcAft>
                <a:spcPts val="300"/>
              </a:spcAft>
              <a:buChar char="•"/>
            </a:pPr>
            <a:r>
              <a:rPr sz="950" b="0" i="0">
                <a:solidFill>
                  <a:srgbClr val="2F3A56"/>
                </a:solidFill>
                <a:latin typeface="Nirmala UI"/>
              </a:rPr>
              <a:t>Handling of unresolved evidence</a:t>
            </a:r>
          </a:p>
          <a:p>
            <a:pPr marL="128016" indent="-128016">
              <a:spcAft>
                <a:spcPts val="300"/>
              </a:spcAft>
              <a:buChar char="•"/>
            </a:pPr>
            <a:r>
              <a:rPr sz="950" b="0" i="0">
                <a:solidFill>
                  <a:srgbClr val="2F3A56"/>
                </a:solidFill>
                <a:latin typeface="Nirmala UI"/>
              </a:rPr>
              <a:t>Repeat-run agreement</a:t>
            </a:r>
          </a:p>
          <a:p>
            <a:pPr marL="128016" indent="-128016">
              <a:spcAft>
                <a:spcPts val="300"/>
              </a:spcAft>
              <a:buChar char="•"/>
            </a:pPr>
            <a:r>
              <a:rPr sz="950" b="0" i="0">
                <a:solidFill>
                  <a:srgbClr val="2F3A56"/>
                </a:solidFill>
                <a:latin typeface="Nirmala UI"/>
              </a:rPr>
              <a:t>Supervisor confidence</a:t>
            </a:r>
          </a:p>
        </p:txBody>
      </p:sp>
      <p:sp>
        <p:nvSpPr>
          <p:cNvPr id="28" name="TextBox 27"/>
          <p:cNvSpPr txBox="1"/>
          <p:nvPr/>
        </p:nvSpPr>
        <p:spPr>
          <a:xfrm>
            <a:off x="6163056" y="2816352"/>
            <a:ext cx="2395728" cy="731520"/>
          </a:xfrm>
          <a:prstGeom prst="rect">
            <a:avLst/>
          </a:prstGeom>
          <a:noFill/>
        </p:spPr>
        <p:txBody>
          <a:bodyPr wrap="square" lIns="0" rIns="0" tIns="0" bIns="0" anchor="t">
            <a:spAutoFit/>
          </a:bodyPr>
          <a:lstStyle/>
          <a:p>
            <a:pPr marL="0" indent="0">
              <a:spcAft>
                <a:spcPts val="0"/>
              </a:spcAft>
              <a:buNone/>
            </a:pPr>
            <a:r>
              <a:rPr sz="850" b="0" i="1">
                <a:solidFill>
                  <a:srgbClr val="6B7280"/>
                </a:solidFill>
                <a:latin typeface="Nirmala UI"/>
              </a:rPr>
              <a:t>Before: current practice, measured in the pilot. After: with NyaySaakshya. No targets claimed. The existing cost it targets is analyst time, to be measured.</a:t>
            </a:r>
          </a:p>
        </p:txBody>
      </p:sp>
      <p:sp>
        <p:nvSpPr>
          <p:cNvPr id="29" name="Rounded Rectangle 28"/>
          <p:cNvSpPr/>
          <p:nvPr/>
        </p:nvSpPr>
        <p:spPr>
          <a:xfrm>
            <a:off x="457200" y="3703320"/>
            <a:ext cx="4572000" cy="960120"/>
          </a:xfrm>
          <a:prstGeom prst="roundRect">
            <a:avLst>
              <a:gd name="adj" fmla="val 6000"/>
            </a:avLst>
          </a:prstGeom>
          <a:solidFill>
            <a:srgbClr val="1B2A5C"/>
          </a:solidFill>
          <a:ln w="9525">
            <a:solidFill>
              <a:srgbClr val="1B2A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3794760"/>
            <a:ext cx="4251960" cy="822960"/>
          </a:xfrm>
          <a:prstGeom prst="rect">
            <a:avLst/>
          </a:prstGeom>
          <a:noFill/>
        </p:spPr>
        <p:txBody>
          <a:bodyPr wrap="square" lIns="0" rIns="0" tIns="0" bIns="0" anchor="t">
            <a:spAutoFit/>
          </a:bodyPr>
          <a:lstStyle/>
          <a:p>
            <a:pPr marL="0" indent="0">
              <a:spcAft>
                <a:spcPts val="300"/>
              </a:spcAft>
              <a:buNone/>
            </a:pPr>
            <a:r>
              <a:rPr sz="1100" b="1" i="0">
                <a:solidFill>
                  <a:srgbClr val="F28C28"/>
                </a:solidFill>
                <a:latin typeface="Nirmala UI"/>
              </a:rPr>
              <a:t>What the Challenge would unlock</a:t>
            </a:r>
          </a:p>
          <a:p>
            <a:pPr marL="0" indent="0">
              <a:spcAft>
                <a:spcPts val="300"/>
              </a:spcAft>
              <a:buNone/>
            </a:pPr>
            <a:r>
              <a:rPr sz="1000" b="0" i="0">
                <a:solidFill>
                  <a:srgbClr val="FFFFFF"/>
                </a:solidFill>
                <a:latin typeface="Nirmala UI"/>
              </a:rPr>
              <a:t>Security mentorship and one supervised pilot would turn a lab-validated prototype into a measured public-sector trial of whether it helps investigators avoid unsupported conclusions.</a:t>
            </a:r>
          </a:p>
        </p:txBody>
      </p:sp>
      <p:sp>
        <p:nvSpPr>
          <p:cNvPr id="31" name="Rounded Rectangle 30"/>
          <p:cNvSpPr/>
          <p:nvPr/>
        </p:nvSpPr>
        <p:spPr>
          <a:xfrm>
            <a:off x="5138928" y="3703320"/>
            <a:ext cx="3547872" cy="960120"/>
          </a:xfrm>
          <a:prstGeom prst="roundRect">
            <a:avLst>
              <a:gd name="adj" fmla="val 6000"/>
            </a:avLst>
          </a:prstGeom>
          <a:solidFill>
            <a:srgbClr val="FFFFFF"/>
          </a:solidFill>
          <a:ln w="9525">
            <a:solidFill>
              <a:srgbClr val="D9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85232" y="3776472"/>
            <a:ext cx="3291840" cy="868680"/>
          </a:xfrm>
          <a:prstGeom prst="rect">
            <a:avLst/>
          </a:prstGeom>
          <a:noFill/>
        </p:spPr>
        <p:txBody>
          <a:bodyPr wrap="square" lIns="0" rIns="0" tIns="0" bIns="0" anchor="t">
            <a:spAutoFit/>
          </a:bodyPr>
          <a:lstStyle/>
          <a:p>
            <a:pPr marL="0" indent="0">
              <a:spcAft>
                <a:spcPts val="300"/>
              </a:spcAft>
              <a:buNone/>
            </a:pPr>
            <a:r>
              <a:rPr sz="850" b="1" i="0">
                <a:solidFill>
                  <a:srgbClr val="B4531B"/>
                </a:solidFill>
                <a:latin typeface="Nirmala UI"/>
              </a:rPr>
              <a:t>Not claimed: </a:t>
            </a:r>
            <a:r>
              <a:rPr sz="850" b="0" i="0">
                <a:solidFill>
                  <a:srgbClr val="2F3A56"/>
                </a:solidFill>
                <a:latin typeface="Nirmala UI"/>
              </a:rPr>
              <a:t>beneficiaries reached, time or cost saved, jobs. None has been measured.</a:t>
            </a:r>
          </a:p>
          <a:p>
            <a:pPr marL="0" indent="0">
              <a:spcAft>
                <a:spcPts val="300"/>
              </a:spcAft>
              <a:buNone/>
            </a:pPr>
            <a:r>
              <a:rPr sz="850" b="1" i="0">
                <a:solidFill>
                  <a:srgbClr val="1B2A5C"/>
                </a:solidFill>
                <a:latin typeface="Nirmala UI"/>
              </a:rPr>
              <a:t>Sustainability: </a:t>
            </a:r>
            <a:r>
              <a:rPr sz="850" b="0" i="0">
                <a:solidFill>
                  <a:srgbClr val="2F3A56"/>
                </a:solidFill>
                <a:latin typeface="Nirmala UI"/>
              </a:rPr>
              <a:t>no revenue model is decided. It builds on open-source components (TShark, Python, FastAPI, React); NyaySaakshya's own licence is not yet chosen.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A5C"/>
        </a:solidFill>
        <a:effectLst/>
      </p:bgPr>
    </p:bg>
    <p:spTree>
      <p:nvGrpSpPr>
        <p:cNvPr id="1" name=""/>
        <p:cNvGrpSpPr/>
        <p:nvPr/>
      </p:nvGrpSpPr>
      <p:grpSpPr>
        <a:xfrm>
          <a:off x="0" y="0"/>
          <a:ext cx="0" cy="0"/>
          <a:chOff x="0" y="0"/>
          <a:chExt cx="0" cy="0"/>
        </a:xfrm>
      </p:grpSpPr>
      <p:sp>
        <p:nvSpPr>
          <p:cNvPr id="2" name="Shape 0"/>
          <p:cNvSpPr/>
          <p:nvPr/>
        </p:nvSpPr>
        <p:spPr>
          <a:xfrm>
            <a:off x="457200" y="347472"/>
            <a:ext cx="502920" cy="502920"/>
          </a:xfrm>
          <a:prstGeom prst="ellipse">
            <a:avLst/>
          </a:prstGeom>
          <a:solidFill>
            <a:srgbClr val="F28C28"/>
          </a:solidFill>
          <a:ln w="12700">
            <a:solidFill>
              <a:srgbClr val="F28C28"/>
            </a:solidFill>
            <a:prstDash val="solid"/>
          </a:ln>
        </p:spPr>
        <p:txBody>
          <a:bodyPr/>
          <a:lstStyle/>
          <a:p>
            <a:endParaRPr lang="en-IN"/>
          </a:p>
        </p:txBody>
      </p:sp>
      <p:sp>
        <p:nvSpPr>
          <p:cNvPr id="3" name="Text 1"/>
          <p:cNvSpPr txBox="1"/>
          <p:nvPr/>
        </p:nvSpPr>
        <p:spPr>
          <a:xfrm>
            <a:off x="457200" y="347472"/>
            <a:ext cx="502920" cy="502920"/>
          </a:xfrm>
          <a:prstGeom prst="rect">
            <a:avLst/>
          </a:prstGeom>
          <a:noFill/>
          <a:ln/>
        </p:spPr>
        <p:txBody>
          <a:bodyPr wrap="square" lIns="0" tIns="0" rIns="0" bIns="0" rtlCol="0" anchor="ctr"/>
          <a:lstStyle/>
          <a:p>
            <a:pPr marL="0" indent="0" algn="ctr">
              <a:buNone/>
            </a:pPr>
            <a:r>
              <a:rPr lang="en-US" sz="1540" b="1" dirty="0">
                <a:solidFill>
                  <a:srgbClr val="FFFFFF"/>
                </a:solidFill>
                <a:latin typeface="Nirmala UI" pitchFamily="34" charset="0"/>
                <a:ea typeface="Nirmala UI" pitchFamily="34" charset="-122"/>
                <a:cs typeface="Nirmala UI" pitchFamily="34" charset="-120"/>
              </a:rPr>
              <a:t>6</a:t>
            </a:r>
            <a:endParaRPr lang="en-US" sz="1540" dirty="0"/>
          </a:p>
        </p:txBody>
      </p:sp>
      <p:sp>
        <p:nvSpPr>
          <p:cNvPr id="4" name="Text 2"/>
          <p:cNvSpPr txBox="1"/>
          <p:nvPr/>
        </p:nvSpPr>
        <p:spPr>
          <a:xfrm>
            <a:off x="1097280" y="301752"/>
            <a:ext cx="6858000" cy="411480"/>
          </a:xfrm>
          <a:prstGeom prst="rect">
            <a:avLst/>
          </a:prstGeom>
          <a:noFill/>
          <a:ln/>
        </p:spPr>
        <p:txBody>
          <a:bodyPr wrap="square" lIns="0" tIns="0" rIns="0" bIns="0" rtlCol="0" anchor="t"/>
          <a:lstStyle/>
          <a:p>
            <a:pPr marL="0" indent="0">
              <a:buNone/>
            </a:pPr>
            <a:r>
              <a:rPr lang="en-US" sz="2600" b="1" dirty="0">
                <a:solidFill>
                  <a:srgbClr val="FFFFFF"/>
                </a:solidFill>
                <a:latin typeface="Nirmala UI" pitchFamily="34" charset="0"/>
                <a:ea typeface="Nirmala UI" pitchFamily="34" charset="-122"/>
                <a:cs typeface="Nirmala UI" pitchFamily="34" charset="-120"/>
              </a:rPr>
              <a:t>Team/Individual &amp; Support Required</a:t>
            </a:r>
            <a:endParaRPr lang="en-US" sz="2600" dirty="0"/>
          </a:p>
        </p:txBody>
      </p:sp>
      <p:sp>
        <p:nvSpPr>
          <p:cNvPr id="5" name="Text 3"/>
          <p:cNvSpPr txBox="1"/>
          <p:nvPr/>
        </p:nvSpPr>
        <p:spPr>
          <a:xfrm>
            <a:off x="1097280" y="713232"/>
            <a:ext cx="7589520" cy="274320"/>
          </a:xfrm>
          <a:prstGeom prst="rect">
            <a:avLst/>
          </a:prstGeom>
          <a:noFill/>
          <a:ln/>
        </p:spPr>
        <p:txBody>
          <a:bodyPr wrap="square" lIns="0" tIns="0" rIns="0" bIns="0" rtlCol="0" anchor="t"/>
          <a:lstStyle/>
          <a:p>
            <a:pPr marL="0" indent="0">
              <a:buNone/>
            </a:pPr>
            <a:r>
              <a:rPr lang="en-US" sz="1150" i="0" dirty="0">
                <a:solidFill>
                  <a:srgbClr val="DCE3F5"/>
                </a:solidFill>
                <a:latin typeface="Nirmala UI" pitchFamily="34" charset="0"/>
                <a:ea typeface="Nirmala UI" pitchFamily="34" charset="-122"/>
                <a:cs typeface="Nirmala UI" pitchFamily="34" charset="-120"/>
              </a:rPr>
              <a:t>One applicant with a working prototype, and the specific help needed to reach a supervised pilot.</a:t>
            </a:r>
            <a:endParaRPr lang="en-US" sz="1100" dirty="0"/>
          </a:p>
        </p:txBody>
      </p:sp>
      <p:sp>
        <p:nvSpPr>
          <p:cNvPr id="45" name="Text 43"/>
          <p:cNvSpPr txBox="1"/>
          <p:nvPr/>
        </p:nvSpPr>
        <p:spPr>
          <a:xfrm>
            <a:off x="5486400" y="4846320"/>
            <a:ext cx="3200400" cy="182880"/>
          </a:xfrm>
          <a:prstGeom prst="rect">
            <a:avLst/>
          </a:prstGeom>
          <a:noFill/>
          <a:ln/>
        </p:spPr>
        <p:txBody>
          <a:bodyPr wrap="square" lIns="0" tIns="0" rIns="0" bIns="0" rtlCol="0" anchor="t"/>
          <a:lstStyle/>
          <a:p>
            <a:pPr marL="0" indent="0" algn="r">
              <a:buNone/>
            </a:pPr>
            <a:r>
              <a:rPr lang="en-US" sz="800" dirty="0">
                <a:solidFill>
                  <a:srgbClr val="C9D2EC"/>
                </a:solidFill>
                <a:latin typeface="Nirmala UI" pitchFamily="34" charset="0"/>
                <a:ea typeface="Nirmala UI" pitchFamily="34" charset="-122"/>
                <a:cs typeface="Nirmala UI" pitchFamily="34" charset="-120"/>
              </a:rPr>
              <a:t>Seva Innovation Challenge 2026  |  Slide 6 of 6</a:t>
            </a:r>
            <a:endParaRPr lang="en-US" sz="800" dirty="0"/>
          </a:p>
        </p:txBody>
      </p:sp>
      <p:sp>
        <p:nvSpPr>
          <p:cNvPr id="46" name="Rounded Rectangle 45"/>
          <p:cNvSpPr/>
          <p:nvPr/>
        </p:nvSpPr>
        <p:spPr>
          <a:xfrm>
            <a:off x="457200" y="1170432"/>
            <a:ext cx="3429000" cy="1143000"/>
          </a:xfrm>
          <a:prstGeom prst="roundRect">
            <a:avLst>
              <a:gd name="adj" fmla="val 7000"/>
            </a:avLst>
          </a:prstGeom>
          <a:solidFill>
            <a:srgbClr val="253870"/>
          </a:solidFill>
          <a:ln w="9525">
            <a:solidFill>
              <a:srgbClr val="253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21792" y="1371600"/>
            <a:ext cx="731520" cy="731520"/>
          </a:xfrm>
          <a:prstGeom prst="ellipse">
            <a:avLst/>
          </a:prstGeom>
          <a:solidFill>
            <a:srgbClr val="3A4C85"/>
          </a:solidFill>
          <a:ln w="19050">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1371600"/>
            <a:ext cx="731520" cy="731520"/>
          </a:xfrm>
          <a:prstGeom prst="rect">
            <a:avLst/>
          </a:prstGeom>
          <a:noFill/>
        </p:spPr>
        <p:txBody>
          <a:bodyPr wrap="square" lIns="0" rIns="0" tIns="0" bIns="0" anchor="ctr">
            <a:spAutoFit/>
          </a:bodyPr>
          <a:lstStyle/>
          <a:p>
            <a:pPr algn="ctr" marL="0" indent="0">
              <a:spcAft>
                <a:spcPts val="0"/>
              </a:spcAft>
              <a:buNone/>
            </a:pPr>
            <a:r>
              <a:rPr sz="1600" b="1" i="0">
                <a:solidFill>
                  <a:srgbClr val="FFFFFF"/>
                </a:solidFill>
                <a:latin typeface="Nirmala UI"/>
              </a:rPr>
              <a:t>SP</a:t>
            </a:r>
          </a:p>
        </p:txBody>
      </p:sp>
      <p:sp>
        <p:nvSpPr>
          <p:cNvPr id="49" name="TextBox 48"/>
          <p:cNvSpPr txBox="1"/>
          <p:nvPr/>
        </p:nvSpPr>
        <p:spPr>
          <a:xfrm>
            <a:off x="1508760" y="1335024"/>
            <a:ext cx="2286000" cy="822960"/>
          </a:xfrm>
          <a:prstGeom prst="rect">
            <a:avLst/>
          </a:prstGeom>
          <a:noFill/>
        </p:spPr>
        <p:txBody>
          <a:bodyPr wrap="square" lIns="0" rIns="0" tIns="0" bIns="0" anchor="t">
            <a:spAutoFit/>
          </a:bodyPr>
          <a:lstStyle/>
          <a:p>
            <a:pPr marL="0" indent="0">
              <a:spcAft>
                <a:spcPts val="300"/>
              </a:spcAft>
              <a:buNone/>
            </a:pPr>
            <a:r>
              <a:rPr sz="1350" b="1" i="0">
                <a:solidFill>
                  <a:srgbClr val="FFFFFF"/>
                </a:solidFill>
                <a:latin typeface="Nirmala UI"/>
              </a:rPr>
              <a:t>Siddhant Hiralal Patil</a:t>
            </a:r>
          </a:p>
          <a:p>
            <a:pPr marL="0" indent="0">
              <a:spcAft>
                <a:spcPts val="300"/>
              </a:spcAft>
              <a:buNone/>
            </a:pPr>
            <a:r>
              <a:rPr sz="1000" b="0" i="0">
                <a:solidFill>
                  <a:srgbClr val="F28C28"/>
                </a:solidFill>
                <a:latin typeface="Nirmala UI"/>
              </a:rPr>
              <a:t>Applicant and team lead</a:t>
            </a:r>
          </a:p>
          <a:p>
            <a:pPr marL="0" indent="0">
              <a:spcAft>
                <a:spcPts val="300"/>
              </a:spcAft>
              <a:buNone/>
            </a:pPr>
            <a:r>
              <a:rPr sz="950" b="0" i="0">
                <a:solidFill>
                  <a:srgbClr val="DCE3F5"/>
                </a:solidFill>
                <a:latin typeface="Nirmala UI"/>
              </a:rPr>
              <a:t>Individual application (team size 1)</a:t>
            </a:r>
          </a:p>
          <a:p>
            <a:pPr marL="0" indent="0">
              <a:spcAft>
                <a:spcPts val="300"/>
              </a:spcAft>
              <a:buNone/>
            </a:pPr>
            <a:r>
              <a:rPr sz="900" b="0" i="0">
                <a:solidFill>
                  <a:srgbClr val="C9D2EC"/>
                </a:solidFill>
                <a:latin typeface="Nirmala UI"/>
              </a:rPr>
              <a:t>No other team member, mentor, partner or funder is named.</a:t>
            </a:r>
          </a:p>
        </p:txBody>
      </p:sp>
      <p:sp>
        <p:nvSpPr>
          <p:cNvPr id="50" name="Rounded Rectangle 49"/>
          <p:cNvSpPr/>
          <p:nvPr/>
        </p:nvSpPr>
        <p:spPr>
          <a:xfrm>
            <a:off x="457200" y="2450592"/>
            <a:ext cx="3429000" cy="2011680"/>
          </a:xfrm>
          <a:prstGeom prst="roundRect">
            <a:avLst>
              <a:gd name="adj" fmla="val 5000"/>
            </a:avLst>
          </a:prstGeom>
          <a:solidFill>
            <a:srgbClr val="253870"/>
          </a:solidFill>
          <a:ln w="9525">
            <a:solidFill>
              <a:srgbClr val="253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 y="2542032"/>
            <a:ext cx="3108960" cy="1691640"/>
          </a:xfrm>
          <a:prstGeom prst="rect">
            <a:avLst/>
          </a:prstGeom>
          <a:noFill/>
        </p:spPr>
        <p:txBody>
          <a:bodyPr wrap="square" lIns="0" rIns="0" tIns="0" bIns="0" anchor="t">
            <a:spAutoFit/>
          </a:bodyPr>
          <a:lstStyle/>
          <a:p>
            <a:pPr marL="0" indent="0">
              <a:spcAft>
                <a:spcPts val="500"/>
              </a:spcAft>
              <a:buNone/>
            </a:pPr>
            <a:r>
              <a:rPr sz="1050" b="1" i="0">
                <a:solidFill>
                  <a:srgbClr val="F28C28"/>
                </a:solidFill>
                <a:latin typeface="Nirmala UI"/>
              </a:rPr>
              <a:t>Next milestone (proposed, about 3 months)</a:t>
            </a:r>
          </a:p>
          <a:p>
            <a:pPr marL="0" indent="0">
              <a:spcAft>
                <a:spcPts val="500"/>
              </a:spcAft>
              <a:buNone/>
            </a:pPr>
            <a:r>
              <a:rPr sz="1000" b="0" i="0">
                <a:solidFill>
                  <a:srgbClr val="FFFFFF"/>
                </a:solidFill>
                <a:latin typeface="Nirmala UI"/>
              </a:rPr>
              <a:t>A hardened local pilot-candidate build: login and roles, audit log, encrypted storage, backups and a written threat model.</a:t>
            </a:r>
          </a:p>
          <a:p>
            <a:pPr marL="0" indent="0">
              <a:spcAft>
                <a:spcPts val="500"/>
              </a:spcAft>
              <a:buNone/>
            </a:pPr>
            <a:r>
              <a:rPr sz="1050" b="1" i="0">
                <a:solidFill>
                  <a:srgbClr val="F28C28"/>
                </a:solidFill>
                <a:latin typeface="Nirmala UI"/>
              </a:rPr>
              <a:t>Why this help</a:t>
            </a:r>
          </a:p>
          <a:p>
            <a:pPr marL="0" indent="0">
              <a:spcAft>
                <a:spcPts val="500"/>
              </a:spcAft>
              <a:buNone/>
            </a:pPr>
            <a:r>
              <a:rPr sz="1000" b="0" i="0">
                <a:solidFill>
                  <a:srgbClr val="FFFFFF"/>
                </a:solidFill>
                <a:latin typeface="Nirmala UI"/>
              </a:rPr>
              <a:t>The core analysis is built. What blocks a pilot is security engineering and access to a supervised unit.</a:t>
            </a:r>
          </a:p>
          <a:p>
            <a:pPr marL="0" indent="0">
              <a:spcAft>
                <a:spcPts val="500"/>
              </a:spcAft>
              <a:buNone/>
            </a:pPr>
            <a:r>
              <a:rPr sz="1050" b="1" i="0">
                <a:solidFill>
                  <a:srgbClr val="F28C28"/>
                </a:solidFill>
                <a:latin typeface="Nirmala UI"/>
              </a:rPr>
              <a:t>Demonstrable now</a:t>
            </a:r>
          </a:p>
          <a:p>
            <a:pPr marL="0" indent="0">
              <a:spcAft>
                <a:spcPts val="500"/>
              </a:spcAft>
              <a:buNone/>
            </a:pPr>
            <a:r>
              <a:rPr sz="1000" b="0" i="0">
                <a:solidFill>
                  <a:srgbClr val="FFFFFF"/>
                </a:solidFill>
                <a:latin typeface="Nirmala UI"/>
              </a:rPr>
              <a:t>A local demo on synthetic captures: a supported finding, a withheld score and a report export.</a:t>
            </a:r>
          </a:p>
        </p:txBody>
      </p:sp>
      <p:sp>
        <p:nvSpPr>
          <p:cNvPr id="52" name="Rounded Rectangle 51"/>
          <p:cNvSpPr/>
          <p:nvPr/>
        </p:nvSpPr>
        <p:spPr>
          <a:xfrm>
            <a:off x="4069080" y="1170432"/>
            <a:ext cx="4617720" cy="3493008"/>
          </a:xfrm>
          <a:prstGeom prst="roundRect">
            <a:avLst>
              <a:gd name="adj" fmla="val 4000"/>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60" y="1280160"/>
            <a:ext cx="4297680" cy="256032"/>
          </a:xfrm>
          <a:prstGeom prst="rect">
            <a:avLst/>
          </a:prstGeom>
          <a:noFill/>
        </p:spPr>
        <p:txBody>
          <a:bodyPr wrap="square" lIns="0" rIns="0" tIns="0" bIns="0" anchor="t">
            <a:spAutoFit/>
          </a:bodyPr>
          <a:lstStyle/>
          <a:p>
            <a:pPr marL="0" indent="0">
              <a:spcAft>
                <a:spcPts val="0"/>
              </a:spcAft>
              <a:buNone/>
            </a:pPr>
            <a:r>
              <a:rPr sz="1250" b="1" i="0">
                <a:solidFill>
                  <a:srgbClr val="1B2A5C"/>
                </a:solidFill>
                <a:latin typeface="Nirmala UI"/>
              </a:rPr>
              <a:t>Support we are seeking</a:t>
            </a:r>
          </a:p>
        </p:txBody>
      </p:sp>
      <p:sp>
        <p:nvSpPr>
          <p:cNvPr id="54" name="Rounded Rectangle 53"/>
          <p:cNvSpPr/>
          <p:nvPr/>
        </p:nvSpPr>
        <p:spPr>
          <a:xfrm>
            <a:off x="4279392" y="1673352"/>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79392" y="1673352"/>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56" name="TextBox 55"/>
          <p:cNvSpPr txBox="1"/>
          <p:nvPr/>
        </p:nvSpPr>
        <p:spPr>
          <a:xfrm>
            <a:off x="4617720" y="1645920"/>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Security mentorship</a:t>
            </a:r>
          </a:p>
          <a:p>
            <a:pPr marL="0" indent="0">
              <a:spcAft>
                <a:spcPts val="100"/>
              </a:spcAft>
              <a:buNone/>
            </a:pPr>
            <a:r>
              <a:rPr sz="900" b="0" i="0">
                <a:solidFill>
                  <a:srgbClr val="2F3A56"/>
                </a:solidFill>
                <a:latin typeface="Nirmala UI"/>
              </a:rPr>
              <a:t>Review the threat model and hardening plan for sensitive evidence</a:t>
            </a:r>
          </a:p>
        </p:txBody>
      </p:sp>
      <p:sp>
        <p:nvSpPr>
          <p:cNvPr id="57" name="Rounded Rectangle 56"/>
          <p:cNvSpPr/>
          <p:nvPr/>
        </p:nvSpPr>
        <p:spPr>
          <a:xfrm>
            <a:off x="4279392" y="2203703"/>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279392" y="2203703"/>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59" name="TextBox 58"/>
          <p:cNvSpPr txBox="1"/>
          <p:nvPr/>
        </p:nvSpPr>
        <p:spPr>
          <a:xfrm>
            <a:off x="4617720" y="2176272"/>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A supervised pilot unit</a:t>
            </a:r>
          </a:p>
          <a:p>
            <a:pPr marL="0" indent="0">
              <a:spcAft>
                <a:spcPts val="100"/>
              </a:spcAft>
              <a:buNone/>
            </a:pPr>
            <a:r>
              <a:rPr sz="900" b="0" i="0">
                <a:solidFill>
                  <a:srgbClr val="2F3A56"/>
                </a:solidFill>
                <a:latin typeface="Nirmala UI"/>
              </a:rPr>
              <a:t>Cyber cell or forensic lab; synthetic data first. No partner yet</a:t>
            </a:r>
          </a:p>
        </p:txBody>
      </p:sp>
      <p:sp>
        <p:nvSpPr>
          <p:cNvPr id="60" name="Rounded Rectangle 59"/>
          <p:cNvSpPr/>
          <p:nvPr/>
        </p:nvSpPr>
        <p:spPr>
          <a:xfrm>
            <a:off x="4279392" y="2734056"/>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79392" y="2734056"/>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62" name="TextBox 61"/>
          <p:cNvSpPr txBox="1"/>
          <p:nvPr/>
        </p:nvSpPr>
        <p:spPr>
          <a:xfrm>
            <a:off x="4617720" y="2706624"/>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Testing, certification and IP guidance</a:t>
            </a:r>
          </a:p>
          <a:p>
            <a:pPr marL="0" indent="0">
              <a:spcAft>
                <a:spcPts val="100"/>
              </a:spcAft>
              <a:buNone/>
            </a:pPr>
            <a:r>
              <a:rPr sz="900" b="0" i="0">
                <a:solidFill>
                  <a:srgbClr val="2F3A56"/>
                </a:solidFill>
                <a:latin typeface="Nirmala UI"/>
              </a:rPr>
              <a:t>Choose a licence; understand evidence-handling expectations</a:t>
            </a:r>
          </a:p>
        </p:txBody>
      </p:sp>
      <p:sp>
        <p:nvSpPr>
          <p:cNvPr id="63" name="Rounded Rectangle 62"/>
          <p:cNvSpPr/>
          <p:nvPr/>
        </p:nvSpPr>
        <p:spPr>
          <a:xfrm>
            <a:off x="4279392" y="3264408"/>
            <a:ext cx="201168" cy="201168"/>
          </a:xfrm>
          <a:prstGeom prst="roundRect">
            <a:avLst>
              <a:gd name="adj" fmla="val 10000"/>
            </a:avLst>
          </a:prstGeom>
          <a:solidFill>
            <a:srgbClr val="F28C28"/>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79392" y="3264408"/>
            <a:ext cx="201168" cy="201168"/>
          </a:xfrm>
          <a:prstGeom prst="rect">
            <a:avLst/>
          </a:prstGeom>
          <a:noFill/>
        </p:spPr>
        <p:txBody>
          <a:bodyPr wrap="square" lIns="0" rIns="0" tIns="0" bIns="0" anchor="ctr">
            <a:spAutoFit/>
          </a:bodyPr>
          <a:lstStyle/>
          <a:p>
            <a:pPr algn="ctr" marL="0" indent="0">
              <a:spcAft>
                <a:spcPts val="0"/>
              </a:spcAft>
              <a:buNone/>
            </a:pPr>
            <a:r>
              <a:rPr sz="900" b="1" i="0">
                <a:solidFill>
                  <a:srgbClr val="FFFFFF"/>
                </a:solidFill>
                <a:latin typeface="Nirmala UI"/>
              </a:rPr>
              <a:t>✓</a:t>
            </a:r>
          </a:p>
        </p:txBody>
      </p:sp>
      <p:sp>
        <p:nvSpPr>
          <p:cNvPr id="65" name="TextBox 64"/>
          <p:cNvSpPr txBox="1"/>
          <p:nvPr/>
        </p:nvSpPr>
        <p:spPr>
          <a:xfrm>
            <a:off x="4617720" y="3236976"/>
            <a:ext cx="3931920" cy="502920"/>
          </a:xfrm>
          <a:prstGeom prst="rect">
            <a:avLst/>
          </a:prstGeom>
          <a:noFill/>
        </p:spPr>
        <p:txBody>
          <a:bodyPr wrap="square" lIns="0" rIns="0" tIns="0" bIns="0" anchor="t">
            <a:spAutoFit/>
          </a:bodyPr>
          <a:lstStyle/>
          <a:p>
            <a:pPr marL="0" indent="0">
              <a:spcAft>
                <a:spcPts val="100"/>
              </a:spcAft>
              <a:buNone/>
            </a:pPr>
            <a:r>
              <a:rPr sz="1050" b="1" i="0">
                <a:solidFill>
                  <a:srgbClr val="1B2A5C"/>
                </a:solidFill>
                <a:latin typeface="Nirmala UI"/>
              </a:rPr>
              <a:t>Funding for a secure pilot build</a:t>
            </a:r>
          </a:p>
          <a:p>
            <a:pPr marL="0" indent="0">
              <a:spcAft>
                <a:spcPts val="100"/>
              </a:spcAft>
              <a:buNone/>
            </a:pPr>
            <a:r>
              <a:rPr sz="900" b="0" i="0">
                <a:solidFill>
                  <a:srgbClr val="2F3A56"/>
                </a:solidFill>
                <a:latin typeface="Nirmala UI"/>
              </a:rPr>
              <a:t>Login, audit log, encrypted storage and backups</a:t>
            </a:r>
          </a:p>
        </p:txBody>
      </p:sp>
      <p:sp>
        <p:nvSpPr>
          <p:cNvPr id="66" name="Rounded Rectangle 65"/>
          <p:cNvSpPr/>
          <p:nvPr/>
        </p:nvSpPr>
        <p:spPr>
          <a:xfrm>
            <a:off x="4279392" y="3794760"/>
            <a:ext cx="201168" cy="201168"/>
          </a:xfrm>
          <a:prstGeom prst="roundRect">
            <a:avLst>
              <a:gd name="adj" fmla="val 10000"/>
            </a:avLst>
          </a:prstGeom>
          <a:solidFill>
            <a:srgbClr val="FFFFFF"/>
          </a:solidFill>
          <a:ln w="15875">
            <a:solidFill>
              <a:srgbClr val="F28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17720" y="3767328"/>
            <a:ext cx="3931920" cy="502920"/>
          </a:xfrm>
          <a:prstGeom prst="rect">
            <a:avLst/>
          </a:prstGeom>
          <a:noFill/>
        </p:spPr>
        <p:txBody>
          <a:bodyPr wrap="square" lIns="0" rIns="0" tIns="0" bIns="0" anchor="t">
            <a:spAutoFit/>
          </a:bodyPr>
          <a:lstStyle/>
          <a:p>
            <a:pPr marL="0" indent="0">
              <a:spcAft>
                <a:spcPts val="100"/>
              </a:spcAft>
              <a:buNone/>
            </a:pPr>
            <a:r>
              <a:rPr sz="1050" b="0" i="0">
                <a:solidFill>
                  <a:srgbClr val="6B7280"/>
                </a:solidFill>
                <a:latin typeface="Nirmala UI"/>
              </a:rPr>
              <a:t>Incubation and workspace</a:t>
            </a:r>
          </a:p>
          <a:p>
            <a:pPr marL="0" indent="0">
              <a:spcAft>
                <a:spcPts val="100"/>
              </a:spcAft>
              <a:buNone/>
            </a:pPr>
            <a:r>
              <a:rPr sz="900" b="0" i="0">
                <a:solidFill>
                  <a:srgbClr val="6B7280"/>
                </a:solidFill>
                <a:latin typeface="Nirmala UI"/>
              </a:rPr>
              <a:t>Not requested</a:t>
            </a:r>
          </a:p>
        </p:txBody>
      </p:sp>
      <p:sp>
        <p:nvSpPr>
          <p:cNvPr id="68" name="TextBox 67"/>
          <p:cNvSpPr txBox="1"/>
          <p:nvPr/>
        </p:nvSpPr>
        <p:spPr>
          <a:xfrm>
            <a:off x="4251960" y="4315968"/>
            <a:ext cx="4297680" cy="329184"/>
          </a:xfrm>
          <a:prstGeom prst="rect">
            <a:avLst/>
          </a:prstGeom>
          <a:noFill/>
        </p:spPr>
        <p:txBody>
          <a:bodyPr wrap="square" lIns="0" rIns="0" tIns="0" bIns="0" anchor="t">
            <a:spAutoFit/>
          </a:bodyPr>
          <a:lstStyle/>
          <a:p>
            <a:pPr marL="0" indent="0">
              <a:spcAft>
                <a:spcPts val="0"/>
              </a:spcAft>
              <a:buNone/>
            </a:pPr>
            <a:r>
              <a:rPr sz="1050" b="1" i="0">
                <a:solidFill>
                  <a:srgbClr val="1B2A5C"/>
                </a:solidFill>
                <a:latin typeface="Nirmala UI"/>
              </a:rPr>
              <a:t>Thank you  |  Siddhant Hiralal Patil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1008</Words>
  <Application>Microsoft Office PowerPoint</Application>
  <PresentationFormat>On-screen Show (16:9)</PresentationFormat>
  <Paragraphs>138</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Nirmala UI</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Seva Innovation Challenge – Reference Pitch Deck</dc:title>
  <dc:subject>PptxGenJS Presentation</dc:subject>
  <dc:creator>PptxGenJS</dc:creator>
  <cp:lastModifiedBy>ceo_ispark@mssu.ac.in</cp:lastModifiedBy>
  <cp:revision>4</cp:revision>
  <dcterms:created xsi:type="dcterms:W3CDTF">2026-09-23T13:40:13Z</dcterms:created>
  <dcterms:modified xsi:type="dcterms:W3CDTF">2026-09-23T13:46:30Z</dcterms:modified>
</cp:coreProperties>
</file>